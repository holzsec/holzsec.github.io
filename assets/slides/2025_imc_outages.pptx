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13.svg" ContentType="image/svg"/>
  <Override PartName="/ppt/media/image15.svg" ContentType="image/svg"/>
  <Override PartName="/ppt/media/image5.svg" ContentType="image/svg"/>
  <Override PartName="/ppt/media/image25.svg" ContentType="image/svg"/>
  <Override PartName="/ppt/media/image29.svg" ContentType="image/svg"/>
  <Override PartName="/ppt/media/image19.svg" ContentType="image/svg"/>
  <Override PartName="/ppt/media/image21.svg" ContentType="image/svg"/>
  <Override PartName="/ppt/media/image27.svg" ContentType="image/svg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54680F-4FAE-402B-9708-487BC0C6DD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994A92-A62E-4C1D-BA98-1FCC91C3F5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825378-4B4E-4DCE-837A-89C918ABB31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A6D31F-311B-423B-8643-56E5459867A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Wie sieht die Umfrage genau aus?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Ziele: keinesfalls die Infrastruktur in einem Land mit Krieg belasten (Ziel erreicht: eine einzige Opt-Out Meldung und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Wir messen die Zeit die ein Paket von Österreich in die Ukraine braucht und zurück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Wir messen ob das Ziel antwortet oder nicht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X Anfragen pro Tag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~ X Antworten pro Tag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Aus ethischen Gründen keine Zielnetzwerke überlasten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-&gt; ICMP -&gt; kleinen Fußabdruck bewahren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-&gt;  Alle 2h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-&gt; 8000 Pakete pro Sekunde (480 KB/s)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A46FF6-48EF-4420-BBF5-57ECA1E2522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26 Verwaltungseinheiten = Oblaste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Cherkasy            66720.0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Chernihiv           16094.0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Chernivtsi          25836.0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Crimea              21274.0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Dnipropetrovsk     110736.0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Donetsk             58501.0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Ivano-Frankivsk     31113.0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Kharkiv            125910.0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Kherson             19649.0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Khmelnytskyi        54904.0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Kirovohrad          19542.0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Kyiv               622087.0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Luhansk             24089.0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Lviv                89439.0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Mykolaiv            37307.0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Odessa             115518.0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Poltava             61278.0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Rivne               29108.0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Sumy                25549.0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Ternopil            42407.0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Transcarpathia      16639.0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Vinnytsia           49883.0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Volyn               19089.0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Zaporizhzhia        56995.0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Zhytomyr            21131.0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323CBC-10EC-4582-B6E8-F38DBF0CB98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26 Verwaltungseinheiten = Oblaste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Cherkasy            66720.0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Chernihiv           16094.0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Chernivtsi          25836.0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Crimea              21274.0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Dnipropetrovsk     110736.0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Donetsk             58501.0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Ivano-Frankivsk     31113.0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Kharkiv            125910.0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Kherson             19649.0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Khmelnytskyi        54904.0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Kirovohrad          19542.0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Kyiv               622087.0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Luhansk             24089.0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Lviv                89439.0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Mykolaiv            37307.0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Odessa             115518.0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Poltava             61278.0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Rivne               29108.0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Sumy                25549.0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Ternopil            42407.0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Transcarpathia      16639.0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Vinnytsia           49883.0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Volyn               19089.0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Zaporizhzhia        56995.0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Zhytomyr            21131.0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12D959-C781-492B-9BAA-8C5F8019321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26 Verwaltungseinheiten = Oblaste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Cherkasy            66720.0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Chernihiv           16094.0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Chernivtsi          25836.0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Crimea              21274.0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Dnipropetrovsk     110736.0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Donetsk             58501.0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Ivano-Frankivsk     31113.0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Kharkiv            125910.0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Kherson             19649.0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Khmelnytskyi        54904.0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Kirovohrad          19542.0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Kyiv               622087.0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Luhansk             24089.0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Lviv                89439.0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Mykolaiv            37307.0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Odessa             115518.0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Poltava             61278.0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Rivne               29108.0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Sumy                25549.0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Ternopil            42407.0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Transcarpathia      16639.0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Vinnytsia           49883.0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Volyn               19089.0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Zaporizhzhia        56995.0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Zhytomyr            21131.0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76EE2A-79E0-47E8-A33D-BEC667035A0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Siedlungen städtischen Typs:     31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Dörfer:     656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Siedlungen:     88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80608D-2C5E-4841-9C39-A70C4F01A6E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3970A-E7F5-4690-9B5A-6D3AC479FE18}" type="slidenum">
              <a:rPr lang="de-AT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F53F6F-5BBC-4A90-B6E6-25C7F06AAAB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2FEDC-0D0D-4933-A412-0DDDCFA5FDF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A6FC72-5CBF-4346-9608-7C575991EAF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- cover - BLAU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55880" y="1267920"/>
            <a:ext cx="10079640" cy="302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ts val="6667"/>
              </a:lnSpc>
              <a:buNone/>
              <a:defRPr lang="de-DE" sz="6000" b="0" u="none" strike="noStrike">
                <a:solidFill>
                  <a:schemeClr val="lt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ts val="6667"/>
              </a:lnSpc>
              <a:buNone/>
            </a:pPr>
            <a:r>
              <a:rPr lang="de-DE" sz="60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Mastertitelformat bearbeiten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Aptos Display"/>
            </a:endParaRPr>
          </a:p>
        </p:txBody>
      </p:sp>
      <p:pic>
        <p:nvPicPr>
          <p:cNvPr id="17" name="Grafik 7"/>
          <p:cNvPicPr/>
          <p:nvPr/>
        </p:nvPicPr>
        <p:blipFill>
          <a:blip r:embed="rId2"/>
          <a:stretch/>
        </p:blipFill>
        <p:spPr>
          <a:xfrm>
            <a:off x="334440" y="357840"/>
            <a:ext cx="2367360" cy="64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DBFC91-7366-4B02-8ED3-1C08B05E99F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0BA3D8-42CF-4F01-B5B0-40F463FAF7F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34CFE3-2CAD-4003-9870-6795DFE1206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5C6560-165E-41BA-9884-F8CBEFE3817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1A5607-A35E-4554-B6D5-238AF986A25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DD639B-EE04-406F-BE45-CE30966A236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2F70F6-99D7-4A4E-83E1-F4F6E9D0F11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DF4603-B2A3-4F3A-9F8D-762E300C2E7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sv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20.png"/><Relationship Id="rId6" Type="http://schemas.openxmlformats.org/officeDocument/2006/relationships/image" Target="../media/image21.svg"/><Relationship Id="rId7" Type="http://schemas.openxmlformats.org/officeDocument/2006/relationships/image" Target="../media/image20.png"/><Relationship Id="rId8" Type="http://schemas.openxmlformats.org/officeDocument/2006/relationships/image" Target="../media/image21.svg"/><Relationship Id="rId9" Type="http://schemas.openxmlformats.org/officeDocument/2006/relationships/image" Target="../media/image22.png"/><Relationship Id="rId10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28.png"/><Relationship Id="rId7" Type="http://schemas.openxmlformats.org/officeDocument/2006/relationships/image" Target="../media/image29.svg"/><Relationship Id="rId8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28.png"/><Relationship Id="rId7" Type="http://schemas.openxmlformats.org/officeDocument/2006/relationships/image" Target="../media/image29.svg"/><Relationship Id="rId8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jpeg"/><Relationship Id="rId3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47.png"/><Relationship Id="rId5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mailto:florian.holzbauer@univie.ac.at" TargetMode="Externa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Content Placeholder 3" descr="A screenshot of a graph&#10;&#10;Description automatically generated"/>
          <p:cNvSpPr/>
          <p:nvPr/>
        </p:nvSpPr>
        <p:spPr>
          <a:xfrm>
            <a:off x="7372080" y="0"/>
            <a:ext cx="5962320" cy="6857640"/>
          </a:xfrm>
          <a:custGeom>
            <a:avLst/>
            <a:gdLst>
              <a:gd name="textAreaLeft" fmla="*/ 0 w 5962320"/>
              <a:gd name="textAreaRight" fmla="*/ 5962680 w 596232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itle 1"/>
          <p:cNvSpPr/>
          <p:nvPr/>
        </p:nvSpPr>
        <p:spPr>
          <a:xfrm>
            <a:off x="236520" y="-75600"/>
            <a:ext cx="8028360" cy="41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609480">
              <a:lnSpc>
                <a:spcPct val="100000"/>
              </a:lnSpc>
            </a:pPr>
            <a:r>
              <a:rPr lang="en-US" sz="4800" b="0" u="none" strike="noStrike">
                <a:solidFill>
                  <a:srgbClr val="0063A6"/>
                </a:solidFill>
                <a:effectLst/>
                <a:uFillTx/>
                <a:latin typeface="Arial"/>
                <a:ea typeface="MS PGothic"/>
              </a:rPr>
              <a:t>Tracking Internet Disruptions in Ukraine:</a:t>
            </a:r>
            <a:br>
              <a:rPr sz="4800"/>
            </a:br>
            <a:r>
              <a:rPr lang="en-US" sz="3600" b="0" u="none" strike="noStrike">
                <a:solidFill>
                  <a:srgbClr val="0063A6"/>
                </a:solidFill>
                <a:effectLst/>
                <a:uFillTx/>
                <a:latin typeface="Arial"/>
                <a:ea typeface="MS PGothic"/>
              </a:rPr>
              <a:t>Insights from Three Years of Active Full Block Scans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ubtitle 2"/>
          <p:cNvSpPr/>
          <p:nvPr/>
        </p:nvSpPr>
        <p:spPr>
          <a:xfrm>
            <a:off x="236160" y="3315600"/>
            <a:ext cx="10431720" cy="165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609480">
              <a:lnSpc>
                <a:spcPct val="150000"/>
              </a:lnSpc>
              <a:tabLst>
                <a:tab pos="0" algn="l"/>
              </a:tabLst>
            </a:pPr>
            <a:r>
              <a:rPr lang="en-US" sz="2200" b="0" u="sng" strike="noStrike">
                <a:solidFill>
                  <a:srgbClr val="0063A6"/>
                </a:solidFill>
                <a:effectLst/>
                <a:uFillTx/>
                <a:latin typeface="Aptos"/>
                <a:ea typeface="MS PGothic"/>
              </a:rPr>
              <a:t>Florian Holzbauer</a:t>
            </a:r>
            <a:r>
              <a:rPr lang="en-US" sz="2200" b="0" u="none" strike="noStrike">
                <a:solidFill>
                  <a:srgbClr val="0063A6"/>
                </a:solidFill>
                <a:effectLst/>
                <a:uFillTx/>
                <a:latin typeface="Aptos"/>
                <a:ea typeface="MS PGothic"/>
              </a:rPr>
              <a:t>, Sebastian Strobl &amp; Johanna Ullrich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09480">
              <a:lnSpc>
                <a:spcPct val="90000"/>
              </a:lnSpc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9495000" y="634680"/>
            <a:ext cx="2742480" cy="96948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3" name="Picture 7" descr="A black and blue text on a black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9475200" y="442440"/>
            <a:ext cx="2738880" cy="135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4"/>
          <p:cNvSpPr/>
          <p:nvPr/>
        </p:nvSpPr>
        <p:spPr>
          <a:xfrm>
            <a:off x="9496800" y="1715040"/>
            <a:ext cx="2742480" cy="96948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5" name="Graphic 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645480" y="1780200"/>
            <a:ext cx="2394720" cy="76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11" descr="A red and black logo&#10;&#10;Description automatically generated"/>
          <p:cNvPicPr/>
          <p:nvPr/>
        </p:nvPicPr>
        <p:blipFill>
          <a:blip r:embed="rId5"/>
          <a:stretch/>
        </p:blipFill>
        <p:spPr>
          <a:xfrm>
            <a:off x="527400" y="5637240"/>
            <a:ext cx="10944720" cy="67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18" descr="data:image/jpeg;base64,/9j/4QBiRXhpZgAASUkqAAgAAAABAJiCAgA9AAAAGgAAAAAAAAAoQykgTWFyY2VsIExlaG5lciAoKEMpIE1hcmNlbCBMZWhuZXIgKFBob3RvZ3JhcGhlcikgLSBbTm9uZV0AAAAA/+wAEUR1Y2t5AAEABAAAADwAAP/hA6VodHRwOi8vbnMuYWRvYmUuY29tL3hhcC8xLjAvADw/eHBhY2tldCBiZWdpbj0i77u/IiBpZD0iVzVNME1wQ2VoaUh6cmVTek5UY3prYzlkIj8+IDx4OnhtcG1ldGEgeG1sbnM6eD0iYWRvYmU6bnM6bWV0YS8iIHg6eG1wdGs9IkFkb2JlIFhNUCBDb3JlIDUuMy1jMDExIDY2LjE0NTY2MSwgMjAxMi8wMi8wNi0xNDo1NjoyNyAgICAgICAgIj4gPHJkZjpSREYgeG1sbnM6cmRmPSJodHRwOi8vd3d3LnczLm9yZy8xOTk5LzAyLzIyLXJkZi1zeW50YXgtbnMjIj4gPHJkZjpEZXNjcmlwdGlvbiByZGY6YWJvdXQ9IiIgeG1sbnM6eG1wTU09Imh0dHA6Ly9ucy5hZG9iZS5jb20veGFwLzEuMC9tbS8iIHhtbG5zOnN0UmVmPSJodHRwOi8vbnMuYWRvYmUuY29tL3hhcC8xLjAvc1R5cGUvUmVzb3VyY2VSZWYjIiB4bWxuczp4bXA9Imh0dHA6Ly9ucy5hZG9iZS5jb20veGFwLzEuMC8iIHhtbG5zOmRjPSJodHRwOi8vcHVybC5vcmcvZGMvZWxlbWVudHMvMS4xLyIgeG1wTU06RG9jdW1lbnRJRD0ieG1wLmRpZDo0N0M1OTY2Rjg5NUUxMUVBQTVCQ0YwNjNDQTM4NDZBOCIgeG1wTU06SW5zdGFuY2VJRD0ieG1wLmlpZDo0N0M1OTY2RTg5NUUxMUVBQTVCQ0YwNjNDQTM4NDZBOCIgeG1wOkNyZWF0b3JUb29sPSJDYXB0dXJlIE9uZSAyMCBXaW5kb3dzIj4gPHhtcE1NOkRlcml2ZWRGcm9tIHN0UmVmOmluc3RhbmNlSUQ9IjAzNEYxNUUyMjIzNDc5MDczRDQyMDc3NUZBQTBCNTIzIiBzdFJlZjpkb2N1bWVudElEPSIwMzRGMTVFMjIyMzQ3OTA3M0Q0MjA3NzVGQUEwQjUyMyIvPiA8ZGM6cmlnaHRzPiA8cmRmOkFsdD4gPHJkZjpsaSB4bWw6bGFuZz0ieC1kZWZhdWx0Ij7CqSBNYXJjZWwgTGVobmVyPC9yZGY6bGk+IDwvcmRmOkFsdD4gPC9kYzpyaWdodHM+IDwvcmRmOkRlc2NyaXB0aW9uPiA8L3JkZjpSREY+IDwveDp4bXBtZXRhPiA8P3hwYWNrZXQgZW5kPSJyIj8+/+0AXFBob3Rvc2hvcCAzLjAAOEJJTQQEAAAAAAAkHAFaAAMbJUccAgAAAgACHAJ0ABDCqSBNYXJjZWwgTGVobmVyOEJJTQQlAAAAAAAQZBYZUGIQjwMqeDeoOOhaiP/uAA5BZG9iZQBkwAAAAAH/2wCEAAYEBAQFBAYFBQYJBgUGCQsIBgYICwwKCgsKCgwQDAwMDAwMEAwODxAPDgwTExQUExMcGxsbHB8fHx8fHx8fHx8BBwcHDQwNGBAQGBoVERUaHx8fHx8fHx8fHx8fHx8fHx8fHx8fHx8fHx8fHx8fHx8fHx8fHx8fHx8fHx8fHx8fH//AABEIBLADwAMBEQACEQEDEQH/xACrAAACAwEBAQEAAAAAAAAAAAAAAQIDBAUGBwgBAQEBAQEBAQAAAAAAAAAAAAABAgMEBQYQAAEDAgQDBQUFBgMGBQMFAQEAEQIhAzFBEgRRYQVxgSITBpGhMkIHscFSIxTw0eFicjPxghWSskNTJAiiY3MlFsI0ROKDk1QXdBEBAQEBAAICAgEEAgEDBQEBAAERAiEDMRJBBFFhcTITgSKRsUIFocHRUhTwI//aAAwDAQACEQMRAD8A+pLswHQBQCAQJ0A6AQCACAQCAyQLNA8UAgFAIBUNkAgagHVAooQIoBA0AgEAgaAKAQDIGgEAgaAQCBoBAIBAIBkAgEAgGQNAIBAIoQCAQCIEAgQQDoB0UEohOgEDKGBFCIEAgSBoYToYGQJAEIEgCgECdAMgEAgECQDIEgEAgSAQJkAgaBIBAIgRQgEQIoRAihAIBAIBECKEAiEihA0CQDIAhAYoLFUCAQBZAIEgCgCgSCSBBAKKFUCAQCAUUKoFFCBhAZoBAIGgEAgEAgAgaAKAQCBhAMgbIBA0AgEAgEBVAAIGwQCAQCAQDIoQCIGRYGQCAQDoEgECJRAgToB0UOgEAiG6BooQBRAi0IgRSQCICgSAQJkAgECKAQCAQJA0CKBFAqoGgECQIoCqAogKIAoAoBAIBAIBAIBAIBAIEgaAQCBIGgEQIoQJBYqhIGgSBoBAIEyACAQCBIGgKoBQCKEAgFUCimgEAgEDQCAQCAQCBoBA2QDIBkDQNAIBAIBA0AyAQCAQCAQCLTZEFUAyAZFCAQJ0CLIEgCUQOhhOi4DIIhEoaToaHQ0AsgYKGmim6IYwRQyAIQCAQCARCQCBIBAMgSAQIhAIBAIBAkAQgECQCBIGyBIEgEDQJAZIBECKEAgEAgEAgSIEU0AgECQCAdECBooQTVQIBAIBAnQCAQCAUU1URQMIBQCKEAgE0NVAopoEUAgaAQCAZA0AgEDZAmQMIJIBAkDQCAQNAIoRAUAgZQDooRMCKEDZQCAVCeqAKGIugSIHRSJRA6KRKBOgEKEQIBAIBAAoqQRDBUVLNAygiyoGQCAQCAQCBMgEQjRDQyBFFCISAQCAQJAMgSAQCAQJAIBAkAgEAiBFCAQCAQCAQCAQCAQCIEAikgEDQJBYqgQCAQCBMgEAgEAoB1QIBRQiBFCAQNAZoBA0CQNAIBABA0AgEAyBoBA8kAgaAQCACBoBFCBgIBAIBkQIpoBAIGoESgCQkEXQJAIIqgKBIBAmQCAQoRAgSBoEgYQMFBJBIKKaAZUJigGQJAEIBAIBAmRMJkAgEUkAiYSAQCAQCBUQJAIBAMgSAQJkAyAyQCAQGSAQCAQCAQCBIGgEAgEAgSBoBDCQTVQ0CQCAUAqAoBAKAKKKIBAIBAIBA6IBAMgEAgaAQCAQAQNAIAIGgEDCAQNAIBAIGgGRTQDIGAgGQDIBDAyAQNQCgRKCJVASoEqBAKBMqEQqDBAUQJAIEUAhgQJENAkBmgYQSQSCipBUNlAIEUCVAgRQDIEoBUBQJAIEUAgGQIoBEgRaEQkAECQCAQGSBIBAIEgEAgEAgEAgEAgECQNAIEgaAQCBIGikiJoGqgKikkAqgUUIgVAooQGKAZVAooQCAQCBugEDQJA0AgEDQJkDQCACBoGUAEDQCAQCBoHggEUIGgaBIGgEAgFAKCJKBIB0CVAgRLIAyAxo+CYGKgkYCpJoyCMrkIhyQHwcs6CNy9ahIxnIRnEPKB+IDItzRcFq7Zu6fKnG5qcx0l8Me8IHAxmJaS5gWkOD4IgbgqEQTQVQDIBAIBkAyAZENA0ElFiUQmiSgRCAAdAiFQmQCBFUCgFQkAgGQJkAyISKSARAgEAi4EQmQJAMgMkBkgQCAQJ0A6AdAIBECKEAgEAgECQNAkDQCAQCBIBBN0AqgUUJAIBAKoHQCihABAKoEAooQCBsgGQCBoBAIBAIGgEAyBoBAIGEA6BoBkAAgaKYQCAZA0DQJA0AgEDUCJUCJQRdXAKAQMRfBAzbkzgPwOSDHueo7PbGMdxdtbfVSPmz8cjwiP3pq4w3uvbGF2UTM3zEUtWo+IQ/FcuNpiD7Vm9yNfS1yOoeuOmwjGPmVBaEZyDOM4wAlEtnqFFm+2Nz1Vy93646Jaux3H62Z3EPkgXkYS+NrugxEomsWDYrN90anqpWvqN0yxehLbx8wENMTjGcpyBzc/NGupsVn/av+r+Vlz6hemL10xu2r1liSZQ0QJlM5AChOfiV/wD6P5if6F3/AM/6JIQvDfz21+3LQJbiyJ2p2xEiAu+WXLGju4V/3xP9N/o17P6idCleibl6JEQNXlEyj4qSEdemdObse1T/AHwvqrs7f1H0He2bd3YdQtSuhyLU3iZNjGQPFbnu5rN9XUdOO52d3yzau22uBxHWJDsBGa1O5fyxeLPwnO2QHII7Qx9mK2yj5Z1GOcaEJokYEBIIqmhkAyIEDCKYQTWQIBAFAkCIVgSAIUCZUCAQCBEKhIEyAQGaJhFDAgEUkQ0CIQJAIBAIYSBFAIBAIBAIBFCARKECRTRMCAQwkAgEAgaAQSogFUCihAIBAICiqBRQgHQDoBAIBkAgYQNAIBAIBAIBkDQCBhAIBA2QCAQNABA0AEDRQxQNAIGgGQDIGygGQCgSCBJVAoGAgc52LUDO7MRiA5JLAd/3IuONvvVfTrMowgTcuktC1CJjq5ynPTCHeVjruRqcvKde+pHkCdq3dhqdjd1+dpIyg3hpxXPr2/w7T1vEdS+qnV7cpW9rdFoSiYXZWoQtzm9XMmMs6LH26v5anPM/DyPUPW+/3dyUr92UzImUnMiCeYos5V1zLvX78TIRnIuHBtgMcCDWoTD7Ha9S7i2YzE5xlEvqIiQSRmCGU+p98a7XqmE4xt3NEoH5omVqQJyeLxPKlE+i/wCyOjtuqW9zalCxvBdk3hs7jSZE/h1gV71Ma+2/CY6lZhdNreW57S4A+q2xgcn0mhHYUymy/wBE74jO15lqFu7HSBc0uMB8Q/C6mmI6ZzuWr0bt6zFgSA0wMiQBm3tV1ErW76vYMo7XeG3Jj5dy2SYkgg6TE4avcUyJ5d3pP1b9Y9Kut1CI31mMNPlS8N1hRgTmtTZ8VPF/yj6D6X+sXpHqhG23W4l07eykAY7saYzMuEw+C6c+7P8AKOd9UvxXuhftXQPJkLkWeVyJBiHwDjiu/PUvw43mz5RMS5WmTiqGwKgNKAZAwEDUAgEAgMkEUAUCQI4qgZQCAVAlCZKEyAoqEgRQCAQJENFKqISARQgKoEyIECZAIQFAIBFCAQCAQCAQCgEAqBAIhIpohIsTRAgEAgToGgEAgEASgGQDIBAIGCgGQCAQNAIBAIBA0AgEDQCBsgaAQCA5IGAi4aGBAwgaAQCAAUDVAFA2UAUCQRNFRAOS2aokJWozMZSJlEapQAwHEnALNXHD6v616P02BF27EXZCWjb2wLt4kYE/LELnfbI6T12vm/VvqL1C/fncjclIWh+WZNJi3x6T4Iz9q43u12nMjw/WPVW9ui5cv3zpAMjKZMmMzXSDSvIKYuvNXOqXb0fMIMtR0w8w0LmnBMZ+zFe3t2RBnMS1CubGNC5Hhoy1jOss7kJ3PLlOMpEiJGhzXCsSOKv1ZtLVtLt4eTOduWoiAMSzCgq5pR1fqn2G41ahLUb23/4d6TseIMo4F0+paX5wAn4ZQydvY4xVw0edKMxoGiZrFixfkcUwjs7Lrl6cI2tyPNiSRoPhlGQ+IB/xY8Fi8uk6bdvflCQvba48CBExJYFvlL/CVmxZW+O7mXuQJhcjGscAOzgKrGNytMeqXCPIld8MfhtXGLHNpM/vTGvC+U9vu7ZjdHl3GEZSk8oafxU8QI5PRNSxg6n0e8LHmQiDavOLd6DGNwxGAmPC4/DitS652Oh6U9d9c9LTh5V2V3YiUf1G1L6QBR9JrEniKLP1s8xr7TMvw+8+mvVew6/047zpsju7dtv1Fpx+os0qZimuLv4gvT6/Z9v7uHfrs8/h2LF7b7iBuWJ64AmJoxBGRBwXXXKxYzKh5KAQCAQCAQCAQIoEUAyBIAoAoEqBAKBFUJlQkCKIEAikgaAQRZAIB0AEAUCQCGEiQIoQCAQCAQCAQCAQCAQCAQCAQCCSIEAgEgXJA0AgEAgGQCAQCAQCBoB0DQCAQCAQD1QNAIGEAgboBA0AgEU0DCAAQPNA0AgEDGCgFA2QNAIFqGdEBidMfFLgMu1BRuN1sttAXNzuLdiEy0Lkz8R/kiHMzyAKauPK+ovqB0zo8LlixC7f6lcOry5nTISJpqjUxAHFcu/bnw68+q18/wDUHrfqvUCf1F0Qtf8ACt2CYh82wrkScVw67t+XecSPI7vf6IESJJP/AAYGpA/HIVIWZCuFvuoXrkhC38ES8SBTTi/B1uRm1gtxv3pyEtvd3VyREzKYeMQ7tASYHmtYxq250C+b/n7mcJyGk27cpAQDcIxEnbmaZp9on0q2z0DaTgI3PzMZRBlKDD5g4AiHZT7r9ErPROnREpWLviYiMJR1M+JjMHHTgn3q/wCopdK28JhzIBnEm8o8nZ4q/wCxP9Zw6fsbOqUxckLlLsoiJEwf6c+eKf7D/Wrn0O3GRlsbxmJAS8ggATic6t9tFr76zeGG/sLkLgDHy9VbN0aJRI/CTR+wtLtV1MU3LW4Mblu7F5AiduZhI+IDiKjVFxwKu6iUN2YStkSMRehTUCNWgkSB5xWcWV2Om757ctBppYktLuP8pCz1HSdJXZm6SaEkvpOYHy/1R96mGrtn1I2pAgykIkARliDnE9yzeWp06Vvd3dvcM9tPRtr1LlqXitTBqBdgcsnxCiqN/tIbkR3e2Gi1amI7mwfFOwJEMdR+O1LKWRoVrWLFvpnqvVvT+/2/WOnzlY8iXl7mAkwkdTyg+BJgXZlOud8tc9Z4foLoHXIdZt2t5tfyt3etxuRBaNq9EgHSMasXZd+O9+XHvj6u9ZvQvQBbTMv4SG+EsceBXVzTYogZA2QJAygSAQCAQJAIEyAQJAiqBAKBEqhKgZQIomEquBAIBAIEgGQJAIEgEAgFAHBAZIEgFQIBAIBQCAQCBKgQAQCAQNQSVQIBAIBAIBAIBAIBAIBAIAIGgM0DQCAQCAQNAIBkDQCBoBA0AgAi6aBhCGEAgaAQDFQNkBVAwoHRkAOwlXASuQiCDIAxDycgMObqK4/UerWNN21b3MNrC2PzNyaxcVMIAVuTbuS2RZNfOutfUIWr1zbemrc4XLrxn1jcnzd5cektJNLUeAgAuHft/h349X8vEX9zAzmbpM7svHclWRJfM5uuFdf6Odu93uBKRhAzvS8IjbD6RzOEUkLXOu2LhuabgM2AMrcdQhz1zHxNwC3GLWiO28xpeVCN0UgwJOke4BLVkRvDRE64XpiNSYuanmQQO5QO1Ylc8Nq3egPicNqfHwuH7UNXS6OBMm5G4TQkfKdWJBEiixP/AE7beZDXuJWAYnxC1NuLvX2rNrUg/wBMv3B5dneC9CsfKuARMtI+IOeTjig5N/bbvauYnHEEGUORMgJN3qsWs9vdXwZC7GQMHuR0HUebMcsaYhbjFrRb6pDdRNu7GM5SDTgCNNwYxlD8Mmwb2K1NRuwsaYmRn5ca278G1iOYlHMcQk2fBji9X6Zf2u0tX7UhM7e60ZRJ0i1MeGhyJAxXSeY5WZVvTt3asbm1CMXjbOqYqxtzBMDId9Bl3rPUblaronYuGyxLS8ROMZxo47YlTDUrhuVmItdtuJwGM48TzimLrfstxr2srRl5hGmUTg8SHI+9Zsa5rXs95KF0gS8cXhCRwIkKwlxhMYqY1roXTDbWd1ZtWgdru7QNuEwJmMpSjICvzwMCBLh2qfZM16v6ZepNnsInZ74T1xuRlYIaURbNJxLl6GoZOe8rV519b2t+xubtzc7TeQuzmRqtRkBGMxF3EDV5xjVqYL1TuV5bzY6I3VvVpuERlOREAxBI7D9q0i1kQigSBugSAQCAQBQJAIEUAgRCBIBAKhIBQIoEqEyaBQCoECVAoBAlQkBkgECdQGSoFABKBAKgUAqBAIEoGgECVAgFA0CKCaqBAIBAIBAIBAIBAIBAIAIGEDQCAQCAQNAkBkgkEAgEDCBoBAIBCgIGEXDQMKAVDQCADqBoJICgxoBmoIx1yJHwjLiyohclGOoRB8IJncekezn9iK4u+uWblid6/c/SdP20ZTvX5BhE08McTKZBfklsi8+Xyv1J6rPU5HY9NibHToTPlF3u3Q2NyRzXj79uvXx68eeBjbuEagSKSmZMX+6IXNusO531q6ZiM5eXEh7jeOczSgLUbMrbFqG1tQtmsRblInxzk/d+wVRts7m3biANwY3KgGBkJP3NEdwUqiO82EiTO4TUvqDEZ4jxKESt7zZQm9mdt6kXYMSWrxd2xoo0o3W/vy0eXEXCC4BOp+cQdHvQc+96mvQhLbT2tuDGQFzy3n4sQZEluTYK/Vj7KJdZ3IjK5HXOhExG6C0fxRjpFOLYJ9V+6B62L0bcZyjE0hIXI4Nm4o9cwph90h1O3Ijy5Czfty06oE2z4qDCjZVC3jN6U7jceY5uGN65ZodQjbvhuE4+GXJakYrndS2YMZXdrMxnAmh8NBXTKJeoWsZQ23VRMRNwNMAi5AgtKLeIN2FU1siIiPlxnEwmCNN2sSARGMX/AJtVOBRHK3+3jHcX79sEW7m3FuIeoIaIif5oqxOnS3N6UtjY3bgyI8u8Xx8sM9caK54XVe2I/tz+O3SJDuw59lWWaL9uZWdxG4WiIzcA0BjIsR3FwpVbJRFvdO7Ng4xhKsVMWV17czd24Anq0TAi2HiBLe0Ln1HWVDbNYvGUC8rcmjyo/wBqxjbtbD1XvrZFncX5QiWFzcAPKLAADVjQDJbjnX0f036u2+6sba3uL8W3FY7iM5uAzDXj4aVILcgu3Pef2cuude12O5ldstCQnOFXEhKM48YyzZdZY52NkDGcQQqyTEY4oEgEAgCgEAgGQIoBAqoEgECQCAQIoEqBQJAqqgUAgFoKqgSoCgSAQIoGyAUCQCAQCAQJUNAlA0wCAQCAQAwUAqEgmqhsgSAQCAQCAQCAQCAQCBoAIGgEAgEAyBoBABA0AgbIBA0AgAgaKGQDIGgkoEqGgamgQMKBhASD6eD1QRuyOjVEsMNWDvw7EVxutdd6dsNob+4nKO125fSAfHMfCKCpq7BLcXnnXyT1X6u6j1q4bUnt7KydMNvaLMJF5Gcg+onMrxd93r+z28eucx5m7uIbcNMxBLBh8oH4QM1nGrWOV6e48GmURKFJSDkl/im+J4D2rWOegG1YAJhQP45Y6jwJWojHu+qXoAl427chQgxGrvRnWEb7XGcrY+EOY1LjMhny71cT7LYbna3gP1EL+20sIbqEpUarSaLN2lMNWws2rjNcN+FavF5dhiHfuQ1lvm5GWnb7iTxppueE8Kj4JHs0nkphtQlvL1wab8YXTANIh4TbIglqjhL2pJi6rjG2SLm3umEQfmxhPMGMqx/ctSM2s262wnH4PJmf7ZicGy/c61jNQv7uREpXA5DaJvkWLFsGLhMSVGx1K2ZabpMrdQ2FyD5gqaq+5uZSjK7bnqvgg6G8NyIo/IsmmMG4uWpfn2j5conUI4sY8k0XyvxlLybnhhO2BGMTnKLTi/afsV0arcxc2Zu7hzblbEb9wf8AMjESHeX1LUZqq5uDDpl2xcZ7UzpbDxWxX2pph7C4TASl4py+GJxBHiiZcwCQpo23bkpXo18FwEPkZgP/AOKNRzUrTWT51jbzYRnb1RmY1JjGfxH24qEb9ruANvIxxAeJiTjkVmx0hXL1JaaQkYvIYmZLaQM6rFjQvXLj+XCQkAfFTE4nDJa5Sp2NxutmT5W6lZciemAcHuw71r5Y+Hu/SHrkRv7e1trgt3YkebstySbU4sdc7MzWEpH5SpuL8vrHTOp2t7aO721YxOnc2WMblqf80exd+et/u49c46gqBLitsBAkAgYQJkAgEAgSAQIoEgSAQCBFAIEUCQBQJ1QKgQCyEVYEyAZUBQJAO1ECdQCBOqGMVKAqAVAqBTQKAVCVDZQCgEAgFQsUE1UCAQCAJogEAgEAgEAgEAgaBoBAIBA0AgEAgYQCBhAIBA0AgaKEDdAIGEDQCgagYQNAMgbIK7knjp0mQNNEcZN24MiuZ1Tq/TrMTd3W5ja2mzP5xDsbhHhpwA96dXIs518d9Veqtx1rq1yW31Q2tmJjacnw22YkDCJnjJeT2d3p7PX6/q81e3VuxDzT8LEW4P8AERVc5G7XLtXru5uSvXJttwzSjTUT8o5DitY57qV3d29vH4NV3EQeg4ymcT2Ko8/1XqLSBfXq/tkZ1ag+1akYvTALe5uk3bp0yJpCVaf0YLc5c/s0WIWRMEGZvioABmPcGiO32q/U10LczZeX6e/Y10lF8ycTFxSWVUw07u4s3nBYyB0gXBpwLNKUSCO1j2rNaVbjczlIC5CU5wHjjICc2w8YkxmOBFWUGQzjInyptKDflkktyMZeJjmrhq0XTNiZeIjRIS+IEYRm+I/BLuK0iQ3bwh5wI1Eh8BqB+HkUGS9bcylFhC4DGcTgDi1c864po58rco3BjRq8B9rLFqyLZRviHmOTcj4xIUeEix96zrWJV1GQPhmI6os1QcfYqWKzG5MzEC7S82BOdWZ+aJjfdlCNq1t7ctUXiZSI0uZwAIIr8AhpV1MUX7glsjen4iT5YifnnEY/0gYrUSn0czwkSZzEpE4/EQG9yajui7ZtiMDCMjI11EyMdNNRagMclLWorG9uWZxnqMo25iYjhrMyRpl7cFlcaIXBYsgRk8HiYMKyBL6a/wCyUqtG3uE2rUIA3rloEBqBya/4rFaiw24mEwLkbUA8REExEjHHmUlWxTKOimqZEgPCzwpgKfeukc6AdZMolpDGNHDKVY9j6H9aX+mbs2ru4jZ3EgIRv3zIWb0H/t7jFiPkuZYGim4ua+39G6vY39sxiJbfc2SBd2t2lwUwlx/lkKSFQu/PX8uHXP8ADqFwV0YJAIAIGUCQCAQCBIEyAQRQCAQCBIEgEEWK0DJQCaBUJQDoEgEAQgSAKoSgCqBQCgEAgEAAgEAVYBAIBQCAQBQIBXRNVAgEAgEAgEAgM0AgEAgEDQBQNAIBA0AgEAgaAQOiAQNAIuABDDQCAQMIJIBQAUDQSQARTCCMzI+GOJ8I70GLqO92+yszva4whYhKV3cTI0xwAxxKLI+LesfVt/rm/EdqDDZ2o6NrbOMh812ZzMyvL7O9r1+vjHmtxctWoiMZgMakUEpZ14Lm6WuHqHUd1KMr0ZC3/dEH0RaoiTSvHgtxy3Vu7vQsjRbDnC1HLtTByt5cnCR28CJXCdVy5iRTB1qRjqufA2bOq5M+Zdk+gkuAQK6R966SOVqzy7srRNyMoQxjhEEZvL4j7luRnVX6ywICztwLuoaixmIsaM0XHtKmLq3a7m/bEbU4WbVoDT5ZGkgEvQCSziyq94IRM9e3E4nC9ZAIY5yjz4gqLGW3ck0YWNyS48ELjyZvwk/4rKtHnSuQBvwibhcCcCNQ7Ca9yolO4SDC5EOR8TsCDghhzuGViMZPMVheH4o4xPbHJZpjN+YAGOuJDSniCMnH3KNyLBYOsxPiiPDIHECXDi+SlakbhtAbVqcS8LhMSRkRQcxz7FlrGaNi5b24ifjn/cjkdB1QJ/2lUw9ttoQlLzZC3GLg5vFnoyakiFy3dmbQI0uBKUsgBX3OqWK7+1lctQjbMdFt9IBYkn8L4q6xY07ISsCUoRLxaLyxMmfTH71YmLbIErlwRJlCENBIBrIlypWuYtnZnKFsSbzBMSADOPCw7MVFsXShcFqMMDAaokYiTMYgmhJxTTE7O9u3YRtRe0BhCJxAGMuKy1FmrRMzY3NvDCcW1w4uKuHWWoC8Z+bYk8SXGjAjkD9i6cufYlo3DGI03iPBIUjJueR5Lo5qZbw27wtXjrbiH9nFYsanT6F6I9aTs7rp2y3lyEr+1mbXTN7dlJhYufFtL0wfgJbyyfgPJZ5tnj8b/wCG7N8/n/1/u+49L6xtuodPG5tORA6boxMat4uYzXp4615+ucbeyo4rbAQCAQCAQCAQIoBAigSBIBAIEgECKoSAUCQCBFUJUCgKoDJAlAKhZoAhQCAQCAQCAQCoFAIBUCgEAgEAgktIEAgZQCBZoGUAUCQMoEgEDZA0AgEAgAWQCBoBA2QCAQNkAgEDRTQCBoBAIGgayGgYCBoBAywrjwCKpu6jpEZNrk0iMZODSKEfJ/qZ6qs726elbS7CWw2s23Bt43bwxHAwjkuHt9n4j0enj814G/ft7aydxel4rgBiAXJDNRvcF58em3Hlupb3d7y/Ha7Uk3pkg3QDpt28/wDNx9i6SPP1bXUhZsdK2Vvb2YuIhpyOJkavLtNSm6uZHPuXZQtC5I6rtx5CJ/FIUJ7qlWJXOaUpi1B53J/FLMyzPLnwXWRytQ8iQBjt7X6m+Dp8zC1ADERJ+JuK2wuh0aV0xn1DcRncDSFokmEWr8IoVn7L9Wi5Hp1qBlCUBOQJYDS5OPZ7VL0sjJcubfQBGdlzQg6j7ZAl1i1rEJRum3HRokB4TpuEkBsGmM86qSrjPOzb1HWCYfiiACw/FErUQW7JkJRjMkfNCUTlnFBfY2srmmMZRk+EHYns4FS1ZB+mubecrV4StkgGYOVaP+9Z1qRvl063Kzbu+Wwca5jxeEjLlmM1lvF1jpJNqI+GTGAOMNcJYOMpD2Jq46Gy6DeN0g+CEy4liYkxeQLGrxq6lqzlH/RrkjflGPhmCIhn8MiTVsGDBEyoHokn8i3HVvL+kiUj4YgzeciSwichyU1cWXuj27e3uG2ITu6jDUaiZcE6AC7R9nFTVvLFd6fK3MNCcpgPHVQDOQ0h3bJqLWpeUJbWYt6YzAJxgAXc4q6z9RbsQtRbVUMdDFqqaYncgbcWjOpqRIF64F00sRIteGMTKMgQSHzGairYbIzEiNMiHMIggPmGwZuCIrErluQiYGMo4ku4HFiriasFu3qLNbnNiGpEnkMjzViUrtkSjKMp6YuDISwJ58+BXSVjGLcy0tavRkYsQLwxHsRNZ7Ny7tZ6bgNyxIUliCP5efJZsanT679LvqENjcjsN/c8zbXpiEL8sRGXh8X9P2LHPX18ul5nUfc2yowwIzGR717ZdjyWIjEhEGaBsgQQCAQCBEIBAigSAZAkAgECZAigSAVAVAkAgFRFA0gWSBKAyQJUBKgFQIAKAdAFAIBAIBAIBAIBAIBBMBaQIBA0CzQGaAKAdAFAkDCAQCACBoBAIBABA0AgAgaBhA0UIBABA0AyBgIBAwgagFAwclcAoJBAndy7RGaCsic5EuY2reRqZSP3Kq8n9RvVEuj9POw24B6lu4AylqbybMixma6vG2kNksd9ZNa452vjGkzOudQCwgaOT8U6rxWvdJjznXd7fu3jasv5p8MdIJEYgs74V7VvmOXfTT0bpsNjs5Tlc1Xr1bszkwcCAH2qpIq6hpuyAuTGgB9IJL1fgqVhuGNy55ZmNRGLtoiM8FqRztOUbMLGmM4wskeMggGbZajgOS2icL8tEI2I7f8ApM9AI4UBlL2qLFtrb9Q1Tkblm2WDm3bjIRILMDcjIjKqlELuwvzjrnuIW7hDyItiRl/U8S3aGXPW8rJPYbTQ9zfTuk/KLYiKZak0+qMNptvLlG2btxjGYY8HEscqptPrF9vZ2TIEiQOEoSYinA9isp9V1vZ3tJFu0TI1FGoOaun1QEZW5POEosQDq0CPKshgppI6mxu3JR8q/s5myDqJMIylEv4a0k3fRS1uR2dr6d8nUZW4jaxPmyJqY27hI1ElqGX4fY6xenSet1OndDG33JhctXrVi8ADHSLkY3RPX5Z05FpGMmBDLN6b59bt2um7aML1y3txdhacCLFowkX8WoOQa/5Vn7uk9bn9S6Zu2F2zt7RgSZ+dC7anOeYMLQkBMHmk7S+u/wAK7PQrtrbylGE71kgT0zi18u7yMZANpLsB3hT7rPWrGxnbMxYgLW5ugRiCPGYRFADJgB2KfZfqxfoLsaxgTIFgHiIyFT8QbDNX7J9WO7sYCA8yA1OQ7BgR2cOCus3lzb+0hbJlbjCcZRbSCSQDwFVuOfUjBMWRqYNkQcvatRzqie2HxQLHIS+4rUjFqqMgJmEzo1EOC4D5e1XGLV13XoBlKRkMc2H7lcTVYvT0iEwJAjw19mkpi6u1XJ2/zY6hFwxOXNC0S29i5ZIiGGABoQtMuVftysvamPyCa1J0/wAwUsENrubmxvMS9s1xehzBWOprUuP039K/V216t0a1003jLd7OzA253KG5bAYvzgaPmGK16es/6ns53y9qJA3XNAAwHHmF6XBPJECBIAoEgEAgSBEIEgEAUCQCAdBFkAgXJUDKBIBAIBAkCZXQZqBFAkAgEAqBQCAQCAQCAQCAQCAQCAQWLSYSAQNCkgSAQMIEgYQFEAgEDQCAQCAogaAQCBhAIphEpoQIoQAQNA0AgEElAKBhAMqGAoJIqESHeXyfDzIzQZ9/1C1sdvcvmcdO3ibszIPGMuJbFvw5lB8H6/1mfU99cusRO7cldvSfVIuwDyL0jGIiA68ns7+1e318Y8z1rqkbdotEOx15RD0AfiVicr305Oyhc39/zrlsT0EPEmRtgCjgE5Z0XT4cvl1NxckbcBbnEyZrZoIjiQpGq4964J37luMjot0mTiTwW5HO1Vc0WogsY2yW8PxSke3GRW4xWUGdy/puBiQdFiDS0x4ykWj3q6iUt9sduRFxKYxJJZ+3GSztXVn+uRuCRaZhE/HL8uzF8tMRI/epZWvtGi3u7t+cTbtXTWspSugdrS/csWNyt22212/cjIarch/MZUwzWbXTnnXUten43BE6pTc1EosPc7rH2dZ6q27f0vYlKMZiAfFpmMubRnowWb7HSehsPpAxifJEXk5lbvRnaIAxPmE17lP9i/6ZFNnokLVw2p7D9dI+GMoTjeIkK0LapUOGkFX7M/6/5js9I9LWpSFy1at2GB0ysykJD8UJAswbCnayz9m568ev23QLRhGbamjKAlMARMBgTHBnCzenSctEOlynt5RJEY3JymZmki58LEZfdRY1v6tNmzKUT51oSFuRABDRcfNGXDg4U1rIy7jolqZkLcYGT+Z5c4AgEV8I8OnuU0xhn025ZvgS1TsSEpGyLhiYzJAJcYumn1Zdzstp5crBuwMJfDHcAkgfhmcXGRTV+rlb3Zxs6TK3AH4RcjJ4kkUDn7JCvF1qVi8uRubMJPOdo2ZEeIgCQH+YF4g5CQY8VuVzvLFutlIaZSiDbkHBLRlyMS9CMwVqdOfXDj73Zk29cPHD5nwJGRGMJLpz04dcOFd82zdOk6SC0rRqD35ro42I3N5buw0zgIyfwkDDsK1rFiuF67YhqtS8yzjpyBzAzifcU1E4XLc7euD6D8UCGaX3FXRo225jGQMyZ2hSYbx25cSM4lVGy6ImIEQCZVDfCRy5oKL1mV20QC1wZ5FsipVcjygQbV2Hg+S4KGJ4EKVXovQ3X9z0PrO2u2rmuW3nqiImkomkrcomviiufTfF/FfqTp2/2fUNhZ3m1Orb34xu2Ljv4ZDAnjE0IXq47+0efvnLjXEu/ELbAQJAIEgEAgRQCAQJAigSBVQCAQCCKAQJAIBAigSoFAIEUAgCgSAQCAQCAQCAQCAVAoBAIBFCIsWgnQNDAiEUCQCAQCBoAoBAIGgEAgEAgaAQCAQhooCCSJAihAMgaBhAKBsgaAShqBhA0DDO5oOKqqhL8gSlEmBbwChlXPgEHz36n9dNuI6VbuMSRe3MxhHyyGgOBDuuXt6yY6+rjbr5ZursdtZlI/3JGoJwiPh9y8seu+I8nfhc3u9ENRiZkkEB5AGjgGnhC24V2JeVbhb2G2a0CPzC7ny4hzqJxJGKuKzbm9IwN6cRAxjr0CpjAfCG50SM2sVqIs7Z7lb94m5MHAPkSukYYZG7cMZtquzB8sSoIR/EeCI5O96m8pbTaP5YLXLuc5DPsGQTDVnT7Nk0lLVOQoIVP+aRRJHpdn065f0RgKx+GIxwZwTgs9dOvPr16PpXpLc3pNIykSHGpzTiX+xcb29HHqe16T6RhACJtkYVl4Qf8FyvT1c849NtvT9u3GJEIXLjO4BAA7lzrcXXejzuuJyER+GAlIfv9iYv2Unok9I8q3bEG8Pg1AHiRMumL9mix0bd3bcY+cIx+a2LYhFvYWbEEVTE+zRt+mXbZlC5dM2cC6XBk4YF/DhgaVS0aPImIiMgPNIiSdRnEkCpWbW+Y1WTbI8L6uUS7cOSigWZEam0tUv+1UombAJqGkKsOKiahf2dm4BqhqBBBPzB8/cqmqpbGMoAyiHxPBxR+9MX7Obu+i2CCNAlbueG5aOYxH7FRZXF3PR7bi1IO1CJ+Gb9v4hkTSQpijTh7zoE7JEY3IytzYRdwHGR4OzAHOmKs6YvEeX6p0rc2P8AqLUnBLC7FzCbP+XdiaiYHw+xdp08/fGPPdR2wmBrtm1dYGjGEhlKLe9dOa8/s5ed3dq6JuCdRxjzXWV5+ldu6NvPxSMb0h4gKwA4S4laxjV9rdxifGCR/wAyOB4gxqoutP6xhGVojw1gWeh4ZoNVjeecNFyYD1EMajAhldRdMy1mT6piPigKGTfNE/i+1UVbuxb3UWZpAO4xI/EOfFRc1y95Z3ENFyLC/YYxnHC4Bge1Qu/L7r9I/Vgv7KMbt+NrbTlCzdBkALW5JaMjCmmF12f8SnFytdzY+tG4W1SixgdM2yPAhet5k3BwL8wgGRCQIoBAIEUAgECQIlAkAgECQIoEgEAyBIBAIEgECwQJAMgCgSAQCAQCAQCAQBQCAQCAQCKEE3WmQ6AQ00CKBIGyAZAOih0QIBA0AgEAgEAhDRcCARDCAQMIpoBAIGgGU0MKBoGgEAgaB4IGyBYlvlixI4nIIrP1Dcy2u0u3Isb8HNkHDUQSD/TDNWD4Z6k6l/qPUb09Wva7eUhG42mMiD8R4mUi9cV4vZ1bXu9fOR4zrG6s29d6Z8FsPKRwEn8MADmTxU5Tus3RrErELm83Ia/IGUgakElxjmQtWsc/ye31Xv1G4uSMYmXlyJ/APHcb/wAMfaqkYt3c/VbmG3dozkJ3h/JbDkdi1Iz1VW9u6gbswNMai2MyS0AO1aZcjqe8nYhKxE/n3PFuLjvyERyenciWuZsttK9KNqIIBNeJ7UtOZr3PQfT9y4IyuW46jzb7HXLrp6OPW+m9C9KCEYtEG5KkbYxFHMu7guN6ern149hsegxiGGqQBOkzzOZpQLFrrI7VjYxtABuArX7cllWmNqEcWAHABXE1KNoOQTTF1UWiwDHKuFB70ExbMY1AL1EVmtKpbd5uzyxBfji/JRqGdrEwYBj8xDfemRZUI2NMs2ODcVPqurTbiRxahDKGnGNBpoB7GQSnEEk5oyrlCWVa1BVVTdtkxLfFiDzCyMW728boMJwjMSDEEPRRuOFvNncjala0i7DC5ldlAEPpOGuLODm3FZrUcrqHT9vvIGTC7O4DG+bfhE4g+Jx3PF6g0VlsLzK8h1n09asAz82d3azJPjBno7W8TfizC7c9vN363k+sdCuWhrtkTgK6eXbmOa789SvH7OMebuCVrVEk+WMYHEdnFeiPKjC7K1OMLh0i5QEsYy78iqLDbkGMA8ZU4eIZDmpglbeTgFrgDsaam4cCsK1bXdi61ucjC9FjbJoSjUbJzuXvFB47kVlbFAWzjz5IEBC5aJbVA0mMwTmFF+Wr0Z1XadF6/Gz1AGXSt0DZ3Mh/yrlCf6rZ8QUts8xec+K/RvpHrO7v7LcbPfy8zf8ATJx21+/HC9akNW33A4i7bq/au3rv4/H4ce5+f/L00hEeOJpi+RBXZzCBIgQJAIFzQCBFAkCKAQCAQJAigSAQCBIBAigEAgEEUAgCgSAQCAQCAQDoBAIBAIABAIoQCCbLTJIAOgkgSAcIB0A6AQJA0DQCLAgEQIBFFEDQCBomGyKEDQCAQCBqBhQNkAEDVAoGEDCAQSAqioQuQB8Rq5JAqalvsCDx3r3rG4tdL3NyERbA/ItyuGuq4DI6RmZRCnfjm1viecfH9zMxjG1JtMBrkMnIoy8L3V527EXL5E4i5aj8No/CbhpHV2Lbjg6nd0WNEXlESaUsTKYGHaZFIlRvnyemGEtINsAHTV9JeRrxmh8RzdsGjcu6h+YNBkcWHil3ErrHKoXpGEfMOEADF6tM0BPOIVHldzdldvXJfjkAOUQKIzXp/SnR537sDpf348ly66ejjh9l9Men7Vm0JRgYsxjGOfLCi8/XT3ccZHvtjsLdmAfHsoB+GObZ8ystunagIyLYc0TUxbuE+I+F8ENTFiIoQ7qotjYGk8DRkFwt0PJQRlAHwgMKMaqNI9g0twRRE1H2qBnTiWbhxQGl6h+xTFIRmA1G96GkYNUUlmgiCcw/HNVFVxnfSylWM8wNNMTms1qMW628bgLYHA5ustSuNuNvctXDcDDUXJahlgJEDIihWW3O6hsoT1XYHyZybXAjVCb4dvIhalSx47q2ylCU2tTgJfKzxEuXB+H2rvx08vt4eA6tsY+K5EM7icQvXx0+b3y8/MiyBCZ1WZnTOMsHNYkdoXRy1r2O5Ly291pxI0kHExGAPBsjkosaL9p2tzLmRfb3DmRjEt8wRdVR/MJtXyNUC8breKJP4uXNSxZWq3vLluWi/HTMMI3RWJWWmsXTq12wDKVJN83/AOr7VFTlbt37MgA4NYkCoIU1cfT/AKc9fvHpwuwe51boNqMP0zl950zU87Nf+JYJM7XOma167/7f/H/4/wCWfZ4m/wDn/wDP/D7H07dWdzZtyszFzbXbcb+1mPntzqD/AAXo5uxwsxrWkJAFEJkCQCBFAIEyBIAoEgECKAQJkCQBQJAIBAIEQgToEgEAgECQCAQCAQCAQCARQiBAIoQCImtICgAgCgCgSAQCAQCBoGgSLDQJENAIoQNABA0AgeSACBoEgaBqUNA3UA6BoAIGgaKiBdAbwtkS7qh6LhPilT9slBC5K3tbF6ZFIxkRLFqZ95QfLvqPviTtOmg+YQJ3b8jjq1AWw3y+ELh7uvGPT6efOvnXULwe5CH9wPKR4znSIHKMV53fqsFi2YXJXSDIWIgwyechQn7Vpzc8AX79uLkiIncObYDzG9wVFPqC9ptW7FvwgkRbFoxr7zRIz1VMoyjG3ZIBodTVpmu8jlrm9Yuye3ZB+Uzl7KOlRxdlZlduWwRi0vbRY6uLxNr636J6T4YgUJoGoPcvN3X0PVy+wdJ2UrdkAFsHZ6lcnd3bNtwATVVK1WrT1wRGiFqnHgqiYtADD96gYi1SA3BUEgPvRUZxDFsqhRYqk2OHNRRHF8xgimZD24IEGJNGz5ugH9nBmLqAPY3FBE49qCu4QOxBmuwBc+/BZsalZ9JYgZGjqNM1+1CQLjEES4qVZXKubbcWpmUNJiMjSnastyuZ1LZWd3bIkACBSMQQferz1jPXOvmfqrot+0Zzth5j+5FqSGR5Fez19Pne71vA7q3G5KduXhlMaQ+Brh2r0a8Vjn2L13ULMv71t/LMvmAxieatZld3bbi3f2QlNzaJa7xiRhJ8iDikVHc2jG35lwnVCk7sA5b8YjmPxR9iuKjbmDb8i5KJkz23+EjIxl+E+5c8alaIm5aGogm3hcfGJ5th2qNOjt9xWMyBKMi0wKCXBRXc6B1m/wBD6tt+pbf+zqaTgSIGYY5hZvx/VqY+39K6nG1e2t3bAS6R1CRudOuDwx2+7MXv7SXCF7+5ayd4r0zvZ9v/AD/f+Xn64y5/4/s9fbuxu243IAtLI4g5g8wukcwqEUA5RCQCAQDIEgRQJkCQCBFAIBAigRQJAIBAIBAiAgigEAgSAQCKEQIBAIBAIBFCBIGgECQWLTIKKAgECRIEXAiGEAyAKBBA3QCKaARAgHRRigaACBoBAwgEDQDKBqhgLIEAUDCBoBA0DRTCCQQYOp7icbNwQD6pwhGhIMtQJdsogOUWPiPqHfHddQ3O9i0RurtydgO58kSNuMmxDxGodq8fsu9PbxMjzNw6bV29ccvqIONahx3BZwrJuDC1soSn84fTg4dgrGaxdLN3Td1MTN5CJApGPh1HNlSMfU7pn1S1aIe1G2wi1CQMu8Ba5c+75SjHWTcLeGI8L1rzXaOePO766bm5mZ4mMohsgHH2pSNfp3aG9cskh9MjblR/5h9649119UfdPR/ToWoWo0MwHkwoAvJ1X0uJ4fQtnACAJxzUV07NsFnVZa4RHBEWDgVRJwMEEfESMhiUETGLv70VGRDO9TwUWKpPkioxphUqCVa+Fj96KiT7cqoAOcwgXixcVQIksWKCsu1URROTnkMllpRLSS9cFFRkBINIU4qVqVnu2miWDjnks1qVyt5DT8UKOzrLTyfqbZWZ6zbJnMQEpWxU6TRwu3r6xw93GvlfX+k25SNyB0tUkVIde7m6+X7OcrzG8s2pVM5R3ET4ni3YQQcVtxq3pW8NrdtcY2r/AIL8Bg5oJAc81FjrWybG4O1kNbF7L4H+U9owVGLcRt7SZjLVLYbh5WpYytXM2+8JU+F9u9djpmC8w8XFRKlMcRILFjpq+zfhFjhYuVlH8B5cvsUV2NvdGicZDUWaYNcR4bgWdae69C9Sd/T+8nIWt0wt3IyZvmtGJ4CXsTjr63+lXrnZ/V9f9O9Su37MrG4k2/2hFnfRkADIt4LwA/EPi5r1Txcebr+XZJkMaLbBADEVPFAURCQCAdAtSAdFJAFEJkCKAZAkAgSBIEgEAgECKAQIoEgEAyKCgSARAgEAgCgEUIBAIBAIBETK0EgEAgEAgEDZAOgHQJA0TAiwIGgEAyBoBkAEDQCBgoGgGUBmgkoAIGgGQNAIBA0DCKYCCRlojKZwhEyPcHQeI+oHVJ7Po23s2pmO53X5cNJaT3QZSuhvwwcDtWPZc5dPVztfH+p7jTuDCBcRItahTxOA3YwZeOPX1XPvN5Oh2dxLuq63GKx9cloMLUPFKEM8NQBeR4ADBOTpT0webuJm05tNpgZZvHVMnlp+1KkczcePdXL4k9u1buycsCIyjGLH+YElb5jn1V1z8rbTIyiY/wD8cXXWMvNzjKd28KPC2Je0/wD6k6SPV+itkZXNQFfCZdrsvL3Xs9fL7l6b258mJ5AamovPXtnw9Xt46QA9cOSI6NksA+PJVK0wd3y4FETcKoPMLIIk4Vd8UCkTg+KKg7HFRYiW/cUU3B48kETLv7FBAz4AGRRSMiMeyiBCbjNhwQLWY5Y0CCuci1S7VLoKCYmTZ/ahEJCWHH3rLSMhyZ8SP3LKlJ8DQmnYosYN3APUZ0IWa3HE6htIm3KUB4jRuL8HSVbPD556l6TCRlch4ZHFgWJPF8CvX6+3z/d63zbrG103C8WagyZl6pXz+vDi6/E08OPI4q2MvRCR3HTrF53vWz5Zlx01iX4sjSXmW7kZCUROF4eO2aeICrcJZqarJbt+QTt9WvbTLbe7Kkoyx8uYyP4eKVIttzmLggCPEWBOGo5HlLArONa62yuyuwFyArGJBj82jOP+VZrcdbZb24DDSWu2SJ2JjGJxMewrNjcr7F0LrlnqOwtdei4321hCx1Aw+I2n+eI+PTUuu3rv2mfmOPs5y7+K97tN9C9t7dzwyt3A8LsDqhIZEHgcV25uuPUytDjILSEiBAkAgiUAEDdAs0AUCQCBMgRQJAIAoEgEAgWSAQIoEgEAgRQCAQCAQCAQCKEAgECQNAIJ1WkJAIBA2QDIEgEAgEDQCAQNAIBABA0AgaAQCBoGgFkGaCSAQAQOqBoBA0AgaKkiK90DKzG0Pi3FyFkf5zX3BFfJPXvqCG96vvr1qRjt9hKGz2H4Dc1Dzp/7EWXD3X8PR6Y8ATHUJPqjO6ZgnOI+En2ri7VGzB4WpTD2zpkSAfGamT/06Q6I4PWL1y4ZVaV6TSIweTuO5itSMdXWnYz0bWBttESlATk1PHJ/siyixxL2nzNxqfybxjaLVaIuACXcYhdeY49N+8hKW1uCguxjcIi7AmTip7Atyjzot69coj4rPlsc2Yt2xwWeul5fQPROzLRnIFwy8nb3+qPsvRo/kQADUGpcnod7bGWDIjdaf/BVGmJLYoiQrQ96qBw9c8EU3rhVERd6M3DJFVyEiX7kEXLVUU37G97opcA3uQQlEy5IFKBYkAjg2agQjxjUYg0RRRshw7UFVwSyFTRkFM3yxJooquoBDnGlM/3LKk8TX3/vUUEsCXfkgyXgZxMjQYd6y1K5e7tHQeZoOKy28X6ktmAmSHYfmNhKBwl2jNdvU83uj5v1y1EOSAYHMr28V832R5LeWALhjhI+KINHBzHFdXGt/Qpm4Luzn4ZXY0BqNcM/YphCtGcvNsyJhetO4FWlA4jsyUvhYtlejKBumL0Avxy7Ryf2JFSkLZiLr67MvDcmKmMhme0e9SmNG0uzs7ogycGsSD8USHB7ws2N8uvamNMJAvHMZgYn96xXSPefTnrcdh1YR8z8q/bnC7GVIGTZnISU5uXV6k6j6r0CUunX/wDSpjVsbgN3pk8/LJ/MtSf5rcpA/wBMl7bfz/Lx/wBHpJQ00WmEUAgRZAIEWQJAIBFBQJECAQJAmQCBFAkAgEAcECQIoBAkCKAQDooRAgEAgEUIBAIBAkDQCCbrSEgEAgboB0CQMIEgEAgaBoBAIBAAIGQgYQCBoBkAgEDQGalElABABBIIBAIB0EgimEDCDmdf6gdjsru6iRqsWL0rYzNyUdFvS+J1SYdqpI+H+rjd2tqx0kXfOntAZ3ZF/Futx/dk54Ydy8nfy9nE8OLdMQbduyaWzpFwmkmNZLCqXnDbXNxrMogatNWGo6IsFB5y6RO/CGlw/mWz/MDoA966ObobAz/T+XA6pm6dDFmnbi8S/MuO9ZWOBauxubu9bl/b3J1Wv5ZEkh+0ldo5V1Zfn7cP80IW5jMSrEv2orz+3jOG6v2sZ+CE/wCaLM/bzWOmuI+s+jdo1qIyIBPevL3X0fXH1HpkRG1AhiCMvsXN0rs2QQwx5Ko1QEu7iqjREFsGPNETAJZ3Y5KhtwFAiEHwZ+QQRJLopGpJxA5IISAEsXbkyixGuVWxOSKmIu5MmHAOgYA+UYYIImhBD9mToEQTkWUCkDix7A2KKrkHjg3agzSgXLGmA7VK0qlAmmKyIgNlTkoqcotR8c0GTckhonDIBStRz9xaEgScI8cjgs42876g2sLm3kcKnxjGJOBHIrfHy5+ybHyfrMSPAYsKvAfIcaP8vBe3h8v2x4/dQ8RtyLwqYcuzkvRI8tpbC+LO5296YL2rg19mBfiCDipR0erRNnqP6i2wbTC7waQeE25uYp15WeGaM4iXmRqQDrjxjhIELm3iVi5+mvu/5FwGBuY+GXEYFjVUjda21u7GUIEWtzbwgZflmJr4ScH+IexZWVu28rlncm3MnVKMSAafs6zWpXV2l82LsZwLCJBiOR+XsyWW4+3dOvXeq+mum7qF0ndbW2LlicaEiMTAAgYmNbcu5ej0+ecef2+Ote12G+s9R6dtt/YL29xASplIUkO6QXXmudi0hlpkFBEoGgigHQAQNFRKARAgEUkQIEgSAyRSRAgECZAIEUCQCBEIoyQCAQCARAihAIBAIEgEAgsxWkDIBAIEgEEkCZAkAKIHigaBIGgHQN0AgEDCmgQCoeSgaaBAIG6gFcDCgaBugEAgEEkAEVMBB4b17u4nrGwsm7phsoR3U7YGoGc56LIuPQREdc64kBln2Xw6eubXx3rG6nueobi4SSTKd0k5AFgAvJuvVXP3Jlt7YuSBEIWpXTzJBwKMrt4BDbXoOBG0IQbgRASP+8ysLXndpZnK8WHhiYwBGel5V7GWnONm1LbM3IylGUZTui4BUETGktyLKY04e4aW+v3hGMBduRuStQdoGVz5X+VzRdI5V1drdBsylIE3NMjOHE25mJMe5FjFuttEdQF0VcRBuAMCGLTHbR1nu+G+Pl9a9KWSNpZkauACeRxXj7r6Xqj6L0sRFsDhgsxvp1oAvTBGWqEYgVWkxaSQONanghiUff7feiJiMpUiPCcS6qGYSFZMTwdBXoHDDEZe5AiA+DniiomMQ7D70CkHFcsuKAEiMc8kC1N2KNDzAajsQLVFjnxNWQEpxch/cghI5nBlFUEEOSB/jgpRSYAmrs+KlaI2hhhzHNRRMaQwFcioMt+INMilWOfuBIdiy1HG6tYF2xOzMlrsSIywauIP8pZXn5Tt8k9TWbkZl/DcdjylHlwK9vrfN908vFbqOqWGmrgjGJXpleLqMk4m1IXmY2S57DXSfZRKjp7+6Dt9tuJAyjCU9vfbExj4m74T8PMKLWa6J7fcTBImGE4S/FCQoe+KzY3KlCMdHlga4/FH+k1WVxdYnolbIOqhMZDGUM4/5XdBtuTMzYkZNoOgn8LZ9hdRp2bV43LEnOkxpIcGxWK2+ofTD1Lp2UrN4axsr0ZWcAG3I0XrJ/DqkBctn8QZb9fWVn2c7NfQPT24u7Hq2/6XMEbO8RvNnbIANqdyl6FMpT8S9Fvnf5eeTx/Z6Msa4grbKJCGEiEyAZAkUBEBRQgSICihAkQIFiihEJFIoBAIgQJkUigSARAUUZIEgEAgECQNAIEgEAgEAgmtIaBIBAIGgCgSAQCAQOqAQNAkAgYQMIG6gFQIGFA0AgFABA0DQNFARDQCKaIaACKk8AHmdMKmcuEQHl7kHzD1b1EXLO86hdHg6lCN2zIAeGxbmfKhLPVLR9q4+6+Hf1R8mlIzuS1VlOUYUrQn95XB3qVptzCLVjKVyBBxeIItdz/YokLfXAdh5kf+JMgdgOgA9oi61Erl7WETqmzxErheNS1I07nWmIltoS/SDTIPchelaH8kiwCflfw4e8E4fmQw8uBBz8MnI7XDLo5Vu212Er0iI/lwv39vdAyjeAug1/pQjVYiL8TGR/N2052ycTKEat3AuOIXPp248vpvpBpbWzbkwOnUP5oii8nb6Pq+H0Tp8AQKtmViN9OxbgzDEZLTFaIxpRgcgqiYiG4EZFETiAGxYe9BMXMsRyVQ9VQwpwKoplI6yJMImrPkexRSMgSQAyAiGeoIxJQRYkPmgQi1flzKBTMSWix49iiq5XAKgNl39iKibkSHE8MjwQKN14iQIxaLoHqenzA1HNBKMYyiMicOKYmo+SHaLdoU+q/ZEwiwA+EqVrVc7cpBsHCyusW4FZABuSixg3Ec/ao3HM39qE9sIOwL1rQ8khXyf1lbnqlOdJgnX3Fl6vVXg/Yn5fPt2JGUjENIHxDszXp5rwdKJAXYaH8YDV+YCoB7DhyK0i6NzVsr9usvDZ3IBxBiPKuD7EFO4lONjb3B4tAMCDUaRJ/vWV1fs2lBoeIQBkLbtIwPxAcWyWa3PhZaMyfJifzYHztvOgfj/tZoRplOEoRk2m3cA1tkSA3sUV2Njc0yAn4SJaJvxbhzWa3y9P6Cv27PqCGx3M/L23UCNnduj5PMpau/5JsVPtl1bzsx9n285T3PTN5urg/XbeF3pnUNOBnCQNqQ4vgvXJkz+Hlt2/3epsmUoy1BpAtJs/5u9aYTVESEEWQOqCJQCBoEUCQCARCKKEAiIoBFJECKEAgRQJAFAkAcEQkUIBAIBAkAgaBIAIBA0CQTWkNAkAgaBOgEAgaAZABAIGgEAgEAEDUDZA2TQIAIGgAlAoGHQMIGgAgaKEAEDQNA48cjgg5Xqq9KPRd5ahMwu7i2NtalGp8zcSFqAHMymE3B83+oV6xtLW56bZjos2LkNptyXkbkNraMJSJOeuvNef3X8PV6o+a2jAQN+5E+XaBuXK1kYg6YjmSe4LlG6ntTovbeUx4zald0CkRKRjF+WFESM3UpaenxgYaIwutGP8ojH+LLUZrPsoxj065Ih5w1yd6YE/eqivpf5fTtrckNRBlGUTRxJsTlqeiJPhzeo25WDKWoT0OJRAJ1RBzb+UrXyyNsdvHebyEJAWrnkzIuGowESCzGpFFUbenidvdmMmF2RAgTV7lqsSeJNuWnmyx26+r5fVPSwjLabZg0IyMoTzgav/lK8nfy+l6vh9B6VEk0HhLOf3LnHSu9bi4Y0GS25rA8RXHL+CMgzArnwxVBKb9nHJUQN2LANyDFEAumT8MjwQRJjKVKcWRUwTQUPAcB/iiHIEYVMaPw4oIEVDhwMQ6KJycDlXmThigouXIjkPlBHHEouM5vfMS1NOoURKqu7mzaOmVwRJfSaO3B/uVxNVf6ltIaY3L0SJ/CZEChVxNOHWNjK5KGsC4GJyIyqhrVDqO1Mo6ZiZm5iImpbLt5Jhq2G+25JqxFJA5VZqYKYSn5tsxEnGnGM+IWcb+yDmWbSDFRpnvW9ZHEg1ZZsac7cx0khsmKxWo5e5GqMonAMQcxwKkafOPWG1J16gxJlKJZ6tULv6683v58Plm/h+YYGkj8JGBIXrlfN7jnxuGFyBbAjUDmxYg9oK6ObXZb9WLZodBtOcJRmDEk/wCYBS1Yj5ZjtLkSYxEGlpkalpVLCqyv4RsAWDrtz1m1ISg0S0oyDs55JV5uOkY24yhurUJThB5xD1jE/FGiyqZmY3JQiIxMg5Ir4mxc8QyKt2k7s9V6WMo+MfzQOKlix3dnc1Ts34T8uTgwngxiXBPYQ6w6x916TvR1H03PdWGG63O0t9RmIU/NtHy5nvnZXp9N2Y83smV67bXoXdvt97apbuwiZxy0zGqPsdl05vhys8tbrSEgRQJAEIEgCgSBFAIAogRSKBIEgSARAikgGQCBIEUAgECQCAQCAQJAIBAIBAIBAIJrSBA8kCQCAQCAQNA0CQCBoBABA0AyAZZEkDQIqwNAIBQCBsgYRTRAEDRQgaBhA2dAWyBbeVBF37kHO3dvzerdAsXNPlx3kuo7h6eHaQNyI7BKUU/A+KetNxdMdnC5bNu7e83cTlIgmZ3V0zhJxmI0Xl9vy9fr+HjN3ehE6APBE6YwGcYkava65xqtWw1mU7tyQJFoAzyzkR3EqpGfquo7HagYSMrg0lxU4jlValSsVjVDpt6BOkylorwnIP7gVqM34QtTA6ZQGluBriNOmY9wSRnWPq9yVy1MwfWYGcC7Em3LTKIORDA81Ylqm1Owd5C3MsNxDyoTZgCQQNQH4SMs1dGzaG7euStzlLzoiN21HHTOAJlp4xkNWGYWO/h09d8vr/ofx7WzUgzBaJwMtI1RHPPmvJ2+j630Hp9oWSNA8BxGIHPsPJYjrXZgfFEFuZ5rTlVoHhBFXOLYrTNKdyERUZs449q1iaw3+pbeydFy4BKRYMae0/Ziriayz6vt/M0G5GMi4AxMj3/YpirbfUNvcGmFwF3LRdiyhFsL0iCXJMjTVwYURVsLjYgg5SopqpxmTgXI455lESm5B5qigTGBNaiPZi6isl+7ASDyFaDvUV57rvqCOysT0x1XJhnJAAH4jy+1aiV4LrfrbeXgYbe4NJIHm3BpDgtqY1wwouvPLz9+z+Hmd76s6pISgbstQkNNu2CYRYe0y7StziOXXsrND1J1ISBO5kDAflymTKvDI+9a/wBcZ/21fD1f1QyJG50zBeeGiRGIlXFS+uL/ALq6ux9cdRuSjqmJ7gggXhcAuEZAg0mwwdc763Xn3O3tPV2/v25y21yU7kA920JiFz8Li3P3hiOYWLzjtO9dHpfr/eWJfp95CUrMA0ZEmFxiaARkSzZ1WLy3z3/L1Ww9VbG9GQ1tKIe5CbicASzyiatwOCxXWWVtvGN+35luQlnqFRVYrUcrcAsebe1ZbeR9S7CN2N0EPEh3GIbh2LfF8ufs52PjfX9qbO6nGdauGrzcL2818r2RxLgMtdaxIqeHyldNcLFkrjm1KJ8Y1CZ4xJcE9hKVYutG1dvGEyI+YwjM0BEouBPgNUmBWVZYC5CcrEgRc27gwONPiDclqpHT6bdkZeUSBGTaC+ZqO44LLWrtzblbHmgPE6YziA5GMSfsQrRtoaL87Ejq0uNXKUXDclGo3dPnIRnblXSdUSMwRl3LPTpy+vfSPqMJ357G5Jrk7d+FkE0AmBIhv5pxwV9Vzpn3c7H0j06LUdgdnD4LAEAGIaM/FBnyxAXqjy107ZJgBL440PctIeSBIBAFAkCKAQJAkDQJAMgSAQJAmRAUUkDQJAs0AQgSAQIoEgEAgaBIBAIBAIBAIBBY60gJQCBIBA2QJAwgHQNAKBKhqAZABUMKBqBoBAOimiBAIBA0AgYQNAIoQNA0DBQMIISiZE28pkezNBxep7n/AN46ldMiI7DpEo27fG5ursi/dGyE/MHwTr+5v7jf3pTOqYnG3AVAi0fERE4ARyXi6+Xuk8OEY691OQ8WmMWHAmQk/wD4QEZroxlK30+RjIGV+3o1gMxAEdTf1TUhWLremNna240AtExHAO33LUK55lH/AE++CSC4HdqZ/etRixZt7g/RxLaYiNuNyMs5Qhpx5stMudvjIQnE+K1K0SQfxR8MwTlLTXuSJYo6mbgBuQpdsnU4xLaZCX71ajRYveV1Keg+C416xWjXZCWiPeJFY6dePl9u9D243ul241ErdyEhIYgYRl3Ly9Po8Tw+h7K6P7d2IhfgPHDKQ/FHiOxYaqW565stn+VM6rx+G2KmL5EB+5akZ6rk7z1aYCY86NueDFpGtasfCWW5y52vKdW+okdE4bYyuSHxXbVbYetScfYus9dcuvZHhep+q+tbseULsoWxIyjESoAaMCceQyW/rHK99X4YbXqbrNmJI3M5WokC5Bw9B4DIFz2EHFS8w59nTv7H1v1EA3NU5xOADQYn5vMPh+LFcby9E9j6B6f9XDeWIyuCQLPEMXrQ40x5lc7cd5NmvV2b4uxjMGkg9cXKJ8NkQCzHDLg6qC7NonmqRmuExeR4eI5BZacvfbjQYgFwXfmFLVkeA9R29d+V3zPM0SLxBYOaHvP7Mrz0nXLyk/Tu+3N/XcmIhnlNjqqKRjiwai3/ALJHL/RtO36K2wed+4ZTGIBoBiw/epfdVn60OHSvStmXlmYM3rpOqR4vpBwUnfS308R1Nnt/TEbg17IytgMLsrMyHyxB9qb2v14/o7FjY+htxI27lvbxMqGJGg05FlPvfzq/6+b/AA6tv0T6PvCH5MafB4pEg8cTRX/ZUvqk/DYfR3RDZ8oOWDReWEcg5dxyTTHJ3fore22n067qMPggcBHhEjHsKbPyfX+GXp3Ueo9Pvjb7gStiEpAAB65hsTHMgVGSx1G+enpbl2N2zG5H4ZAGJBE4nNxIYjmuVeiObvrAIMmzdxzWdXNfIfqD0aViZv2qxc1wbNl7/V1sfL/Z4yvCHw34n5Z0PI4Ee1dvw8X5Q8zyjZnIPpMhdhmxLEd4VwTv29N+MfiDeXJ84/FE/wCyUi35ajM393C9DxbgDzIHO7bA/wB+A9sexIUQt+IXdv4rUhrgB8QGY7uSzSOqZw3WwlpGm/IxBnlqGRH8yjdU7e6ROxLTpkWEgcQHYDuqFaRp285QujS+cW/mBos2NR9D+n3WNv03rvSup35GNjbbqI3xNYmxdj5epv5JGvJc/h0s19w2Fi7teoXbAmDAwlGMRUeCeqIHZGdF7vnzHi+HREq6siz9/wDFaZTQJAkCQCBMgECIQJAIBAFAkCQCBFAkDQJAOgSAKBIAoEgSAQCAQCAQCAQCAQCAQTWkCBsgSAQN0CQMoEgYQNQCAUDKBKgBqgkoCqBoBABA0AgEDQAQSQCACKaAQNA0DCBwY3RmAK96DyXUtxZHSer7y7bleG8uz28YsXIhpi1MB8TnJS3GufL4Fv7929u5XRLXO9K5cJJejNjyXir2xyYXJCG5m41XI3fL5yGmER3VPcqw7l+u3ubSAJlYEbYODm2Ik/akOnM67de5t5fKxNODmisK59uUJbPcxkC+mBgX4kv9irKA3lv9L5U/7ly3aiAMTqi4l7sVplV1LxmcR8N43BLhqFJNzcewpqVHqXi25lAk3ICMZSOLG0P3LdZYdlPzLNqIAE7ciAeEQadwXPt09fy/Q/paB2fQNpvai+dMRaxN6NwFogD5iaA4CTOvJfl9LnxGb1B66u3DGG1JtSuSPlOQPLn+GUreuXmD5oA9q1OGe+8eau9W6ruBdt2jLxA27twOJSb5AR/bHKJfORXSSRx6tvwX+k+ob5a3ETuSiA4aJ8JYRqTEBuC3O5HO+vqqh6H9Ubiczeh5Vs4y1gg9wjEMnXtXn0W/K8/TryyLkt4DcJcAE6Y0qItg/YuV9rtP12vb+hdiYmFy44DEiTyNfwzLSCx/tb/0Ru2/ojaWJ6rF2Qd4+WfE4liQT96X2a1z6pPhs23QP0W88yAEBIgtbJEZFmrAeGJHFYvWunPGPW9JvSFqIuZDt9iQ6jv2JmQBJbj7FpzsTng+aqMu4uGFowkMBWRz/wAFK3I851C6QeDGnALnXWPN7oCVwmVZcDzQYd3vLO1sG5cOmMayMsBw/grOdZ67kYtj6f6n13XuN9KVjZQw2pJgcQ3nEV8eAC9HPEjyd+y9N/UeselegzOz6fZ87dxgZyt7cR8AMWlqn+Hnxo66/PxHO2T5cCP1T61bnq2fTrULJjGMw4cyA+JzgTwWNZ+0rNP6nb+d4HqPS7VzaGt0SgLmoPWpDt2Zqz7J9+W/pnqboW+EZdOuXOkbzUdNm1M3LRGI1wuGWWQXHuefMer1d+PFd23603vT7oHVbcRt50hvLReyafNnDvouV5v4eidy/Ph6vZ9dtX7A8mXxAaZDxUUnReMW7zY7Pd2wJDUS3w4k/vVZjEOm/oLOm24tykZTtEvGv4fwnjxXPp14KYhISi2AcBYdHjvW3Sv1PTrsIxB0xJD/AHL0ejrK8v7fG8vh27tyhcvWp0nbIPcAxK+g+PVO5LGoaVH7eKkSraz2huCs7YjCX9JcA+x4oqNu7KGicZGMrdbc4/FGQNJBKNhGpp24iAvSkYCNIxvRrKMeAIqBwUqujsd0NQjckdN4PI5xekSf6Ss1uC75plKE6yjIiMsjqDj2SigkJ6bkvxAgx4McVGnsfRcJ3eqWdtCIncv27oswJAErluJuCBejS0kHtWJPLe+H3X0puBdv39u8tO3lZjtdZ8Z216y9onmBHT3L083y8vb0IpInIg6xwPFdnNOLtzFEAQgSBIBAFAkAgigEDQIoEgCgSAQJAkAgECQCBIBAIEgSAQNAkAgEAgEAgEAEE1pAgboEgEAgYCAKBIGygagEAgEArAMgagbIGgM0DQCKEAiGgEDRTZAIGgEAEDQSCBRmBK4XaMdOuWLDkg8T12/Cz6B2+7k7yFy9EkufHK8Q3Jis9XxW+J5j4Fu5G3Gc5x06IANgAHA95Xiev8IdOtauodP2Qanl+fqwE5A3pv2Ri3etJPl0YyJ867NtUpmUj8xlKQo/IFVHI624sxJ+SIDjFy5+9WJWCzOQtzD/ABxkP/4zE/bJGWYWvMht9z8JAjExFaRo3sKqSDexjruWrstInEESyhcbTqPKVHSCy7c1xui+DbJt2hKXzRkBprx8Wa3ayxdMsTO7NqM4sJmGly7+EihDuGWOvhvieX2Xe9Q3V3bWOmbWHjhYG3mRJgIMDIOAW1SYzIrRqLhJj2fa2+HW6P6C3m8lZvb43CG8fw2gHPiiMZZdib/C5Py9rs+gdH2dnxWgIw+CJJ0RbBuxZ1ry53WfU/S+mWIw1RhGfhthiTKQOEYipPJlm9b8On08eXH/AFvqnq4I2lj9Ht3AF3dv5kuYsRy4aiHVnFvyze+Z8RH/AOND/wDL6pu9zfkNUzZMLcOyMYCntVnPKXrpmuenLVoGdje73byFXuT8yPeCD7FrOf4Pt1/LOOq9W6aQd0ButoPCNzaidcaP4rdcs4lY69c/DfPt/l1Nt1bbbi2LtufmWzgY4M32rljtLvw6ux3cLemQpCWePOqrPy9V06ZuxeFO2teJWoz1HXG1iYxOhycTk6056w9Q2sTE0/cpW+XjuuHSNGBahP71zdXmd1eFqxK5cnpGZiKg8gtTlz66c3pW2PVt3517wbbbaZwjKoMhJySBXw8F1nhxvlt3m933VOox6H0Y/mTnI3b4JaALPORzYAN3Kzerh1ZxztdL1r6S6f6f9LdO6VsoGUd9u4DqW7mfzL8oRNwRnLGMJSFACwX0/wDH03HxrbfZNfNvrJ1npW63PTtt0jZS2VjbQuwu3zbjakRdMTbs+D4haqRM1L4rXXs49knjzHOTvi3z8r9n1C31npO2ty2UrEts8JGgtiGkA+WD4vFKLl8B2rl7vdOsmfDp6+LPNvyv2vpLZdQ9L7Xc3YS2u7jC4be7tgNOEZHT5kfm5HFlxtn5nh6eOLmz5efh1zqXTJy2u8P6jbgsa0MeVCvP16v4evj3+M6eg9N9Zhs7tuW1uyPTLxazbkDI2Lmdsn8ByXHr175d/X7c8W+H0np/U7soxuflGNPFGQC5PR8t0uoQ3DwfVJm1DALHVajNME3jGBYEYHiFluOd1jZm5YlF6mko5ELXNyp3zsfCvVXTha6hNvDKJOr+aL/cvp8XY+F7Ocrzd6MjYIbxweL9hcLo5alt7sQbcTL8q6JW7o4aqj/ZKyojCUSAfxNLuUqyLenmZuGwSdNyso/zQrE9+HelI3bbcC9KN6QiJTJ1AijyGB7YrLcdO7EGwZyOo2xE3OJjGVJeyiLWcsJxIwkdOs8nLKK73Qtxctbzb3oTlCdqeuMxiMi3csdN8vvewnLbdS2PWLcwdlMbfY37YHwWr73dtPmNcpDvXonmb+Y4WZcezLDcAj4ZA/vC7OCMfDcMcj8KonJBGSCLoDUgHQDIBBFAIBAFAkAUCQIoBAkAgECQCBIE6AdAIAhAkDQJAIBAIBAIBAILGWkCgSAVAgaBqUIlAlQwgayBAIHigEAVQwoBA0DQCKEQIBFNEMBAIoQNA0AyBoHkgYwQZt8JDbXowIi9skyOAAiXPtVhXhPqBdO19GdOsW4SMo7RxCLCEWhGMtT5fm0XLv8AxdOPl8Q3srt8WISOtpQtAGjx1GQHtJK8keqq+kXjPqO73pJbRKQIZx55MImtH0st1iNMJAbG5qcXZSMjL/y4nTCnc6Ujm9ZuC5t5GNBLRMDFmAJr2JF6cyxeaWzehufqInP+4A3+6qwDMQ2hPyW5+Ecgx+xCqOpEG9uImpNoxEuJj++JVRdcAnYiJ1kLAjHmxDD9y0mI9GA8++bsj+UYkNTW8SBGfINlXJZ6a5foP0n0SzC1Z3u4ifMNuPllgzNwGT4Ly3p9GcvWT38LVo6aBy4wrxU+y/XXjPUPqneXN3DpvT4yv9Q3JIt2olhEDGUiMIjMrM810ucq9vZ6P0G3c6l1K/Hd9Q0Nc3t14gPjbsRwtwypU5rpPHw49bfNeN9UfVfqkwIdN/6LZuZQuSFZPSOk5NgF2nrtjy9e+S+HH9TH1H0uxY3nU+pTlC7fuWrkNrOT2dxC1G7K3IEBybcwXi4oQvV7P0rzzOvl5J+9OurHYHSvUPTul7Tqtnq857O/5Ny8H8yNsbiInFiaTaJ8TYFZ9n6snE61v1/uW9Y7+8u9Y6feFrq9gCxMnyt7ZB8qcC5xahILsvJ7PT1z5nmPoer289eL4rBcsaRc3XT/ABEnXdi7CccNUWxmB7Vx+2/Lt9LPh2/T/UZbuItyrCXw3s3wYx4qNa+kempznajqDHPhQsqlerhB4uWIyZacmLd23gWDti6zW48J6itF5Sz1MeQWI634eX3fTBuYx1RlKMsA7AkUiJZAP7l15rj1GC+1mMOlbK55Nln3G/uDRC9dkTqFkSBLggjV8MR2pV5x0vSm/wCjdBum8LN6QlARuXBbnJ8NZ1yAPiPi9y3x1jHu4+0x7DrHVvS/qfpV3pt67uLMy0rUxt7nmW7oGqEoDjE4r2+v9jn4u5fl87v9Xr5j57u+j3zAC5HbbwxOmcxIWhojjJrgBi649fTfFP8AV3+Yjc6Ewn0zcXo7aROm7t9s1y6BLCHmUjDXhqwWftJ/Vvn9bq/Ndi9s727sQsbaydvs7MYw20GNv8uMdJbU7TgRpkDnxC59dvZxxJHI/wDg9rcTNvT5xk5huJAiYcZkMCsfdq+uX5Sj6It7L8uzc03pRYnSJRkM9UQn3J6pPh0tn0rc2IAXNtIAD49vKN0NyjMavtWLHTmuhZ2uyk3/AFl+MzjA6YHsMWXKu0abe2jCQAuGYFQZCq510ijqUwIzHEU7Ua/D47632xjvDMDF3B5r6Hpvh8f9nnOnhd2NJ1YCTPHhIBiF3jx1ias4AVYTh2wq3eFpF4vSjAXI1dic3IOmSxjWpWJadxKcCSYgybMEAn7kGixdAvS+WMjUDBncHudRuO5spGRNuTa4g6DiJROMD9oKzWyv2fJEIVlAzMgTkSHAPOjJGW3aXzaumBqABIyGIBBPhWa3zfL9C+nNsJ2uq9PM3kdrs5MQA1zyvMtTgBTS8129U+J/Rw9j1m2v+aBIkNKMJ2ZDAuHlHtBXaOVX3QfDIftmtIZLh8jgghI1QRQCACBugHQCBIBABAkCOKAdAigSAQCAQJAFAkCKBIBAIBAIBAIBAIBAIBA0EwVUBZAkDZA0COKBIGyAYoAIGoBABkDQCAQNFNECAdFNECKKoGEAyB1QCAQMIGgEAEDQSQUdQD7S+SHAtyjP+iUS6o+d/VazCPT7E3EdvHaWtsW/8zTKLf1aGC5ez/F19Xy+K76l+3AFxatkEjDXdIgCf6QSvLHp6T6TZtysbi7eGixcuf8AUSA8UbVsGchEZyaMAFphGF+5ehOV0vOcKRiKDTFhH3MpVjl765+TZ10AGifYYurCuPdl5U9vryMAewyJVc6vjIQ2k4vqESCBx0hvsRrFe5k+4uOfDOAD/wCUMVUq8DzrMbZDSNmFtuBYn2qxEdjbuXr87Q+LcSBLUrGcT/4g6z03xH6c6dYlZ2O3tkgmEIxpkwC8j6Tl+o+qx222mdQBAOlse1T5a+I8Z0TqW26X0m917elt31KT2Yk1FgEi3EAF/F8S3n4jl9vzWLoOw3PrPrcbnUrso9Ksy/sxp5hFRbByB+ai9Hr5keP293rz+Ho/XPpu1td5s98LMbPSLlk7G/pgBbtyEtUPCQwEsH4r3dT7cf2eDrx08T6v9P8AXur7vbxPUJXtvs4GO2t3y8bUQRqIEWGosHOJ4rlP2LmXyf6fOz8uz0Po16HTLHSI3juLm5mLVm0ZE27YuVncDnTGMYuS64TbfPw7yPqHqHqnp3b9N/06d2O6hGIgbcB5sfDHTUjBO+5Ph6ePV1brw9rp/T7N27/o969cmSDtrYs3TEyIEiJxkzR8Wgl3cPgvL3Jvh7+Lc8/L2XTOiQtkXjtpbG1fPnG2KwEwA+kGsdXB1JGeunqOhGMbkYxFFKfh6mDi2OBVYVXrYMCQyLHjvUuyjcsXowDXCCQSM4hc/wAu34eX2cjCOiQpn2YrpHOupbu7WIEBtrZEgYiTUeVHPYusjhatha8u5CW380WoyMvi1gmWAt6hq0gDxOGVNZhtr8gIRviJtGh0+F3BIEvDOhzRpkj6bs25wAtbe5C2zWpAxjqAA1HVq1SpiVjqtRZPp85XNcrUATA2ZmMogmJ8QqwLCQWNbw7l3Y7e3Ke40yHxeKRNTiXPNZvTc4rCeu39xe8vp9qV6RoI2g0R/XcNAs7a1kjo9M9Pbyd4bvebrTM1jZtReAD1EpGsuauJr0UdtGEA4DkfE5b2qWkjBvLFudJRiRQBwCPbkud6dZy4m7t3duRpk4BcDJlluMV3XcxLHmjT5/692LWZS0+L5e7969fo6fO/b4fMt6NUSMQ5BPskF65Xzeo50iRISwIOPA5LbFWwtk2zKAeDmgycMQsVYLeuN0FjEkMO8Moq6BlcuCUR4gXIbFkajo7S5qjE4SBEe56LNbdfdvPby3EWLEB8XINKclItXbWBj1K0Rb162j5ecqswQfevQm+tzHSrkpDzdx0wbK5dwJvba/ptGfEm3RdfX18OXs58163o5h+k3ezlT9LfAANCI3QLsPYZFdp8uLfpkYyg9Rg/2haRGEibdcQWogRQCBIBAwgaBIEgEAgTIEUAgECQCBIAoEgSBVQBQDIEgEDQJAIBA0CzQCAQCALoJrSGoBNA6gaBHFUACBqAQCAQCBsgEAgbIAIBFNAIGiBAwihAwUAgEAgHQMIGgEDCAI1AjI4oKtwbg292MmGu3KAlVnIpRWD5Z9Td/K5CUIQ1idraW5XxSMTAzkwBzK4e6/h6PTHyDfzIuROMrl0CJ/8ATiSSvPHXpt1/pui7e1UjcyPnc4zMpfZVaZYx+UBafGJiDnTxP7lmtRzerN5ROGgxBHPSysTpwbpJsxk3ixd8gD963HK/DVt7h/SyLuY+8EPH3KNxDcUGrIwD9yFjbZctMUeMSa5sqmJdAtiW/wBtnbuX/wAwHIuxA5HJc+74dvVPL9FHqAjZj5cdJMQWyw5LzPoY8n6jt7rqsfJJNrbSP50m0eB6s9VriY5938MPUfQvVOp7uFzc6ttsrduNnaW4xfy4RYCUwGFRkOC689yOHXqvXy7HR/QUrIjOxOQADQkSdMeBIGKzu11z6zw9Pb6Nv5bGW23E7l2zO1cnuLU5RlblaceUAMCZu3AFb5ueZWO5L+GDc+ntsIG0Om7T9HGM5QtSlK5JoHy7QMokVkRKXYtX2X+WJ6eb+FMOkXYxsiNq3aMQDK2IAWwY11ADN+5cba788yN202ducyZRjqBYT8MA+L6m45JFtSj1S3sSY7Pbi5MSAlNi5kSBKMx8uNJBC/1dLp293O5lcEzKZ/4hJcRlJvDSlI8FqRzvy9B0ywbRgC7PTuXOusj0dqR0AHhijKN1qgYIRwur2zKBAOPLgsdR14ee3OwgZa4gPgynPS3lZY2QlATwkAQQOK7Tpw64S/QaYjFno+GFKresZiNzZ7yUGiQZDwgTjqZ6Ud6l0NYb/TOo6R4ALhJrbnONQOAMli8uk7Yz0Dq24LC6YjLVO5gMcgs/Rr/Y0bX0NG5d8zd39dXIERI0/muGf2J9ZD72vR9P6FstlSzad/mJ1S/gs2rHTjtYRjpLcCOKy3IzXvAGGBppWbW5HI3IEZSiKE4AjNc66xzL4jcjIZcMwyy05twDDN8FoeW9abPzOnykDqIBxXb03y837HPh8duwjMyBxlqiW/HGJLr3SvkWONPxWXOIYyHEYOujjfhGzOdsuCxz5pYkrVLdyqSa8Ss46fZdC8PKIJrcqGL4YsourdnuIwsiUYkh2LmpbgpYsrv7U6o0PhugTAlUaojDvWW2iMrtk2d5ZlpuWZsCfiGoEU7HQr679Lt3fnAWSYmRHmba8T4xPWJTgxxGov3q+u+U9s8Ppe0kP9QvmQb9RbhGQ/mtlw/dLFep5XQlbBJMSRIGnsqFUVRixJDsciqGyBZIBAkDCCTIEQgigaBIBAigSBIBAFAIEgMkCQDIEgECZAkAgAgEAgaAUVFVDCAQCCauoEDUAgEDQCARQgEQIBA0UIgRTQNEJFNA0AgEDCAQCBhAIBAIB0DdA0A6BhBKUTKOgfFJm7i6D4n9Tb12PU4mTC2ACQ4IJGsiQj2Zrh7/AJen0/D5xsbUNx1I3LoJs2NvcGlne9ei8PcuEbvlp6mLcYRtEjzbcwJQc/CLelhlQj3qjBcjON6yZYPWT/tkVMVy+qyIty4UfvV5Tpxr8DDbm3QmIEacxq+9bcvws2kSdsGLCemPfUfcla5Pcv5Jl/lHtdRa3WIuGAeQYRbH4AT9qmq1ektn+r6nasienXdEfMGILkuOxcvZcj0enna/QPTeixt2bVrcXbl6WgO50hwM9LLhr2Y6A6JtfO129uJTgHET4YAtixo/BNT6md5DYzNvcTgLtdQLiIdqaiqmNVvd9PuNK2ARkIEnD+mi1qfWo7i9ZlGRFvVqiItIybT9ifY+rOd7C2Ga3aiMCSzZfLVTV+rLd6jtpTj5T7q6/htmPhfCkY58yrKmKbey6j1Bpbg+VtSK23BlLlqFFqcs/aT4dXa9L1WfKjAW7erwxqaDEd638MfLq7PYWrERCEREPgBhyWL01zy6EQIyAHysw5rDo61qY8sNV1WEbhLVof3osc7fgaAPb3ZrNb5ccsTpb4nxH3LDo0WLUQwo/vVlZ6jVb28DEUDyGC6a52JjZQYiIZseHZVXWcP/AEy0T8IfAVyPan2Pqtt9NgDSIajKWri63soNUAE5cFmtRb5YBjRtODZqCi+MW7lK6Rz78qNUEu3astxx90dRIA/hkuddY5e4iS5bxYdxWWmC5AiUnNBULRXH9SbU3unXYjEgnvIXT1/Lh7p4fENyBHcCRFJyL5eIPEn2r3x8jpxJwMHIZ4lyOMZOCF1leexRKDOY/DQx5ciqysB1wHL4ln4aiVkg2zWoOqPZmlWNFh/KuRGAIMftWasd3ps43ITskvEF4y4EVosuuutZ8q90nc3Gl58NPkyGRjLxiQ5xNFIfh9N+mNyU7/Rd3AQl5e4/SxOBBuWpStg5eKcCC/JXiHdfWTGJO3vAaZvbNx6ECTgxPYvV+HldBiHL4nBVlCSoiUEXQCAQMKBuqEgigEAgECQDIEgTIBAIEgEAUCQBQJAIIoGEAgToBA1FJAAKoEA6imgsVZCARSZENAOgEUIEgaAQCBoFggYQNAIGgEDQCAZAIgQNkU0CdAwUCQMBA0QVRQgkEELdy6bsowJ1RlGOoB9MSH1c0Hwv6j353OrbvbwMfINwRtXJMJxEASeYEnquHvvl6PVPDzfSdr5WwlurhInPcylpIpGPk+F3q8xBo+1cHWRy9xruTMps8ySJHJqBu8qFjBurkozEQQQKdwzV1HN6kddKl6SPbEBWHTlbpi5BpK5MuOAp9y3HO/C6xcAgzsLcomIHCI/fVFhXjq2xaoMweSi1vtEwtGcaXNLR7gAfsWWo9B9OtjO917bxsinmym5qBGIDrj7b4ev9eP0RthB60YPKXAcFweuOnbtmcRI/Dlw5Ks1b+mt6awBOIBDh1rWbHM3XpjpW4OudiMLhLg2/yy/HwsrqYyS9MbcTBjG7MZRNyRjwzKuRn7UWvT1i1IyjZkZYVqIvzNFqSJeq1Wen3NuHtQjFxUNXvOfctM3y2WdhAye4NdzAXDqAbGgejqauN8bUYxdn7VLVkAgA8hisNxDUNY/bBFdOwfBTNVipXTicWwQjm7yZYuO5Zbjm4S+/isui23MxYktVsc1Eb7RBAo/7luVitduIlFmeuJ5LTNWxiHrWneiLBGtVDQWbiEVCVAAMi6KyXscHHzHNZsbjDei9cC70WbG4516yx4/vWLG5XL3BDkMXGfYsV0jn34kCuOIJVLXN6pbM9rczePvBqtcfLn38PhnVrBt73dWSG8vcSY8BIL6EfG6cKIMxOBH5hjIAcTGv/wBK6xwsUCInFwdLihyfmtMkBplpI0TwkPlPMFSqVsaWcYuAexSo17YiWqUS+ilyOGP3KVp0OmSqeMqGtAWdZrfNd7o03le296QtwuRmJSbCcQ8cONFluPof0z21+9t57O0wvXIW4mMZVhds3peVK21dQ8MgnHydf4vro3Yvfp74MTZ6gBKwY4ebEvKFf5tQ7V6pfDzX5dphoEhVw7qs1XLFVESqIsgCgEDCBoEgRQJAIBAIEgRQCBFAkAgECQCBIAopMiEgYQCARSUDQCqEgaAUUnQWqoEAgEQiihEFUAihA0AgEAgaAQMIBAIhopoBAIBAwyBoBAkQIp0QCAQMIGgMaIMG+3nkSuPqhc0G3aujCUSPFXKQQfn/ANUnb3es3ztoyube5MiGr45Rz1E4sIyLrz+2+Xp9c8KtyIW4CyBKLWgYyliTIAGR/wDp5Lz2vRHDvSgbwJDQtsSMX0jPmTitMVyt7etAkx+OQ8Ueb196MuZuZ/nXqvGMaDgWWpErDcAOiMeDHkFqMVZbDG6G+GJ1dsgiw21Q28MDI0/buUVvgQbFlqflyqsV15e9+kdgDqsrmkeGJI/zlcPb8vZ+vPD7ht5xBjEipz4rlXeOvZBzLnLgqzWyNoSApUZrTOmdsJPRzgiInZh+WaBfo4tUEjjzVRLyYBq4Bj+xVMHlcvempiEwKHDgpViqRfkTgiwoQJaTP+9FdGxQB1WFlz4eaEcvdfGSaVdRqObckxd+wrNbjJc6hGxMSkREPWSjTo7TqFoxiQ2lnBNa9mfFWMWOva3NukRjzZye6i2xWmN2LM9eARlI3BhiWcjlxRYjrGD4ZoqEpg4ewqKonp1UxxkoMt0Akn2FZrpHO3EgRJvYsV0jkbyJ1VGCw6Rg3FYdiFczeCXkEHEvUYLXPy59vi3qu2Yb/qFzON2Le1e+PkdzzXmLsTG7G8MRIO2R/dJbjlYrAjC+TEeGRIlA4UyW9YxovbICIlEGVtvBHMA8D9y0yyCMrMxHEGkhxSwjRA24XiGMfMzbJvuWFbtgGuyiPCT8MnfJSt8uvsQ24EHB80BxzwWa6R7f6Z3oHqm31zFuUbkttZmSYgz/ALtsSkMGlBgVhr8Ps0dtc/V77p+sxsG//q3TDIUE70vzrTYjTPxD+pez/wC7x54z+Hesm75UZmWqJD6WYitfeqlSJeqqEqEgRQJBKKBoEgRQJAIBAIEUCQCBFAkAgKoEgZQIqKSAKoSAUQIBFJ6oGgEAgECdAILFUCBoBAkDRBggEUkDQCACBoBA8kAiBFNENAIoQCBhAIBAnQPFAMiAYopoGgaAQHJBz+tbIb3pe7sGUoNAzgQwBmB4QScNRoVealfEfUGyG23u3teTb29+UTanZjXyo6vEZc5u/HT2ry+2Zcev13fLhdUmZmcxdlcjKUo25zYSMLTRGoDAmi4u0+HDu3PKg7vckfDEZHF3VSuNcuxnfldB8JLRetBn3lVhhvEGEjk7zPaaBajNqi2CJSnjpZlWIlFxCRkWlckST2BGpFkKXbJlQQgZnkstT5a7cWhCHC1nzi5Wa6R9O+k0f+ruSDeIA937Bef2fL2+j/Gvsdi24EsxgueO0dPbkgVxyWpGa6VssKhaYXCQIVQODk7VQQkcnZ8WQVyJzxQLVAvp73xQUX7zE6RU1fgygxxv670QM8eSK32Yu+nKgCDWImIGfFWIkTqZsOKJjBvgRHDmFGo4d5xMPmWWXSMW86ebxlEUkRRRXlv1XVOi76Ni9EzszcwOAJzHaOCYSvU9J9R27gETLScNLMzlWVLy9Btt6JRI1kjN6AcAGW9c7GwbgGj6tQYCntREpbi2IajIAFhEk1fggibzkkUGRUVC5ceLPgcUWMty60SeBZZrcjHeMSS4XOtxzdxiePFYbjn7uJ0GrtUIrmbgkhuX2rUc+nyD1XbE+ob63/zJue7Be2V8687rx18GBB4jTLsXTmuHcxC5pEpC5E+JiJDPuWo5Vr2VzVZMInzNLyiB8YGYbNblZsSvbexeiZFpEeLUHDc6LVSRRet6IgzgdLERkC4ftWaq7ZSaM5AtQScjgWWK3zXZiAb9u9Bozh4p28dQHzRWXSV6v0Xbt3h1mwSPO2Yhv9qACTMwkRKA4mUZOOxZnytvh9x6xfv7Lc9O6juLemliO4jgLZuNbMxWsJiYfhJemf4x57813rETa3W7sEgNcNyMQ9IzGNea3rmsVQlQigRQJBIYKaGgTMqEUCQCAQBQJAFBFAIEgEAgCgSBKKEAUCVAoBRAqpMgaBIDNAHBAs0DSiwqoEAiBAIBFNAIBAIBAOgaAQMBAIGyAZAkEkAgEDQCAQLNA0AgEQAIqQQDoGgA+LIMnUjt/L/R3C5mBfvB/wDh2iJMeUiEWPinrHfWd/6k3F6U5TjEeYZAAETnPxSMafDH4R2Lze2y16fXMjxm83XnS1y+DN8dEaRiea4u34cHfbogy00MTTOpGCsYtc8+IkR+GEWbnmtYzWa4CIiINZEPzOACrNKOlyBUE1PYhhXGlKEI0oXPair7cQdzIEOBHSRxACzWp8tbjznGBiPsWXWPo/0pu6OoW4H54/Y64ez5ev0fD7ZtGFtzVYjq6NkRIwWma2QPhZ6nDgFWEwZ4CvNUSEmBfsJQQMo0NexBVO5AE5u7/sylFF3dxjE5tmPCKniUVy99vyYiMJOajVUkntLKkb+l7Hy7NuV0HzpR1McRqr7VE10rcBCrImryXhxqtJqE56RHDmcEwY95cj5TmVc+xStRxL9y2CNTEuHB5VBXN0ii5vR5uoEHJkacf1hesXukXxKIN63onaOesTAFeYKsSzw4202G5jbE7RJIIl/gmH2drYdRu2x5cyTpoADUZOEL5d3bb6M2MZUIoDlSuKus2NUtF0xMqiLGLKo0eYWcOTkCgoneMc2fLmstRRd3DuHZsFmtM0r41EDEVdYrTHem7h8VK1GWYOkg1CiuXu46Y1wbxc1rlz6fJvU1qct3evAfESfevXrw48d1CAEgcj8Q5LpHHuKbcPNsijyhQEYtiO3sXXlw6SjZcC9aJheBaYjkRhOP3haYaI3rD253R5QkNJnHCMzi44SxVTF3laoSjcAOYMcJAjhxRVAsEWT82mGgjNpYYLFix0BeMbO3vWz4omMn7CzLFdI9z9P7mytep9nc3IP6PqMpbLWC0YefalGcZNWhII7Fnc8tfPh9rjtrnUvRlnaSP/U7WBsRuA65fkSMSXNSD4SvVxnmPP3/AC29A3tzd7GxK9+Vu7Ylt70ZHVITtHSYk4nA6SrJZ4rPXl1iGWoyiyoRCAQJAwgaAIQJTQlQkAgSAQCgSoRxQCAUAgCqIqBIoQJkQFFJQNAIBUCBKBMqHkgAgSguWkJA0CQCBoBAIBAIBAIGEDKAQCBoGgSBoBAIGEAgQogdEAgCgAgaAQMBAw2aCbuGj4TlxRXmvU161asbrY7YE7jyJXN9fLiULeAjrGE7twxiB+F0tWfL4v6tkf1l4W4i0bFqFonU50RHik9KznP2Lx9x6eXkN7e8uMo4GWJyAisxuuMddwxABMtRlU4j5pdwVZqq/IRoPiJclaZrPKEWEvlHw5UHxS+4IhW4vJyWDGUh2osO1D85hQAOT2/uUVbt4yn4o1lckXJUqxoP964Hwy7Asur3H063nk7/AGF0YGegjiCWXH2R6PTX3vaHwgZrm7ujZcFaRrhPwt71WVnmYsMOVVWcQlM1dmGfNFV3brBya5B0Vh3O74EgCrvlmouORut74yx0kUoxl2PXHkpqyKdpqv7y0JnVbMo+YC58L4cnVidPVXN3ES1n2KsKh1O3qbUDLBlYYth1KGk1BbPtwV1Mc/d9UESdUi74cFLWpy831P1QLctAJeOIXO1055cm76hLSu3pRs2BWU7khGLDiZELLpjF/wDMulXC9m+bkY1MrUZSi39TAJlTYt2W5vdbnau+WbexhLWYS+K4Q7FuAK3Ix1deo2tiEH0Bg1ZZcHHYtOa3cbK3ciTpDjMfcliy4ptCdsgGoOYz7Qst66Fi8dPL2exEaJXCKEvwTVZr16pi+Hy4LNWRkubihGD4Os1uMlzd4h+1YqoG+DDm9O9QQlMmlKo0wdQBFon2rfDl2+e9U2kbtnmTL3lejXnx4Lqm20W5ybE0HILpzXDueHD2+5lauxkGMJkxOrDEaTyXojxWuhK9HzBOEfCHEo4e3gQraiycITeNNUxgfmUErInFoyBiRQg5gZqwX7k6CJSjGVuguAHGJPhII5qUjV+nixETrhqYk0I1+IOO1c66xs9MdQG2uQluo+btrV+G4uwBYmNsnWIyxjI2372Usaj9Ceh96bt3c2rcpXY7+Utztjcl4peXI2b8BwpGEq8XXTiuXbtwFja9R2+7YR23UH1Tkai6Wpwq3uXe/wAuU/h2Zg50OfarGUFQKBFQRIVDCoagEAygSoDggSoRwUCVAVAkCzVAUAgFFIlAkoECQBdQJAIBAqoBAIBAIAqhKAQXLSBAIEUAgaAQCAQCAQCBoGEAgEDdAIGgEAgEDCAQIoAIGgEDQCBoAoGKF0ELk7xBjaiBL/myyHIIPM9a2N0bKOztQl+o6helOZJcyhAnQZzOGqTn3KfhuPiPqrdDdbzcbm4JCc9x5FsYjTbh4yXrqdmC8vXy9E+HlN5+deMRS0BqJJZojisqxDVqlchDRGY0+YQaQFcDxVkRmuxE7uh2Mxqn/LEZDtVSobsgHTENGTEDgBgERXZI0SkcZEDuf+CjUMTMozMfjuFvaVB0NvbjbIA/4cG5PiSPYpWohtDG5KZkH1V9pWa6c+XrfSTWeoWYu4EoXINShIdlz68x39Xiv0Ls6jm9Fyj0OhbLYrSVdbJHYqzU/Nk1QSiKp3tIJrTA8SqrDe3BMXNAMvuUXHK3O6eQBBLlmrXlxUakUbLa3N3ca2KAkSuEZnFo4HkkiW49DtekWoQD1zMjiTxJW3Oub169uNlbnct2537YqYW2MveQmErwG69U+ppX4ysdIkLIf+5e03SBm0RKIWfrW9dXp3qC5vLejVd2e6Da9vuGYn+ScfCR7Ew1Zvd5upvAmTgtm7Hks43HJ3UblqwLkIRnuJy8Jl8MeMjxbgkK48fSdvqO7G56ldluZgtASPgjV6RwHKi1K53nz5els+m9ubYsCAhadiwqYjlki67djZW7MYxhHTFtIAwZCtrSFqgOo0On7A/BVBK5oidRJODnAt+9BXO/AgSOfxFsuCixbG9FgQYkjhwWWsB3YbS7EPQGqVqRnubkyAMi3EP96yrFeuEg49hWarEZTnVzxqsqtjGdKqC8Fy3vRWbqrDazIxAXTj5cvZfD5FuPU+wjPd7e5ejCcJSDSLHudd7x1vw809vOfLxvqLrtjdD9Psy/hGq5gKfKF6PV67814/f7pfEcq0Y3Lcot4gRNjypJda888tdm7MiQLm7AAxGU4Zg8xkmDfZMbtkxidTDXbl81KmJWWmyI8/bCQL3bQ1Mc4nn7klX5S0wnpBDgiURHIxkHb7wqyexuyt2DrIkbZFuR/FHGBPdRY6jpzV0bYtbrzbdbF6Mo3If1histvtH0769Kx0nb72EIz/RXrX6gRpKAsQjY3muWYlYlZ3H+WS36/hn2/L6Xf29jd9PGzEhOF7XGxcNIiTE25DvzXfm68/Q6Fv577pdq9c1C/EytXxMNIXLZMZCQyNFZ48F8+W3NWskoEUCKBOtBg0UA6BuoEUCdALQSgECZNCQBRSQCVAUEUUFKEoBUJQCBZoGgRQDoDJAgUDdAnQCAQXLSBAIBAIBAkDQJA0AgEDxQMIBAIDNA3QCAQNABA0AgECzQNABA0AgYQCBoGaBB4T1l1/8ATX+p243TCdiNnbbIuHiZN5s2PysccQufdx15fIfVVoWLHR9tJvNsbe5eumJcTncvS0zlnqMQMcmXDp25+Xk5SMbN6UoeK6WlImggC9OZKgzQ1TnKd+UzC1EmAHiOoUtxIJo8iyuJaruwNmxIzf8AUXC8nqefcENc+9cMo6jwNe1DUYEvGLO0SZcOASkX7QBjdIIjH4RxJoo1G2zLVblMUAjQcsPestRTt56JitT4hxxZlK3y9b0W5GHUNpONA4jIcsVxs8O/Py/Q2xkfLjzY+5c49DoA0c5KoRuVdy4wZaQ/MIHs1DFEV3bkTjQVQYr02GOGGAxRXOuUmXGoEgOahRp1NnIW9NqIAYeJhQZrTm69ubwxJQZd1plExlVwcmSGOadhZMyTANkRmt6yybnpu1kJR0gFnZnplkhK5W622+06IASgzRM4uwxoaEdi52OksYj0nd3p2xdmZxHhEIR0iIx596zlb+0dPa9Lu2gYiGkZk5qyM3p07G3uVEos7VVxlq/TExfSwFXQK5Fou7nEIMO6nN6YGh5vgqjm3tzG0MWGDcA6zW4xneXQNUatTTHFYroY6jOOnzISiSfC+Tqautdq6b4BAJfGmfFQq47Vqmj8/cmGqobYVDZUKmGpRtxIFKKKlG3pjIs/AKDm+oJi30zcSNAIHuoy7er5cPfc5flzqdw3eo7m9Kuu4Ze9fUj4dvlnu29N0xfhIEfzB1UbNsR5r5UEhxBxKxWovLxOmVdJEg2RBxHIpItboUkJW6THitn8T19+BUWOlYmRuY3YxGk1AyIkGlE9iy3F3ljRPyy8R4rcs3ix09oVTEJsRMRA8RNqYwaUfFE98VKsG03TaQ2eofeFiukew9F+pLvSuoEhrm23Z0XrcsBIwlacYfHauTtS5EcFnbLsbs1999Nbobjp0NvK6JRskWI3oB43IGEfKkHzYgdoXp9deTvnKLNu70/rXjrY6oZSnd+X9RbLajwlKLFdOp+WZ/DtEOjKsghXAlAIEVQnqqGgFAKAQCqhAlAlQkAUCQCgFQIIkoEVAIEgEAgECQCBIGgCgSBhAhRBatIaBIBAIBA0CCBoBAIBAwgEDCAQCB1QAQCBoAIDNA0AgEAEAgaAQMIBAyWwQV3r4jBokeYZREASwd8HyQfLzuIb0XusXYyu3L3V42CYRjKMNvanLVpBoZS1QhzwXLq7a6zxj579SrlseqOpeRGNvbi9KELMZCegABgCMWXP2/Lp6/h4yc5S0mrxjptgVqKufaubaXTdvAyvbi4XjZAkIE4SkWjI8WNVqIw7+UpSJJ7ByCMse40xtRch4gUPFABjIwDyJ0xYe1FjRdDQtWYEEyJ1kcRl7VFagBG0YvQUJ7Flpy725nZu27pFAA/MSkD7gtTnYl7y69z0iMbot7iBeIiJAjOjheevZy+/dHum507b3DWUrcZPxeIXOO7oRu5IAXC5zAq+K0iMr4iCS1MCTxQxnubkChpqqMzyAU1cZZ7qJLE9wqmrii5dtm4CRSNeTh8VFxb0ncyuEsXiS5PaXHeVrljp6CydTBi5LuOSrK/RqIjJqckSoSsQMSAKDh+5WM0obSJPEjjlyW2S/SQAMtIp8pDHudDWeW3i2mMdLYkqY1KqNrSTIziIDAmhDKKxT6t0+JMheiwNSK1GVFLW5xVdz1B0/EykYxDgtRjyWNanFZNx6o6VBy5cZSGnlgprU4creesejxHimQwGoAUcZ09qsqXh5Xf/AFA6JO6bO3lLdSBc+TEzZzgr9bWfvzFnRPUdnc7zyhavAM+iYMK96z1LGp3K9/tOny3Qibtny7R+UnENyUnOpesdfbdI28IsY0Y40Peyv1Z+6jebeMPDg5Wa3K5t7whhjwWa2jCI0uc1kOQAj9yDzHrnc/p/T29m9TbIA5k0Xf0T/s8/7Nzl+aNxE+bItTUSeTl19J8VCPig5qY+GIGYJQaLUGuwi7yoS2RBwfMqNNlwsbdyI1HQRcBwORCLWnb/ANmEg5g2GYL1HaFKsdDZORO22qUDQjFhRlmtxptEQ3RBJ0zHiHZmFDBuoGMphwTOBBJ/k8UJDmM0FB1R3AkBp8wi5EcD80VmtyuhtpmN14kmJOo9hoViukfZPpV6ltznLaXrwPnWxDcRESBau2qQm+XnR8VKCQIV9fWVj2c7H06/t7e82l7YXgbV2Evy5RDmE41jOL48RyXsjyfKPR9zdv7QQ3Hh3u2lKxu7f4bkav2SiRIcipP4WthFFplAhUQLqBFUJAKACoagaASBKKKKhIEoFVAIBAlQVUCQJAIEUAgECQNAigSCSCJQMMgKIEguWkJABAIGgSBoBAIBAIBAwgEAEDQCCSAQJAIGgEDQCAKBBA0DQCAQNBKmaDL1K/a22wv3zMQjtbVzczlRxG3CRf7knyr5Xuum7C30roW38yULwha3V6zCRFkhpXpTJOGuYGOC49deHbnl839cx2kN+Z7O1o2xFsAyMjPXpGrXKTEmR8WGbLl3W+Y4sdhuZ7Tc3ouLG2gJXZAgYkR7TipJq2obe8LfRpQAgbl295gLDUwjoEdX4Wq3FIOTutUZklxRgf3LTNY7xdhwNO5EKzcY3DH+4SNPHgVFbtvb8uUZSZovp5uaKNLLn9uUKjTEA8XJdlFcveRB3NuJwnEA8KFb5+HPv5dX0x6nj00Dbbx/ID+VMBzCMsIkZ8lj2+q3zHb0e+c+On6a9Hbu3vvTPT93akJwu2QYyHJwvJj6G+NdUiQrhkijVNm4YcMFRl3Vwh4xk+R7TyUWRzr++kHAJADauNcqKa1Ix/6j4iCREg0AoWOZZTVxkudSjQ6tMy7AY9yGPQdBjGztYDjiunLj29JtpGMXl7VWYsubrb2o+ZduCEcSZZJasmsc+u9LiSY3RMnuf2qTqNf6uma56jMT+RYMnoa54rU6T/T/AChc9Q7sQBlGMWDmJcse5Nq/6Y4+89UbrTEREfMkakigJr3hZvTrz6Y8/vOp7/clrl+ZjKTyALVwwAFFNbnGKI3IwBMZwgBWVy7MUpRgCprWMG963s4iVu1O7vJy0jTbj4RIVFI/F3yTUzGAWur7ycpW9r5dPivSADDhCAZzwUz+V8qdz6Y3u4u6d1cMzGsYQGiIywGPet89SOXXFvy9R0L0bstnajcNnTP5Y0qMMAr9rXOx3tt6d2pvebONSwNB3KVI9VtbYtxGHZlQJErTKbQrV6qs45XUJs+QZiVyrpy5FyRlcFccOxYrothQVQRuzYVDtig+b/V/qHkemjaB8V67GEWyaq9X6k814f3r4j4TduSN25cNHyXuj5jRb/sGAtg3ixlKOMY5xA4nNRZ8Ftx+a4wie8ckI2bkaYaOZPuCLV22kI2ZDKcpwkO0BZqxq2UpQ3kg/wAup+wse9ipWuXSb/qrQFYl4nuqFlvETdbcRuM8T8UTxDhh2qpVERHQIl9MSAJZxGR9lFKRpsza6Yg/EZENkcfYVh15dvpm56htd1t95sDKO6tmE7UoDUXBYiUfmDqWLr9EekOvw670PadRgBGd+cxCMi8RKFLljVj4D8L5L0erq2eXm9nOXw27q5LZ9Ut71vyLlsWOowb8wMfyLz4SEdRgT+Ehdb8OU+XUoXAq2KFQmqiBVEUAoBioExVAim6gHQNAlQigSBKAQJA0CQJAqoBAigEAgSBoIoHRAIEyAQNAkFy0hNV0DQJA0AgEAgEAgEAgGQNA8EAgEEkAgSAQCBoBA0CKAAQNA0AgEDCDPv8Ad7fa7a5evyEbcIykZF2oM0WRw/URsn0bvbcoXNwTt5RmIw0wkDHVISdnjpOCkqyPGepIxn6t2EfNiLELdm3uLFuQHli3atW9FR49ZLEYGq4dfh25ny+b/UGZj1PdRE53YWrxvyMwNUpzbUadgpyWOm43eqtjsun+guk2LE9W53m6nuNUdMhdtRsxhdlKYf4ZiLR5laln0Z/LwtuUp7e3ZmzW9ZYZOXWGmG6Q8gcj71pmscptkCTxRnVcb04zEgwBpQZpYSulAn8pj8RiAeGmqy6FZuatpeLtIzmRzALBLPJL4Yd2xhYvn5WExhgfvW+XPr+WS689yJfKJP21dbnw535fpP6C9RG79B2tuZAz2N+7YlxaUjMf7y8Psmd19T03eI+h3LYNQHY0WHbULYjIgH9nQK7svNAZgSCX/bgmLOnP3HQrWiUpCRIBAiSQO9qqYv2eZ3fQt9e1R28hbtwq+BIxopI1enKvbbf7OYkLBvmJLiI8WGNVZE+zSPU/qKzt43Nt0md2Jfw64xA7cfYtzi/ym7+GC79UevQmI3OmXrEcJiMoTPaMFbx1/Makn5lbIeqRvLHnQ3JlbJa5qhMGJ4SBFFxu/l35+v4V2vUGyNsnzwQPirz4Ms5W/tE4es9i5tWb0NRyl+IZ4FXyZGbd+rNQnAvMkeIxEm4ZBP8AsuRhHX97cuw21nbnUX0iVMMeas9fVc77eY27boPqPqI1zlDa2MyYyMuVDpdPrjclvz4dvpnoTpMfH1GV3e3I10zlpi7ZQiGbtW+cMkdi90nZwtCMbENttoD4YAA4cTjgnVNcqe4sxuG3Yg0Wo2HP965eV1o2e1ErguT+KdIiQr3rUjh306+3ifDFmAeoyzeq3HGutbtRjDXhLIBVlAmYZ8Ri3E1QWzvDQCKKUcXe7jVIgFc66RRaiBImWGSy0udhXvQZtxeFWxCo+J/WXqnm9T2nToH4YSnP+pwy9/6/Oc6+T+33vefw+bW46rlcIjUXwxXoeRot6pSuRtvOdykZ4eI1p9iEo2TawJ+KprgxUq8t28t6WINYiQbiWAVWgwAsWQKGdyciOyKg0ba5L9aZ5GMGHayzWuXXtQjAAHGIl4+Gay6aoiTOydRqYuORfJEQhcjC5C7Ifl3RpkDlKJaXuQh2rYtXY2DQRLQkTk+CzY3y9D0fcCcJ7QPa39u4Lm0vRLTDHxsafKsN2Po3oDrI6Z1PaWNxcnDofXYeWYAN5W9hJ4XbZP4ie3JWXLv/AJY6mzP/AA+r24Xd3t57bf8AlyviBt3o2n0m3dfxRerGDUykvZzfLy2F027Oe28rcg291tZy2s7ksZ+VSM3/AJ4NJPjwny1+LPu5qogVRFQNRQgECKBIGEAgSAQJAMgRQCBFAkAgCgSBFAIBAkAgSANEAgaAOCBIBBctISAwQDoBAIGgSBoEgaAQDoGMUAgYQCBugEAgEDQCBoBAIBAIG6AQPFAEtHVll3KKxdVsbXdbaG0nruR3ETK9C2SNVu3HWQW4kBUc31Zuo2ek+ZvANvtYW5W7u5HiA12JkSMagS0hg4Wb4jUfJ/PvS3l21quXtwbO1hakwh5duxrMDIn4TOjuvNa9Mir0n6O/17pfWOqbqMzajA2trcDyHmYyGnPUxA5rXr535Y9nTxe5jetSs9P3soXrHS7J/SOSIzsiQmIEimuUSeZWR5+d7TfmASQaxkeD0dRpkvSIg0g8iDIntWoxWIkE1FWNVpldYsxuWGzAkX4OWUOVly6bcMdOnw050WW9WSkPLmI+HUBJsqgqKwublqVssddT/Bbc/wAM9xoy0ipJDyyAC1Ga+rf9u3qKG169u+iXJNDqVkXds+Jv2HJj/mhqPcvP+xz8V6/1O/nl+hANQLLzvaonb0yp3HmitFi5QOK8lUWzOoswo+PuRGCeztiUpAgylixdmyVXWGfT4C5G4zuTT71MXWi3YsmMQYaYscqVLlVHG6n6a2l255tsAE0MmZiOWCnTt6/ZnyLOx29iz5HliIHxAgHI4rnbXomVdtulbH4fKgQRgIxY8lJ1W54dbpnRunRAn5Nu0SMNALjgV15jHXVad3Y6bK2fyIaQ416RH3DNW2E6rgkdHt7ozjbBuiIk4jENGZAoWcVXNvTlvrUZGEyKfCRU95U0UXuubWxEyDkivDBNT6uRud/1PqV1y4tgAiANWxHJM1m9SNHT+n+W1y4XlFzEnize1WRx67dOzASLvSIoW+1ac9dXZ7YOSwcs/cqxW2sYiLgMXdlUY5zGsVdnduXBZrUijd3xpocgwHas2rI5bGVxzh9rYLnXRfGsSefuQQnI6X+U4IOfvtzG3EylJoM8uwBak2s9XI/OXqvqE+o+rNzuDWMLkYQGI0jFl9STJI+J119urXGjA65RBxFW7cytOaO4mIiNu0Ti87rMSeA4RVK2WYyMxIDVqOqQPFj+9Y1pv3cbfmzlM6QHPGrB2Cq0rgMDt4iIkbdvGTfHdJeigstSkdxORA+EAt+KJAA5VWasdSdyMbVyP8piZcSo0y3dRgLQlouExEX4wGr7wird0Rc20dPhhIyhMEPplQiXJCobKcb0bW3mGuQcaycJRw9oxWasarNwSMTImFyBe3cxIIyWa6c17bpW8HVOkw6XuL3lG1q1XwdU7coxM7M4R/DrDSkKh+SSrY+0elurS33p/p3U7QIubm3/ANVbl4tG4idF2Wr/AJdyQfgF39V2PN7ZldiJB6hduGgnos3rR/EIuCPeHXVyxpMdNMjhLjyREFoJZUBAIBBFAwgEDQCBOgRQJAigECQCAQJAkCZAMgEAgQQDoEgEDQDqBOEAyC1bQIBAkAgaBoBAIBAIBAMgaB0QCAQCBhAIBAIBA6oGgEAgEDCBlmbJBVcn5Ze4TCEj8Yw70FQEL8hGN1rIkwLhyCP3qNRRud9t9nev+ZuI2YQsaSJkGQ1xIaIDl6KGPDb3qO+9SQ3WysxNna7aN6FzczDxMfJ0tGNXuSMNMXwDrG7cdPh5Da7a9+o3/p/YWDC/1WOx88+Zrnbt27Gu+5PtA7lyzy3vh9T6f0rYemuj7vpsQT03a+K4SfFd823F34adOrm/FduZnw5Xy/P/AKls2dx1K/5U4izdHnnNjGctMXGcqsuHTvzHjt88dxEhxGQ09jlZ1aqvRNQKmgD8AtxisTVpifD76rTm6fTLMZQlOXwQ1A83VxYovw0GL5xBPChZ1mwQueATst44vQ8HWWt8MoNqM4eEiml8qVFVthXcqajAMG4ZKxGn071e90Truw6rtpNd2d6N7FiwPiHN4khTvn7Sxr1d/XqV+w+k9U2fUenbXqG0n5m03dqN+xMZxmHavA0XgfW8fj4a5RBfgUGS7K7aLwYnCuHuRWm1uYzJJqKUTUVXJ6i+EB4hmxV1U56pxBDuz0wdVFggNP8AKcEEPKoc64cTkgpvbe1eB1Rc5nNTGp1Y517p8vlkSAX0Z9wU+rrz7WW9uOq2LcoxMjFw7e2rPRTK6zuVzd3v+qSiZRjMkzAAIJDAhz71MbljJejvJyuFzEG2YRB8J1O4KL9oU/MlKXj8REQW8RjTxMcDxTwze0rOxuzEXhKVwBpSl4Y+GrsUYvbdtNqIEAEFgCY/L/HtVcuunSsWDKgi5z4P3qsOlttrLUPCT28FUb7VoW4gCLHPPvVZU7q41AMMWNaqVY5xkfNkXcMAzYHNYrTPuZiRBfk+VFmtRTbidQPyrNaWSlpeILsgyX7sath+5QeQ9YdWjt+nbggvPSQMsqr0+nny8v7PeR8Fsynd3U7svjk8ifevd0+XyJE2zPyyxn4ZEdv2JErLAC5feciRnXgtM46m2vOIGMRbtAkmAzIAAc4lYsb1sMPMAoDKUiS+JBLKwTnbBuSuT8NqyNUjiHB0xdUUbC6Ddnjok5McaRL1WKvLp2y20jqYSufmF+GIHvZRZWS9IzOiVJWPEDxJLzHcittvx2JRNZXtJB4yH8EVkNsWrly8AfMjHwjmWGoDkFKNuu3cj5uoAktN8HOR4Hms406fTeoXttciY3DC5badmTeInDFZsdOen1n6Y9c287Z2F65ot7q5OdmNsgGN9g8BHhcxbjgr6+svln287H0KzO9dMrFy7qu2tNw6Q3hhKkXah4L1PI6cr9oEeZI6ZFok8eBZaSggKoiVFCBIGgTIBA0AgSAZBEu6AQIoBAIBAigSAZAkCqgEAgSAogSBhAqqAQCBoqxltkOgCgAgEAgHQDoBA0AgAgaAQMIBAIGEAgEAgEDQGCBoBAIGAgYCCQAd8wgjuLML1owlnUdoQYLvTLVyEo3dtE29WqY1liSyDi7u3tdndNyzsbc7+4uaNtZhEyeY8EbszU6BiVK1It6DsbOzs7bp2zImbINze3zEk3Nxei8pRGB8Jo/IKSNWvKejOibXp/qvfbQxhuTotTuiWJeWk24k8BjHkufUzpqX/q631C387XS7fS7cj58bPn35ktK9bidELBj/AMyZPwmrBavWROJdfGfU36fYbfZ7Hb3hPcX7IudXjB2t3jMyFkv81oM5C4O35eQ39vzoEscS3Hksq505ExrShDcwtRmqYwMZgSFQHI7VtyrqdPhp2RekhEzI7SrqsO6mDfMPkYDixJWdVTeuH9SZzrOIZuIZvsQ/LJcuzlMQkXjFjbmMTHmtYxanIOXOMhTuUWxlnHxNgRV1pivuP/b96117a/6V3l4m7b1bnpZmQ2g/3bI5v4h3rye/jLs+K+h+r3s+t/D7XC7nnguT1C7ASiW7T2qDDKUrUwXYEsOaKvt3BODBhLInLigvs6dUonA4NRWIvjB2b4R34KiWgyk7dqCudojCj5IMl+1JmMXaoAQY7+3jUNKJzMSQaqLKzT2EJN+ZcBNQNRoTRTGp3Wf/AEq1IgGJM3aJNS+RqcVPq1910Ol27cjpgMWIyIfmr9U+6+Oz1BgQByDl8ExnWqx0oDJhgxzVxPs6FvZQhgOTj7lUXmzpi8cjUZlArktIJyYYIOdem75Gp5v3KKxyERAknS4xHLJYbY7h1SIfGpJrmsVqJFgOyp7VBnuzIDk1RXK3+6Fu2S7c1ZGerj5x633cpdNvSJbUCIr2emeXg/Yvh8x2IcUoWIbuou/VePiC6IiMgc4xYYFyHdaiVRDbygRCR8cqz7cdKtZjoWxG1ECX4XI5vRYbxvs6rc5TEWnCJPFgMR3yKoz9SNyOztWIxMZzOphXHic2CsS1Z0mwZ2dYLC4BCAxLPQ0Wb8rPhvueXc3ExEUtGOgEfFJjo9lZFKRmhA3IG5bJ12vFcJxIkWfvKy22RYWIyEfC5IA7ftVDvbeG6i8TovRxGUmwKiq7Fi+NwZxiBcMSfKIeFzl2FB2rctv+huWY2jcje8uNu4aXdtcDkwDfHAp8Ku6Tv72y3cJXI/mWSDGcCYuxd9QrEjIrl1HXmvvHpjr97fWI2785Dqfl25Wrm4Hlm5alEmFm7QORjGeB9y7evv8AFcfZx+Y9bZuXL0XMRE08yMsa9i7yvPYkQwYBgMlUQQCAQCAQCAQCAQJAkCKBFAIBAkAUCQCBIEUAgFAkAgGQBQIFAIBAOgtBW0NBEhAIBAIBA2QNAIEgaBoBAIBA0DCAdAIBAIGEDQNkCKBhAwgeDcygkyABAL4vnkEGbqW8sbXZy3FzxTAazEfFKZoAI5qKy7DYja7e3duEy3N0m4JAkkERx/pDqRU9rtxt9mNvYPlS3UpTN6IBm8xqjI5cUHhN1vtv0f6jxu37MgOobe/asWQQRLdmIuWTIUYGYkNXArn7PFldePMyPNesOrG/P/Xd9KcYSuS/S2HEpX9/ZGkXSRTTZ+EhsVztbkfMt/O9fE7t0A3DImcwGczJJcrLTPcs0uQLRMoxEDxYqo4+7skA3YChNWwBVZqu2YThcEqShFxLl+5ajFabVxtvKIFXiCObuyVYyX4f9RcGQnED7Ssr+WbcEy3cpirxBWvwzfllkQZkDLEcDmVphc8p2IyOMaE8is/lufCi+ATqerMVqMdfKzYb3d9M3+26htZm1udrcjcs3IliJCtE65lmHHV5ss/D9U+hPW+x9U9Ft9QsSENzD8vfbYY27vZwniF8/rm83K+vx3O5sert3NbMo0Lll8nGZQY52rtqYlGsc0FsLuoPnwVVu29wfCMhUdvFVLWiABLltIH7MiLfLiWzBIwzOPsRUTtqHw1ep5lVFF3ZTMaRDhVNRHTJsAJCIGFMU+qfYpdLZmOqviB8IAzIZXF+ydvYWIl9OqQJc5OphqyNi3FxGAFaNgHQWm0DjjHBSkMW4SgQ1JUIPAqNFcMQNOYqW4IOdfmNIjiHdvuUVgukxiKt4qVfH96lWMO4uyNC2kViOIC52txTFtOp2DLLSFy8IDEqDm7rd4knS2CYPO77dyuzMXLZrrzHLq68T65uxGyEHbiy9XqeL3vB7GI02qF5E58F16+Xm4K6RBp6R4CBx8QBAfkFqVnpRtTLzZ3JHUwMbZOHOSvVZ5a9tBpQmaiAd/5nLLGukjpiEi2o+KZA9hcf+IuU0xzNxfluL7yJaRItPlCNJFaYdfocI2tpKUjoAM/LlKjR+Gr96m+WpELkp2dxoumryJEahz+6LBCLYicbQv2hqEz5lyMakCNAW/CakqNa1HyzPQD+WYAStDEHF/fiouoR8y2YET+H4JGjjIFBfJ5QF+3TSfzIZAqVW6xalvLQ3UAIfpKSYU1SLxEiMpGkTkp8i7aXY64RvzNvayjK3ckST5Zmf7j1JjqbUPYjUek6Ruuq9MhuN3OR3H+mSG03FsXBds2xMvGNxj+Zt7oidJj8Ms1Mv4XZZ5fWeg9f22+21m9s7r2pjw2TMynbIiDKETTzIkYPVduO9cO/Xleis7i1OyLsLnnQMdcbkB4JR404YFdZXKxcAJW4zHzB2VQkAgEAgYQIoBAIEgSBFAIEyAQCBOgECdAs0AoIoBAIBkAyKGQJAIBAMgtK2yEAgGQJAIGEAEDQCAQCBoBAIGgEDCAQCBoBAIAIJIBAi+QcexBETlqlHSSIsxo9UDEzK2C4BoUE5yhEPKQLVYlkVGW5g+m3E3rgOApEHtKgx7qwLu5seedZnIuflhbgHnp9iK3WbkL843GMRccWwQ35YoKfzYqDF1OcNlOG6lMWrINuBlOkY6ZPCUuWMQFOq1Hxv6k9dj1TcbfqFs+XPb3J2tvYifHC2C4m44l/auHfX2d+JjxG93F7dSjubsRG38G3tCRIhEY0OfFZVy9xGcbh1FxlLI8Egx+ZohN/gLtI1xOC0lZrE7hvyt427xAhGQoSP34Iwr3diNgxuWyTYvx1DiMjGS1jJW4nyoyHO4RkCMK8FK1FDB5aq3KXP9nH3FQYtwa8KOT9isZrPC3Iz1igk4J4Nit1iNcI6bAk7iZYAcAs2NRkuAOZPQ4cXWolZ5vqcqsPR+hvWO69Ldbhv7LysTa3vtuA/m2SajEDUMYniuft9f2jt6Pd9L/R+oujdc2fU9jt99srnm7XdQFyxcZniciDhIYHmvDZj6s8+Z8OxavQMQ5LoCUINxGSCgxECW7QqNO3IMpYuPYrEroWiwHAfaqRpGmrlwcRkoqzTgBlgTxKrIMWwoaMgDGrgYYstIgHlkyCOjMYqKkIgAEHFAFyeWeSixVMGIoOYUVn3Uo6gdXcg5t66cywzZqcGWVkc/dbgapxDGI+EjtWbW5HPu3omTvhmudrciq5dERjV6gqLjBud8Bm7lgiOPu9zIvEHGg71rmM9MgskAkh5GjrbnXg/XUxouBvhBAPavX63h9zx2yLTsRw8OodpXSuHB9RBhcuxizRu1Bw0mLq8s9fDPtrcfJldtuYGhjnCmfbknRzG7Z2zOMGehZua5115nho324lCBjbLSGmGpqAyr/uxWoz1XPuuJz8htdv5TUiGI0vxxWvwxn8PQbiVu3blCQcAAyjnLD7ZFY11sU3ibt8ylptXQYi5IYOBSQbI5rUrmx299ctbo3dudYNZwkGkABUADJXCXK6Ubu33kTesk2boIcGmknMHhkQaLLfz5Wi45ML8NE8wQwc44qKtt2p25k2yDTxR5HlwU1cb+i9Su9M38N5YsjcbekN3sZki3esyHitTbKQwlkkufBZL8vWbPols39r1PoUf1tvdCcrPRroFz9ZtrQ/6zbSIcxvQifCW8XxBityS+YxfE/kb+G26T1G91P09etbrom/2c43rBhplDZXbkbV21O0QPzrUmB/mGoJ1/M+V5/iux6N39zpkt/b6WR1DYbWyb1iVReIcPpo4tzl8UfknULPHm+Gu548vo3TNzs97tbe82sC92Pm+VF4RMCfE8Sw1Dliu/N15+pjubW4PJMWaBLwLvQrbFTQCAQCAQCAQCBFAkCzQIlAIBAkAoFVAIEVQKCKAQNAIoQIoEgaAQCCxbZCKMEQOgGQGaBoEyAQNAIBAwgEAEDQCAQNAIGgEDQCABQSQCCqctMxc4DTOP2FBOIE4mLu+Heoqs3bUoEmIF6DgRPEZKicr9uNoNP4/hIqY8aIMYfd9RmYzjK1t7cIGwc5TJlIy/DkFFW7m5ES8yVy35kPGwJELYjiZHsU1cfPfV/VtpDpkbvWTelDqVwno+yE2nOIPhv3IAudR/tg4Ll1XTmPmHU5bie5P6m2LMw0IbeOEREU1EfNxXJ1ZBalb2fnyIlGZlbjHKMgx9rKK4u7uS0yNNUzpgMKlWM1TubUogWwGEmHEUDkrSVjNmUjqtuJx8PJjUFVg7ni1WbpcXvE0W8NwDxP2oYhMz8gCIIkCIOA7AZdijTPcOqUbkPhdjDhHA9yIxbgxjC7rjq0SaNWLGnvVjPSG206JEu0iA7ZrbMar8PJtWoHEPI0xJwClVz7zGTBhzyVjNVXBUNyKrNRiGl7wqPp30b9YHY9RPQr822e7JubUkloXWcgDLUvN7/X+Xs/V9uf9X3nZbyMwGkxOIJwXlsx75ddWzcEgRQIVG7AGkcjVUFiegscAceSRK22rhM2jgcVpGu3OvE8OSi60Wrj4mmCqLCBj7QEQMHofCcFqICGBHHMIqIAq/copEBhxdBEgAF/8FBnvXBpL07FGnJ3O61SBdyHbkxZ1mtRzNxug7CWFXPbko3I5e43YBlE5f4rnarDd3cBI1eOay1GG/v8K0wZQ1guXpzmZE4YLTNK1bJGo4LTNSvxa2f5RRajHT5n61uaoTHGQC9freH2vJ2zKJtTx8J09xot1x5X9Yj/ANduAzG7pNrvtgrc/DHX5YdlOQgTHE6hJ8Dg7qd/Jx8O5tpxMbUyBKMYiXi+IGQapGLZOuNd4xdRFuO31EkG4ZzL1eUiwHdCK68OXeI7SIndtXPM/uyAuULvAOWfB4qdVeHS3E4z3srcS0hCAk2DCrOe1Zk8NW+VJv2YyiLkTrMBGlA5A+c/cFqMao0X7QlKA8uZwjF9cQMZRkalaZZbd25buDXKUTiLgc45scXzVxPLu7bfR3FoWrzRuwHgkK25x5v8KzXSdNkbl60RG9E6ZUEgfdqH2LFblW2jXVamJSYPHA9jKDq9D3W62e5G72k5WL1mYvQ0EE62YnTJvlfBFeu9Rbvp+/2h6vb20Lew6iYm7C2T/wBPuv8AnRAwjdL+ZaNH8QXT7bGJzJfDl+kb/Vej9X2x2k5XZ3b/AOnjG2WExfH5loydtMgVyv8ARvfw+sdI3W82XqG/O1bN/pu7tDd7bSzQEPy78SGpV25henPy89z4eqhO3KMZW5CVqQ8EgXW4wsVQIBAIAIAoBAIEgSBIBkCQGaBIBQBQJAigECZFJECBooQCBIBAIEUFy2ySAKBIGgaBIBFCIaAQNAIBA0AgbIAIBAIBA0AEDQMBkAgbsHOCAkIN4sCis0hubDytgztRDijy7GzUGe5u43bV79LK1fusTO3IiMjIB2INQe1BRZ6xYJ80QGx3WkmVncAxoMXA+3BZtakcLqHrzoG36luLO43sNc2j+RblckYRiMBb1TPYp9tvhr658uH6g9UdU3GwuXOl7IWdlZibx6j1OQsicgXt+Vt4nWT+HXisda1y8Ncv7iV+/uOqXJ7vq5gDO/ext4aRayiWOC4uyvZ2JXJfqNzIiIkDK6Q4aRr9ijWOb13c7fcbu9f2tvybE5E27WUAQ3vZGbHAtQEpy3Ey0bbiPB+K3EYr9wSnOUI+IChNc6BlWKdyU5y8Je3MVicBcNXHAFVlTtIw3G5ui80YQJl5gzMcgoRC9C6Y6oRAlKkRqzPFGiuWNzEwDUhBy5Bqe9RWDd25TpdhoJAlKUcyDSnYtSsU427Mowt25EDV8Omr4K6mLOo3PzpBsTp/pEQ32oORuJDVpGWK1GOjl4pByzge5VkhEi6O9UW9L3lzZb/bbu2Wube7GcTyEsPYs9TZWuOssr9QdP3J3G1tX7UiJTEZA5VDsV4X1Jcdja9TZozoRgFix1l11Le6gz4vwQBlqk7sRVBdavmB0mgyK1Ga3Wbgd3DivJUaoXQxORoxTBdG4DHAhvhpiqhm/GLA4Zj7lSRAXhIh6c8lFTN3wl/YiKZ3ogGrfYpqqRutb4gDLkjWOV1DqQBNaCp7FjW+eXH3O+JDknU5PtxWbW5HL3XUBElyHPtBWbVcfc9QDkgu2I4rIwndXJSJdwmAhqPN8EE42waHJBss7YGLnDIHgrrNUb6Oi0S7gCq3y59vlXq+T54yJXq4eL2vMkfkbfJwD7ZELrXnn4aetAwu2ZisjZtmvGB0/YtSM9MFuEamOFwkxHDiD3rPVXh1tpKcdYkMIxBPKMfsXGu0YuqyErlkx/4QiNHAkOV24rj7Plb00NuoWT4mjrPFzn7Cyz03xPOLZEzv3LsfiIaByIFR3syueE3yquXpwuRmzxiYn3ZqyM1u2W5t+EtqvQm+3uDwyt3OBd4mEsVcRn6ltB5du5GBgImULt4hnu/EYM5wWojDZuSDeIiccDz4LNV19n1AxiYzDyLCM+P8s+z5ZLFjfNbBdhc8URrDBpYTieB4qNtFvfmGnxaZhnMhUd6y1K9f6Y9TbDa7aW1uw1jc3NO4tmIlbFqRcyiCQ8hLJWdYdcazXbMemyBs7gXYAC7b0amhetS1WpeIcsD2JcqTw+12J7jeXekdZ2RjauXdV3dWpRrEXRomCItpjKZB7arvzd5/q8/Uzp3enOYTnHwy1yF20QI6a+GgpgukrFayqhOgSaBNDCBlAkAgSBHFAEoEgHTQiFAkAgECQCBMi4SAQCACAZAIBAuSAQRQXVW2RVAkAgbFFDFAIhoBAIBAIGgEDQCBugEAgEDQCBhAIGgTz4BAaZEVNOAQV6Z25NBpRb5v3oqRu3HHglJ8WYAe1Qc3q3TJ9QkWtQtTETGO4ixuNz4qjFd9E9M3c7O46jev9SvWhpt27szGABxiIigUw1G3Z6N6Vjurmy2tnYW5WnlcsW4zkAQwEiXLzNHdTq43zzHz7qXV43xc6l1i3dt2oTB2lgg6Nxf0vbGigItiWqq89t+a7cxRDo5vWNv0YQn/AKxuZC/1S9If2xMvGMyHry40CzP4ac/1Z03a9NnHb2LhjZFYQ1OZBm+0FSxZ08ddm10CQ1a6XGwb+CYWufvZACMB/bGA/EOC1GazTtaYg/DTxg5A8VWUIwuxMYxiSZnVMnCMAgnKAMvIhHSDKvMYupWpFW5hGe5Yf2rI1XWzOUe8qaYyXrhMpE0LvckRirhXOiLly6Z+EQLuSAOQ9i1jlb5b9lbtQv2xpxGuQNZCMQ9W5srIOXvb8pX+QxOZJOKsjNrHJyQeJWmFxFC4qGPcQyorwflh3oC3pFDmWftoiP0R9NOojf8ApnY3JF7lu35U/wCu34T9i+f146sfX9d3mV6a9b0nXAESGNXdZbie13dwERMtRArEZqVtutbsCkpEDn+9QxojvIyzGkGtVdSxqsbzyzUeH3rTLfa3MSRU6TSmZVMaBuhIeEvkz/YmhzuylHHBsKn3q6DWIg1biC6iqp7sR8IPJh7UXFNzcaQZzkBHh2/vUpjk9R6uIw0WyCcw7ErFrpzzjgbvqRJIJFcnx7OSxrbk73q5JLypkH96g5l3eXLh+/mgjoN04FifaU0aYbYCIfBZ1V8bJApiitFjavQY4lGW42tEQBWirLjdakI7cgUddeXLp8m9VHVfY5OWXo4eT2xwzF9tZp8sog9hXV52nq9qRs7K8aQINt8a3IuPfErc+GOp5ci04m7NHwzbgDQp1PBy7lk1OYNp2GNf8F569Mc+/aMb2iNTIRPeQxXSXw5dc5V3TbhG8nEl4mMhbkMg4onU8LxfKVmZIPgBqTKIyk9O5ViLb0CYiUQdekao0bOvsV5TpmhauRuNCeD6NXLIrdZj0Fuzs930qzvZWdU7NyNre2rciJXwA76amF4RzbTIMpK1ZvlzOudFhsb0b20ncvdH3LT2O6uR0TIkHa5EEgTiQYkPkrZPmMxhFwQkbdyoPxMakcQyw1GmzclC6LUpfEGE/wAQPwlZrpK6Fu+dIFyJceEyFSHoO5Yaju+nukDqXULWyjOIvTeEYSkY65RqICQwPNWLbc8JS3W6syu7Pekxv2TK0SG1CcDpMZFSzGubsfd/Ru5O49O7bcXzCM7+yFiwQSNRtHy/zJfjnIgrr6L4ef3Ty9XZsi2BE/GIx1E4uRV/8wXeONTKqEgFAIGEAUCQCoECQDUQJlAkUkQIDBAOihEJFJAMgSAQCAQBdAqsgEAoEgtXRkigEUIHkiCqAQCAQCBoGgEAgaAQCBoBA0AgaAQCAcoHkgaAEg4HFBLSM0VMPhGighuLkLFs3Jf5IZykaCPtQjwPqXd7fdbq/CV+Vjb7KB3O/wBzH5pwJaOnhKXhj2Ll3XbiPFjqg6hdudT6sDdlaskbOz4hbtRdxK4AGcxA7VxtdZHpOh37fR/Td3q+4uyj1TeXNc7ur83SYtZs2Y8W+fIqz4SvnnqbqkNzuTurwEJNot2R8MIxpGAzLZ8SpurmPP24mc5SkHBDz4sK6f3qxKyXoA6rl0gAFogZHIDsVRnuRnKFy/c8Nq2HnI4gZPzJwQqgm/ojKYlalcNIHFjmexDWy14bHm3vEYBoA4t2rDWM8rJjEGYID65h8T8vsVGDdXBCA0RHmSqSalsc1pm1yoyJnLX4y7ADjiy3HJt2pFrabndmt0tbtHLVIutRHInUSmC5JPsFAohW7gHhahDSlmOYVZEokGQkfFpBBGZKoKedGEjQ0PeGHvVFbETY4ghRH2P6Ib4S2O92hNbd7zAM2uCvvC8X7Hjp9P8AUv8A0/5fWZ2ROBlGlHdsDxXHXoYL9iVoxkHFaMahkVWL26N2QuaTbl8JDiQ7VG1sLlyJkH8L0NVEq8buQdxU1qrqJx6jetScFwceXcmouh1eMjR2BAYGvPuV1cWy68YEeNwxAJz4J9j6mfUVoRwBJYDPvT7NfVlueobQYkkHChA9r8ln7L9XK3fqKTSANMDw9qz9m8jj7jrLuXJ1BmFS+GKmjnXt3ubhqdAPDHsHBBCEJSNfahjRasFxxxdZ1W6ztzpfF1NVp8rSMOxBK3ac8ig37e1pGod5Rmnd1PpGGZWozXnuvsIULs668uXT5L6iJlupHhgu/Dy+1zowEul2p/gmRJ+EjQru8tar9iV/oojH+7CAnbjj4rczIfeFrmp3HBtsJWpEuBKVqY4xn4olW/DPN8uzt3jctuGBjoftDj3uvPXpim/Ay3FyTeIOeyTZK8s9fKvaWwZykC+qBrwly/qC0zJ5Pbi5N3cTgNMyc1vHPWkyErYcEGPwtyrRJC3ULluNwF3FyODYkYiQVRbsN3e2e7F2cdQ+GYykK1HAh6KVqO3uJbfbRELYO42G/EJyjIs8DqiXFQ8ZeKJxiRwKsuFjzZ2kQdFuRnKEdUyQxBBYyjxGayh24yuDyT4b8CJWWNHNW7JKNTWrb3joEpM/wmJNfYsV0jr9Nv2Y34SFyVuM6uz6SBjzrko27vqOVrc37m/MPLkZRtXgDEktbfUREAGmeadHL6L6Lu7no/VNj0rqJNnbdViLOxlL/wC1vbuNsXLeieEZTtMGl8+VXXTjmyb+HPu/a5+X03YXbsrmi5CTDVbMjUgxLgHML0ZjzbrVIVVqIsGUCQCCSBFAkAgECQCBFAIEUCQDIAoE6KEAwQJAFAkAgEAgFAigSAKCx10QIBBIohIDJABAIoOCIEAgYKBoGEAgEDQCAQNABA0AgAgM0EgEAgRg+BaWL80BrIBFwaf5hUKKkLob8RHBUYeqfqrtmUrYEZWYG5CU8BMfDRMHynr87+52Fu1a3N39Z1zfw2lyOgW7c4bciEYyEuJwL9q4dx35V7vp18779Ldjc03p3LcLJBE7sbLASEfwjRp4LlY6Sp+tOsjbxG33AhLd27fl2xZMZWbIkNUY29NHzuHuVqPmxnK/dOkC5IVM8ojlzWYq4aLezu3APFfa1t4kfJCT3Zd5aK1GaxXdMCbkm8u3UnIyOAHYrhrHcuCd/wAqYpP824ASx0/B7FEStRjuLpkIOICsnNHrpqlaiy6DdmDIHyrfi5FsIqKz7m74/IJwj5l7/wCmPvVkS1wt/clpowJoOHb2Bbkc+qzCQFqULVZsICWbyLOO1aYaeoT8npu228fDJ5TPP5In3Eqp+HJulhGIyzUCiHmNHxcFUaLhDiyWe380TRxiOxUZJiQJkcSX7ERbEapk8RqHbmg9z9HOo/pfVR2xl+Xu7Jf+qBcH3ry/szxK9n6XXmx+hdoXhpoSKLy696O42+oENn3Jarn+T5Z8TtxUVZGy7AFjyQRNk5u3FBVO1PAv2CroMm5sxLuDXAijexRWAm+SJQuyABw+3FTVxmnc3QFJgnDAPi6lreM939TIkm4ebMymiiduZLzJk/FFwG1VlDE4beRIQxqtbRmoit1jbijCqg0mE4W/ywDMkDxFoitSW5IJQlanduW4kk2m1Fj81QO1QaYWAIsWfEqi4RjGLN7EZRmHBJ4UWozXlfUMyIzaoGJ7V15cunyfrz+dM4ZOu/reX2/DHbMZdPvWzQR0ae1q/Yu8eWxv2tzTtYGVRbjWIxOqpCsK4u/2U7F+6I1t3I+A9lQtudjbYuxnCySWEYwEuQln3FcOo9HNVdQt3Ld8SFCXjIcwsxeihYuRa5BxIeKJIYN+5bZxeWkLd+1SU3YUxjjFalc+mm3ZE4yYMC0wRhGVcOXELSKTbuwsyiAJG1JxqDmD4HiyaYgDCfh0fmYyqRV6kIJDeeRPyjHwHCRduRZYalOZjdjI3DquVlbPwgjAxpxRbGKcibkdEj4B4AT4mHy/5UI1+ZqMZaazx7RisVts2d6OoEHA+1istvYdP6eerbva24RuXbTWzvpRj4pebPIEsdHFazWbcfVp+mP9T6F1T07uZ/8AuXSoG3thbk7bnbH8ncx/DqtmDHH3r1evn636/ivN7Lvmfiut6Q6xuuqdN2u73NxtzCJtG+ABG7oJ1aw5GoGVO9Z5meFvny9Th+zjuW3M0CIQAQNAsUAUCQCBIBAigECKBIBAIBkUIE6BIBkCUAqBAFAKBFAkAUFoXRkckUMgEQIBAIGgEAopqoEAgaAQMIBAIGEA6AQNAIBAwgaKagSqJDBA4iPAKKz9RuW7W3vGQd7M6DE6Q6s+R8f9Ubi9b/0iUrQP6G0dNuJJlruljK4Pxwx1Lz+yu/Bx3vT+jz6jvd3udE9A2liUDOUzAD839OZYGUxUnFY1vHjdp07rPrDq1y106zbs2oR8ycHMLdq1EsDLHE+0qSbS3I2ep+hDoxsdHjK2JRjG71C8MpmrA8gWbir1MSXXG3M7c4flwaIaAicotSPbxV0xy9/dt24GV4CQt0t2xhK5l3BVMYtnCd4zi1Zh7k3wHDvwChI6vlQs7eMYUAyZ9RND/istyKrmmLxbUIVuf1fwVxHL3JEITf47pEpHgMnWoy85vb+u4TH4MIcxGi1I51q6RY828IRH5gY6svEWiG96sRX1bcx3G9nMUtWvy4NgY2/CGVvyjnyiZGvw5KBtpBzJQMeO0YM0xXtAyVZpWjbnLTd+EhtQxHA9ysRYHsbiFsjSYaozJzcUI5F0WN/pLfnp3qjpu6+S3ehC4CWGm54C/tXL3TeK7/r9fXuP1N0+bEDEYH2L5z6tdCVsSEZYE4qoyXrLnCvNFVm1pqBh7FFw4wMgHCGHOwTF88ymjHc2gc0dRYybjZCUS8WORUalYbuyMTQVaiistzaSzBPBqBRpnnaIoXCinHakkEhkGi1s5ODppwQdCzsxGoj2oNAtAZVGSCYtGQwYBBO3bgIsAwFSUFsLYAJOdUTUGAk7VNAPvREb0QA5xAwWozXj/Ubi3Nu9deXLp8t63HVcnwXbh5vZ8OZt5xEJmRaM3DdtR9q7vL+GyImNpEwYXJQAHHXZMi/sK1Equ/quGM4U8sMYmoMTUezBNTFe3uCE4nSATEE8CMAPepYvNbJ2Y3YStESlO0A5OJ4Fc3XVNi3dtTjrJMGaMjUNwK1EW3NnO2DK3HwyIlKIqC2EhzVSp2pR0zhLVGZaYamGKamLJ67shoaO4A8EspA4xI4K6YxyhDzh5lk2b0SCNMgDzZ6SHI1TWbFnk7fcC5bF+MpgGRgQYGIHAmmKup9Wa5Y3MNLww4/yjI9iy2rMYTBlhprOIckIastTYm0HlCcXDmr/AHKVZW2wIjxVgQ2A7litSvqP0+twudT3d6YFrbRsTMrYkbdqyRHTbMjXGTErXM/7RO74fROgX7ln1D1OYukk9P2N/d3JhjbM7AMo+YfiL+EDJeifMef+XX6PsbOwt2LFmI8iJlPyYkjQL414HgZFW+UdxuGGRVZDIEgaBoEEAgSAQACBFAkA6KTIgZAkDRQgSECgRQJUJQGaoEAgRUCQDoEirl0YFEUFEKqAQMIAoGgEAophAKoaKAiGgAgEAgaAQNAIAIGgEDCBoEgib2kFwS2UQ6BRvGURMAi3iSB4h2qK43WevWbW7PTNrZO63sJQuGy+mAfAXbmEISzfFFkfKfWO7s7Hd7y1uzLc72/YFuM5HRojqoIxGEYjw1rmvP7L5ejieHmembTqHqjrm1s7y/IxiIW9Qi5jatjSBbtxZ5HD2lc43fD7dHY9C9P9IO06WNN+9MbcmMDEkmI8zXMsaBejxHnnl8i9ddR2e76pCO1jGEm1bghxGd4FpSi5+GIAiFx7rtzHl/1RJnIy/KBJBxrhVZVzd3rv3hbhFmrUOarbLdtrEbcIwiDMODP+YnItkixoncl+ojZjJpN8WUWrKXIBQtYNxehG2GGmF8ttrZx8sfOf6irjOuD1Lc/lziC8pTFuDcSPuWoxXGJE7zD4I+GLcIhWM2uvtJw2uyuXjIi4R3mc6QiP6RUqwcvRKZ0ZRHilwfgiYJxAmIhgi1TOURmzIi2zDUBcLtH5o1r+2IVQtzblExuxHFmwJHBA7twXbdumqdsaRLjB3AP9Ktov6ftZbnqlmxCBuXbk4i3CIMiZONNI1xWb8LLlfqPppvWrYtXxo3Fn8q9HFpxpIdy+Z1zlx9rnqWa7VuQ040zWdLEpQEovma9qoolaaoDgYhFKIANQ4OH8VBLSGoG4BACwJVxJxfMIKbu3GdXyRdYru2FTpLZ9qmNazz2eqjPzNExdU/6XGXiI+1TDRHYGLPHsWWtaIbQ6m0ktUyyc5KmtEbGIGIUNIWXFBX3IaejSDF6nLNCiEJGoDR4c0RKYYOyCsgOHOIqgz7rVpNMqhajNeP8AUbmDOunLl0+Z9egYxnRtS78fLzez4cK1MmwZA0PhkMhpLLu8v4dXa3I3dnmLkNNyBOLgEEPzVRn/ALV8aYtC4HMXwlwRVMoRjeIiPCY6gO0MVYzY6u3uSlbt6TpnpidT/FpLV5ss2Nyrp7UFp2+MtVvm+XcstrLF6PlaJQ1AFxEig7OaqCdy1OInQ2y4ahoRkRx5ojm7y1cFon/l4/05qpVNu3cvQidxbOiI/K3JoIxNa/iCI0DbXbcGlDVbdxubngFxqhj+D3lRVDQsS/JuygZS1F3eJzEYjDFVHY6VtOpbyVyMYQuxNgyu35ABrZiZAmRpURLZrXPO1LXn7ptxmPKhpMSfmJqMMVmrK7HT7d7c3hG3HVK4xAxJJyCw2+ydI2do+gNvuJi7Hc9YlHazNmAAn5l8WpW5F30iETqo67cTw49Xy9n0izut51nrW83NuMNvu7lnXGBlICFiBjbhESpEmRqOS2x/L00NuY3bl00lONuIj+EW3p71pFmaIaBFAIGgEVFECAQCBEIEyAQCBF0AEUIBAiECUAgSBAIBAIBAioEqBFCC1dGAUAyAZAMihkDZQCAVAoAKoaBoBRTCBqoSAQNAIGgEDCAQAQMIGgGQMAA8EGe+GjKVp43oVOk0I7MC6K+Yeqtz1KyN1t9nst3Z6nfk97ex06Jgy8EjKI+LgCHGCdc2k6mvMWPp51W/f87dXRIXJD9XudYuGAlHVKRq+sUGnjRef/U7T2Pa9N9KdP2l2d21b3Fo7W1C9Z3e2/Lu7a8fAROEqktyaq39Yz96p3w6zuDdhuOo2r1qxDzAZML05zoJyAp4GwA7VOuWuenyDfbiV/eXpTcuTCJFWiM/avPXaMd6U4xEC0IPhGsj3KxKdizC0SHaU6zmazbgqjQdzPyDMR0xiW28M64zPFUZzbjCGm5PTK6NV8v8NuNRH/Mqzrk9R3cpXTfA8dzwbeGUYZdirOuNdkdE7gPhs+GEj805ipCsZqvp9q1r1TBlbD0VSNG7uG7cjaiWjAEzlk5yVKpjGIBjbB0xrIoKbkTGPCUvh7EKziGp3oMyqy02blyxctyEtMTkzxoaOmi66IR/Ntj8qdJWsdBfjy4pqyKbtoQEZ2j4HIIzicwfuRHp/pxvtn0/1z03e7y7+n29qWqe6/5UQHJMfmBbSRwKxa3zPL6/6E9SQ67sd1vYsCd7uAYDKJnrgw4aZBeP9j/Ovpfr3fXHuNvJx24Lzu9a4Dwtx+1aREwOksz8+KUV6BgwUURjlwxKC0ROliAOaIhdhFufBWCiVjWfvKLqJ2xDsXJzTFlIWIgAYk5lTF0v08RiXfMLJoNqNAKgIpziRHgOSiqS0cSBkoISgOwlFSi9Q9eIyRBOAFMGFEFcQNJPGpKDNuqwLV4BajNeP65BwebiI+9dOax0+b+o4MDxDrtx8vN7Ph5vZA3JXdtKoHjjHiGaS9LyfzGrZXvK3cYXB4ZwES+DsxftVZ1dftS0GMXOiQ8XKWB71GozyqInCVoF3p4f4KFi4i7GFyzciYXLdRGQMSAWJiRlxC0w0bLqrQEL3ilGmuLahVqg0KzY3z1/LpEQuAytXIxoJEVqOOnJRtEipEJQ14/FpI/p1Bqoii9evQIfZ3pSApOMh7tLhTDVUN7diJyhtZQkYSjbjpJuC7jGUpXXeIOIDKxNQ2Vnebq7LbbmM5ylGUoawSTMAFotgZIjvdR6Bvd50O5urVhtxsIRt76c2hMQtwErctGId9JlmcV1nLFrhDq52+xnsbJaN+Vud2bVnoDt2aiVidLjmm3dkTIhgS7mmPastPpX0m6BudzcvdTt3I24dONq5d8yLx0Sq4PJqq8c7V668PovojonUN35e/30vLltibXSrFosYWovO9OoYapsIyXSTy5W+H0XpuysbTZ24RgIy+IxxDn7SOK3GK0SBeuOaqIlAIE5QDIGgAikUQkAgEAgRQFFAkXAhhMqBAKAQJkAgRQJAkAgECRQcECJQJBcujAzQCBqKEAgEAgEAgAqhoB0DQNRTQCqEgaACBoBA2QCKEDCIaAUUmBxQMxADjwyGBQZd7thurMtpIxjO8PzLgDmEPxB8+Cupjm9E2uzu3txdG2ELO3mNtCM4DRKUS8pjMua1U/LTdv+nWLl27uIPb3DeWL4GqRoGB5SwRI8762N/p/prfXntF535iZhGE7hIhAWLZFXiJEnks9fDfPy+BTvnxPbEdIYZMMV5HqYR8Ruh8KzNWrgqyjauGcJTI8JpEn8P8UFvmRlOMZH8uA1SPHNaRzt5vI3NU5Hwyl4ieAwAVZrk7u+dEdx/wAa/wCGzH8FsUlLtlgFqMVlnZum2bYBMo3AS/EgufsCsZq9xtLZeNRSESKmQ5IfCO3sTBAkTK7MAzzYyy9itF07cIyuEACxY+GAzPPiUHPlK407poXFe1EKFtwZzc8yhItjajctxjMtCI1HvqJd2aFERctxlIw+MMbZ/EKSig6vTOn25XzanLUDaIgcrgMgx5ty4KVWPq+zO03hsgkSlbiJZMTVkvhY+kfQ3qAt3+qdPnHwg29xEt+KOgjuYLx/sTzK936nXix9lsuGY1NQvM9et8GIfA5hVFpi8mGAQQla8IObu+aBRt9h5ZIJacPcgkYggghjkqKzaL8BmyqA2WqMQiqzCjlRUDEYgVKlXTEXcgDtKiqZxLVNCouqdAfUKywHJRSk/swfCqBiJwGJ4KANkgOcx2q4mqpw8J097oWsl8khh8RRK8p1gRkSYgjJ+xdOWK+deorTk8l25rz9x4sylZ6gJxxgKBern/F4uv8AJ0t3Gxcti9aLxLYZHMLUZsW2J/qLMTq/PtxZsjxBWa3z5RlA3QSQ92NJBviHMKNYquXZmWrAERiSHNYhnLvVlWcZozIjdjKko/2z28UqRZZ30jpJxALV0kHgDzUqytcN7cjp1iO4snwkyDSEThqZi4qorPfnYlKPx2gKwlCTsD7HQq3aXN44hbuyuyvFoRJJ1SyESczmmM69H0banb9YvSgRcv7KMZWyHiTcifGIngcD2K4a6Hqf1bKfUbl+Ng27e820Yysm6JTkZ2wLkpmFBKVx5GPBavRJPLx0b16QMrUxbFDoEYsQcQDis4rds+jbrd39vtrUDLd7q5phbg9yRDPORjUgRjngkiWvvXRfS+1OxHRtleu2PTtqNi/1HciBt3L98vPyITztw0jVM9zrrI52vb9E2HlWT5kI2zohAwtAiFu2ATG3F/mIOqasiWuwWpRmwC0yhLFFRQwIhFAIGgECKARQgSIOaBIBFCmhIBUJ1AIBAigSAdAkCZAIBAIqJQDIEgvXRgkDUUKgUAgEAgEDogFUCAQNAwFFNVAgSBoBRTQCoYRDUUlUMIGgFFCAmS1O9AWgLNuV0B5sZ14gOEGfaWxasWpWyQRIG6M3lUk98lBfdseaZ2Lkxbt3AZeZGkgwoeCuj559QpXLvpeNu7K5uLu21iYkdL6h4DIAYyxWe/Eb4+XxLdSt25TPxiLMB9jLyY9OspjeuWJeYDCdyXGgi7RHJWRkt5KGq4IDyrMPDGriI+9FY+o7kRsQjAaNYBObRjQP2qxK5W4MblyMDSzbHjbM46R2rUYrLK9O9euXcJRAYDIt4YjlEVWmE9nbiINKspwnIPiZA6h/uoIHVfveZc/tWmxer4B1Ylb9rplYvbiIYAlzmZHIdgVFW7JhZhbixOrzLkcyT/BBGOw125RwiCJRP4gWIZFkUEGdyFqIwLADB0DhZl5ktuPig0jLKh8Q9hRF222p3O8ubcmRECLkpgEyBGLDHkoPZdKsbexCfqC9AXOn9OsRsxsmLWjfnGcdvt5HMXWlPw1BD5qo8xasbjq28nK7MSNycRcvyciIHheRGXYs263PD6Z6Psem+hXun2bu4lH1H1nbw3FnaQaVuNrzZR0Xf+XLyoGYzquXvk+mu/6ts7z+X1HayJiCaxJXhfQdHbwEBpJfMPzQahFxzVBOMcD2BBXKBGFCgIVDfMPf3oHKNzW7jSzGJx9qqAxGOZ4oBvZmEVEwcfCMaFBXKFaHtUVAirSUVC65o3cFBnm2qmOajURYRHEoJx1ENwChQST4cuCqK5tEGRLlBgvg+WZZ5IPN9ViTExyAqBktxmvBde2pkJkfsF1jh3Hz/dWjHfajgPtNAvXx8PB7J/2G13Atx0y+D4Zdj4rXUZ5qU/M290XLcqCsTkRwKxreY6Iui/bjdtkxmGBAxfMfuU1qK70YTnrDwuhhJqau0cVdMFj9PC8ZbqEp2zGTMNLTAJjqGcXxSVmxsHpmF/q9vaQ3As7W9dFobi4x8vUBpMgDUGRAccQtfVz1zLVu4TPzDplbp4sS+AOTus2NyqomN2Oggxi5ZsiFMPl6P0zsbk97Zt7S2bu7la3ELW3bU8pWzHVDhpBJJOC3Izflvs9V2HTLV2zah5sRZjtzfEvFMhjPTIF/FImPYl+Vjzdwbjf78/p7cjC/KRtg46XxP3lMR67ovozebO7thu9rHd7ncNKx0+3cBkYwkIylf0avJhXGVTkp9V19r9H+htj6X2d3fbmP6nru8GmcQXERPEv/AMODe5l15n5c7Xq9h06Nka5GUrNpo7awQNMZYmXEl6R4ALSOlCItwERlUniTiiIlAmRQUCRAQigBECARSKIEUIBAUQRRDRSUAUCKBIBAigGKAZAkAUUiiEihECKiQUAgCEFrlbZNAIBUCgFUCAUUZoGgMkAgaoYUDQCAVAiBFMKAQNlQMiGooVAEDUAgEDQSFQxDghiO1BRbDRNu4DTwxnHFhQJAWgLl02b1TaYxkcDIVp94QeV9c9Plf2u43Mrbvtr0btv4pamGksGqG7hVXNiy5X576ld3W1s3AYgsADqDuZVDrxPVrPb3M5bIW5yJOsSgQAItV3HeqjLclGUTrrXjmorm7m4bs2J8MTqHANxWozWMGd2U/KBaMZTiDSkcZF1WFIMhAQB8IdzmScT9yrK+J0jbGIFYD2ay7duCsF13b/n+VCtskzJGGjL2Oy3jLoHb24Wre3EWjGRndk+bLWDBbjO9dnOYrSQgMdLsCeSyRpMZQs3ZF9TjkNGQCjTBTxA+Ig+Axo8jUexBft4gXBcYyle8BGJlPGg9gUo7PRulXbc57LzZf6xuJSkY24mcZSno0QEovISgJTlcceHTzQX9Y3JO3vbOyf8Aoje12oQm8ZXvLEBJvmEYjw/1KK5ux67Y6R0jfbWFoXt7uxKzFzIRtxnDw3XHz2Z1iOKc+Evwx+nuo3LHqLpW/uzlKcd3Zt3LkqkgnRJ+4rPtm82N+nrO5f6v05sZUAxIoV82PrV1LcniMMVUarRDCveqLTUYdroKbsRp4tiOSgjEYMW4FUMzJ4PzVQozGMigs1wIwVClKLFgoKTpOFSVGlM3BqX4jgoqmcixMQwzUqqicPsUqrIx1RFKIiyMWDNhxREZWncksMyEw1XK2ANPDB1Uc/cmhyZFcLf24iA5Z5lWJXjOu2Dp8IcCR1ZEDJdeXHp8561ZNu5qagOrvBXp9deP3Rx/ml2rvXnWW91pcSGuAPij94WLy3z20wnpmLtiWq3Kk4cR2cVn+7c/mNMtxamXl4X+C7yGRWVKV4Rl+aPiBAnjEvzVStFzqMZW7lyRNzcTrrNTqiQIVOQiFrWLF3Qei9S69v8Ab7LY2JS3W6nohAlhMu5k554qyamvR2fpv1O5eMdo1y4YSkbVfN1R8JHlgH/ieHjmun+pz/2vd+lfp/6m6Pb6ttLnSJyG524209xfNmJjAjXcjGZJOp2HhzxwY2euz8l738Mez+lnqH1DvBcv7a10jYC8LG22Vlp6LdqI1mL1IjnOWMis3jWp348PoPQPpX6d6VZ3Ni3K5K1u4xG5ndMTKdqJfyjICgOMmZayT4Zu16HpHp7p222248qxDb7e4XFuERESFulszYapaWcB1r8pjq2oQuyF2UQ7iRBr4mxPP7FFqwEznq+WNI8zmUQygicEBkihAmKAQFEAiEihAFAkAgECKBIBQBQJAMgSAQIoBAkAUUkCzQCAQI4IEgEFoDLbJoBAigaAQCoFAIGEAqGoGgaAQCAVQIBlA0UwgEAmoaKGVQ1NAihAIG6BugjMmBMxgR4u7NBGEJmzGLsTUHEuc0CvbeJ204zq5kTKQdxIaZiXGivNypX5r9edIu9I3u52chphKIuitIsTlmwXD2c51/d3463l54beUYkGeqAAkZjMSDuuLowT1SEi2nUKRGQwAQc3cxjGPlCQkQQbpGBP7lplTYlMQuGHxT8MAwJYY4oiFi2BbMmJiHFMiR+9VMaLEJHZ2rtNMCYamwY+Ee9bjC6wWswGcAJPi8QdR9+Cpjabht2b100lcebmrCTAUVlGbYxiN3dlUiQMC+YYeFUkXdRgLfk2oit8gAnBiCInuZBh8gG2ZAiIidNfxfOSs0jf6QNq51K1uL8NdnZ3I3BZfTq0vo8XykyILqK9t07pO/6fbs9aNiVzdT226uXnDCF29OVvzDIFwYipM2EqaXVk2JvnHgd020umGoxvQ8ekioLO55lZxXJva7k5TmSZMDIn8UqlaxLVcrkrNm1cGNq6JGmYkClnglyx+ouh7nzrVq4Ka4iRB5hyvkx9uvQ2BRsFWV9qmH8UGgagOPJUEhE9rZKCiQ0kDAIISkBmqCMgRSv3KoPEZUfvQWwhQg96CM4DLsUVTIHk3BRdZrwHacKKLFcI+Liotq/Q1XdqhlWdTEc+OIQ1PRWisiMt4CLtWSUczciQDY8SouuTvISLsKAP3rUSvNdV25lEtgATIrcc6+feoNjKULnhxfSu3Feb2R4yZInKJoSfevVHjVSMokkZ/YqiVu9KEZShh80MVLJSXGmxu4XIiMqP8UZYHsPylZvLc6KV65bg8X8slmxD8+a1OWftU7Wq4zYnEYKXk+z7T9IvWHRLm4h0zqW06fsdzctjb2+rXgYAiDabZGEZ3CxM9QqAn2vPys5nXx8vud0dO2ZG5j+ROxp/UW40OiT1jIAylHxaua6y6xZlV9S21jd7WG3tG/Pby8RvyeMIiRxi7SnKrgcalalT/lfs9tK1aFmEibW2gdvblKtyQMnHmT+aWZbNZkXWi5C1CAgIuaAjnkERKbxttiYigyHMlUK1DSJRc+ImRPOWKgkA1OCBoEyBIGgSAKBIozQJAIBkCQCAUAgWKAZAkAUCQDIEgEAgRRSQJAigSAQBwUCVAoLl0ZJ0DdAIBAIBAIHmgEAMUDQNABVDUUIgQCKaAQMIGgEAiGgEAooVAygGQSCCMy7Q/Fj2BA4hplsGdsqoHMkjRp1RNZd2So+e/VX0rHf9Hub6yDK7sIzumIiJPakPHD8RGYVvP3mflJ19br4xbsbO50y9Z8zy+o7ERItSJkN1ZusYG22E4CpyI5heOV68ci7YaxOZi0pMLLYM/iUHF3Vvy5ARGo3Cx7BiFrWbC20fIuW5/FaJftBcMexDFUSRauRA+IPH2sFUXQLWbwGmJ8BmIhojUGLDtCusiExaFiEhUFycjAvRNK3iQNi5HGQiITbg4II7WW9RV0sWr24lCZFqtLsi0IOfFKXcmkiXV5i75eiuiIhbmzPHI9rKFU3YncWvKiwnMmV0t+FnDcfuU1cb/R72+obrbXrYlZ3ENF4fhjQC4AcZQJcAlKPrfru5t/Tn0xh0vfXo/wCpdUlD9LcjOUzuY25RlAT5WrUg5NMguvMz+zm+E3p35zu3dxqkZSYzk5MpcT9yzi2qtQncDB2LnmVqcpaN7Yh+iv6S8TESgOE4H8yJ7i4SpH6I9FbyG46JsbwqJWYN7AF8ezK+5Lsex258HLBBqiJAtlmqjTAudJqMigkbLjU/cmJqm5CMsQ0uf8EXWebCju2bYIoESauyolbB7GRExAgmRL8ASGRTlLhHHPAIiidKUBzzUqs1wV55MstQQtPL7lZC1fG1KpxBxJyVxlbCwGLnDNJEtOep6RYBUZr1ssNTDkomubu7dHavBMVy70XiWFQiuJvtpqBeurHuWoxXj+t9PM43HC681x6fO+r9G3Nu6bsI6oyDlejjp4++LrlXdvfFGIAFQuk6jnZWcxlDAtmGWows24jcuxBGk1cj4T2haiV0IWrkKD4bgyqHGNF0+rH2S8qdqYJ7lm8tfZo1Tg12GOE4ZF0+sqa+vfS36ybjpJ2/TOuzluujW/DYvtr3GzfgS5uWeMcY/LwXK8/X4dee514r75YlZlG3uLd6O8s7gfqNtdidduUZDwmBFCKrUspebPFWR1YA/A7y/mOJHZgqydAGAoEEZtPw5Z9yA+YHiGKBoEgSAQCAQCARQgSBIBAOECQCgEAgRKAQCBIEUAECRSQCBIEgFAiECShlQIBAMgsddWQ1UDQCAQCACBsgOSB0QCoagSqGEBVRTQCIEU6oBA0AgeSARDVAooQCgEDDoGECEQCTiSgeaCSCqIBuQEoicfFbuQlhIT+Uq7fwPi3rT6bz2nV7v+jQYXbM7+2J/wCUZ/24/wA0JY8ln28S3Z+f/Vv1dZMv4eJ6h0l7J3Nqzcsw1CFyNxibdwhpRmY08UnkHyXn+tdteV6jtTGWi4G0yx/DLnyKzFrMYGEJRMcPih94VEY24jS3iADgnBwX+xVmxE+ETu6fDcEiI5EPVEQswld24IBlMORACprkqmNGxmIz1CXhIaUcCx4jJlUb/S0Yw9VbC3cjbmLt+NoC8HtapvEGcTiA+HFNWRX1fby2tmNmdueq1Ly7t6YYSqdFyPKTFarMdb0d6a3nXd7Y2O1lEb3eE3LAmWjKMIyk85APEAxaZOAWGmn1r0kdB9RbTc27k5279q3c3h+G5a3D6dzYnEDS9u5bLcQxXbvnxGOa85619TdX9S9Vh1LqN834wtx2+2gAI27VqHyxgPh/EeJWd8YljhG7KciYyOjCQdgea3yza1bW27yNGw7SujGluHjAe8ZNms9tcvrn0k6r5vQLW3lLx7Um2ex6L5Pt5zqvsejreI+pbS88XfFYdXRhOJD5ihRF8LgADvXAoL7ZiXeh5qs1TdrRsEWM8sf5sEVAiQ7xQZIEJF0VMTFXxyQRMpHA0CCMpAhlBnkSTy4KLF9oPHgFUrZAjQzd6rJVwAxRFUpEHTkKDiiqtxISq2TMqRzdyCQaYVHaornTiZAsMMVFYd7ZOgCIetSrGbHn+qbWJ1AxoBityudjy266XQ+Ggiy6SuVjznUOkQJlLTyXSVysef3PTDGTAdgW+enG8qLWylbvaiKALv6/Nce/DbZsTvicbRjHQDdjrkIAiPx+Itllmu+uUiQt6rbO71B5pYQWKHROmRdZUDXt7zxcNghH0/6YfVfcenr0NhvzK90W7PVO2KyszlQ3bP8A9UcDlVceuLPMdue5fFfovbX9rudra3e0vR3G03ERdsX4EGMoyzBCc9adc5UiFtklAiMGyQNAkAyAZAkAgEDZFJkAoEyoSAZAioDJAIBAmQDIGgiUAyBIpIEgKoEgTFAKUIqAVAoBAIJsurJoAIBAIBAIB0DCAQMIBA81UNAKKEAyACBoBQNUNAIGgAgEAgEAFA3QMIBAwEDQQk41Nn4o9sUGfqXT9vv9lO1cJgRIyjMB/i+ISHzRnGkh96sqPFWvT9rpl+fTrlsytdV02o2pTa3KVn821CNwgtd/DG5SUXYgrN5z4bnWvKeu/pra3G6lvuj2J7Q7mM5XNtch5NmF23LSYwLkDVFyx4Kd+udTfyvPszxXy3qHRt306cIbm1piTKItlxKEoGsSDg+IyOS8/XNjtOpXMuWDAxY+B6PwKSrWa7CYFSTpOg/0SwfsKrNU25xFzSJGDMJAFm4SB7UQXJteeYe6BpukZxf4iFUq65u4m752k2rsZa4TekZwIMdNOIVRb1frH+oWTekxutpIeVAJagzk4vglo+sfSO9sen7C3u7kLhvCcbVjexhG4LYnquxFwU02bsZGMyC4Z8MLzyl6ed+sPq3pm99Q7jYdJuDcWhLzOp72Abz92GHl+IAkbcR8sS+Zl176Z58PnJInH8uWqBd4Dj3rC2skZEyHhZ8eZddI5107Noi0IgEkYrbCF+D6YSloBzkKA9yz01y9T9Luq/pOrXdrc8Mbpch8DgV8/wDZ586+n+p14x966fMSaOTYrzPU6kGbFgaKpq+LswPi4GjoauhLiHPDh2IglA4DDirgz3Lcoyxocxh3qNSosKt3oFoi+DntQGg8aIIT0xGluzmoquWDGp5IIt4ufuTFXxg7DF/tRGmFQxHOqrNWEVD4CiqM1yPjJFSEVXKLjgVEZb1okGlTV0XWAWhqlwCjSq5CMrZkzB/cqzrl7zponEE9/wBqsSvO9Q2J1mQoMaLcrm85v9gwlKma6SuXUecv7Qa34lmW5XOxxt2IncThE0j4XyLYr2+qZy8Ptv8A2V27Ynpk3hjJiDgxousYxdajPSASAYkimJIKVD3Fvx+ZEMJDxf1ZrFaicoebZE3eUaEZoKgTEgjDBB7v6cfU7rHpPcGyAd70W7LVuunSLEHO5YkfgnywlnxXLrjzs+XXnvxl+H6R6L1vpHXel2eqdI3I3OxvOIzFJQkPit3I4xnHMFTnrV65z+zYVpkmQDIBkAyKCgSAQCAQCBIBAlAMgSAQJAIBAIpFEJAEoEilggSAQBUCTQKBIEQgEAgEE11ZDoB0DQCAQCACBoBBJAIABA1QKAQAQN0AoGgYQJA2VAEQ0UIBQCAZA0AyCQQNAIAgSDFBAxlp0GoJAk2JAqEEp2dvegfNgC40kcuB+7gqMlnZCzau7e7I3NpuAzXC/i+XU9FCuH6i9HdK610+5sNzal+ptkna3IsLkohtUCZeGU7ZqxxHaVfnxTLLsfLOv/SHqMbl+XTxCdkDXbtBwCNWkgGdYSfGEj2ErnfT/Dp/u/l8/wCoenurWNxes3tletbqwPzrEoHUIAPqbOPNc767LlbnslmvObzbzjdFy2PEQacQplS1G9bu3BG7biYkgQnGQPxZ15q4lrJLXqIjqgagwypyWvqzpW7krVwuDEjHUKexLDXq/S/1J6r6f6D1PpW00j9bb8uzOUBM2TqJloMsBKMjRsapzspceRuGRABeJADHsC3IxajbjIDwk1xW5Gdatrae4CtSM2umLZEaEiuCoqvgm4IkkMwBNRVZ6aiGw3N3Y9a2919JmdJIwPNeX9jnY9X63WdP0N6Y6gL+1tyfIVyNF8+R9N6mxckQ8QDxViVpgQThXMcQqjRCYpUGKC4ESxo2QVREwxJYhsEw1RO2OZzCixWwFWTF02oAQP3JiomDuWpkoaquRxwTDShbJPBMFkYkT4kU5BBqtW85YZFakZtSk2ksWbAfeqjOIyNBgTisqcrYjHxfEqjPeEZUzUIwR20tRADj2KY1p3LQiB4eJIGCqayDbGUpSuV1KpXM6j0+2INGIMsDyCrDyHVtkYmXB8s2otRLHmr+1Bu4cW4LprnY8Xp1TkTjrP2r6cfLs8rLgM3t24+FvelCjEmbCPxNL2j96g1xs64mBxOHIpYI2fBIwkK4MoqNy0AS2D4ImK7f5V0SdhwOYQe1+nP1D33pDqsrkInc9H3co/6ltI1Moxwnb/DdgMDgcCuffF+Z8unHf4vw/Re39ZejNzZtXtv13Yzt3oxnaEtxbhPTIOBKEyDGQeoKzOm7w3bfqPS9y36bfba+5YeXetzc9kZFPtE+taBpNzyxOJufgEgZezFX7Q+tMxkCxDEKoTIEQgGQIoEyAQDIAqBMgGQCBMgGQJkCZAMgEUIFiiAoIlFJAIBQCgTIEgSAQJAIBBJdWTGKBoBAIBAwgEAgYQCBoCqBoBAIBA1A0AqBABA8kDUAgFQKACAQSQCBhA0AgAgRpIHlTtQAfW5+bAZOglSRqxiMQcD2oIC1a0+XKLwl4gDVpCn2II3IEXvMDCchUtQuGk/KQpIIOX1b0zt+qWbb67W72g07Xc2ZAXowk724zliA/wAMqZLUvjL8M2fmPM9X+nvRt7enLd7Mb24TO5C/bjCxOWoAEMA2qFcfiwlxVTHnf/8AKvO3NnaXbt6/Z2xjLZ9RuW/JvRjCRlCxftReGmOUn1NmpZCWvR7T6L+l7t2V/qVv9fcmfMlC6NMIzb+VtQ4Or9sLxtYPqB6K+lPpP0rvOq7zo+0sbuAfp+21TE726Lm1bgDLVoJPjy0iq3x3t8sdeqSeNfl+4dczNhqJcsGFS5YcOC42bXaU/KJqautzhzvS23aDMPatMa02LWmTnIYJrUbwImL9j8kVlkPzTSgMQSeYKxWojdtibQkNM4yE7ZyDcO1c+5sx04uXX1P0L1g+TbtSk0SBU5ZL5fcx9fjrY+o7C95lqJiWfLiApF6dOI/FVuK0ykNOoZg0PFFaYgEipLYIlaBCOlVlnnacuMMwosqkwDvjXAqtJ6InkoaJmMQBJvGQIs9SiKzahVxXiVTURaBkGqhq+NqMSwyooasowrTMduCqCNsSJfAB3Q0tIFUwQkIEtiCXH8UGa5ZJkdOEix+9lDUDbGrhEYBBA26nFmz+5UY7gHilLAVHBioMe+tDyyAKhEeT6rYF4NAPEMH7KrULHmb+0a9KXCoW3Pp87LAyOLkt3mi+q+SZlp8IDlqpamI2xLXbiA8iTbPY7xUVts27mphQu1MX7CglegLs2EdF+Ieds0JbEhZWqzWIOYVRXdtCcGOPEKoz2zdszcAybhjRXGZV9w7fdWzHTbM21R8yOeYZRrVGy8+3fMpeHR8AgGA50ZPrCVt3FuWobnb3bkLwxnGcxJ/6gXU+sNr2Hob62eqfTl4bXqFyfWulFgdvubhN22BnZvF5f5ZOFz69WeeXXj2/jp969Iev/THq2yZdJ3Bhu4B7vTtwBDcR5iLkTj/NFY+38un1/MeiZbYJkAyBEIEygCqEygGQCAQIoBkCZAFAigSARSRCRQQUCZAMgRUAoEUCQJkAgRQCAQTXVkBA0AgEAgHQNAIG6ACBoDJA0AgEDCAQN0AEDQAQNQCAQCACBoBAwgbIAhA0AgAgaBsgGQMDJAGtMwXBQIExlSvLiEC3dzb7WxLe7u7Dbba34rm4uzjajEj5tciB2pq48D6i+vP036MJy2++n1ndB2s7COq2Tg0r09MB2h0iXqR8e9Qf9xfr7q+7nZ6H5PQNnKjbeIu3tOZleuDH+mIqr9dS92PCdU3m+6huhu99uL293Egf+p3V2V67KtSZTJIfgu05ceutUeVCNQMVcZ20tIB7UqxO1aJ/gsVqRrtW4SkTIiMYipOHAe1TGmPqHX47YmxtqzAYyodLHMjA8h3qXvFkW9J3v6+xcE5NuoSc6iax+VyXPJ0l03F8tJh+bDQSSwyeJY14hY6jcrv+mN3K3PTq+A0PIrwfscY+l+r3sx9i9P8AUns24kueC8kuPZY9VZuwuDm+JXWVysXxYE/Yg0RNNQcngERsFYg/4Ksq5xB5FBnnbfGTcwi6ejSHJplzQ0iSKtjkiqJGc6CTVoEFkBpiHlqOROJTE1cIVxdETjDwvhxZUSarZjEoIyjTnk6lAIUfLIpiWqp2jrJBOFRl2oKbsCQAMXRUJWwS3yhBmuW4u+eaqse6gDBjlUyb2BEed3u0jg2kFzLtKjWPMbuyDeIAZ3AJyC3K52Pk8omN4xzhIgvxBK+o+PhxiZlxn8T0ogt8l4XNOqMtGsTAqDEsWPetSJXmP9S3pIkLmkCgiIxZuDMuV6rckdLYeoJgCF8iOn4anQWwDtKUD7lZ0Y71uVvciZtf3I+KVs4txpQjmFpFZEQxBxyRAbAm0oz8XAq6YsNn5ZxBJYicWcFNTFV6JtPKES/zFmpxRMUw3OmhwKoo3trSRIUeoKJhbHfbvaX7W4296dncWJa7N63IwnCQzjIMQs9cy/LfPVnw+8/TT65jeSs9K9WzhC8Wt7frAAjGUnYR3Iwif/MFPxNiuF5vH9nonU6/v/6vskoGONeBGHuWpdZsz5RIRAQgTIEQgGQBQJkCZAIBAmQJFJAIEUAgSAKBFAlAioBAskAgSAZAkBRAkWJsurBoBAIBAIBA0AgEEgEBmgaAQCAQDJoagAgaoagEDQCAZAMgaBsgAEBmgkgEAyBgIGMEAgbIGgEENzf2u02l3eby9b22028TO/uLshC3CIxMpGisHxL1x/3Kbewbmy9F7WN+5Eses7yJ8rts7csZf1T9i19Gfv8Aw+Jde9ReoOv3/wBV13qO46ledx+omZQi/wCC2GhEdgW5zHK9WuRdM7sxEeImgClab9rYhtg0v7hAJPPgtSYxbasN6LyiA54la+zOFGp48lNakWwtElmpmeSza1jZbtwhAmREIROknGpD04sMTgM1lXC6n1yUx5O0lpgKawT4eOk0cnOXsWb1nw1I4yw01dN3n6PeQvsTAPG5EZxOKS4WPUyjb3O3F/bze3cD3ImhfDUOzCXBb+Un9Udhv7m03cZzHhwuRy05rl7fX9uXf1ez6da+u+md3ARh4tcCBoriCHA9mC+RZY+1u/D6BsLnhDFga0W5XOx0rdwmQOmscSysqNNqRJxfiFWW2FI4uFpilMH20UVQY1c5ZoqOsk4OMkMQIlmanEBVQIxFcO3FEqwY8hg6MrYiZJBDH7QgmGJIbBCjxZfEckESZFiRThwKKk7mmWXFGahdBNT3qkUTt+MMTQYZLKoXAWZu0oqiUTQN3pq4x7iLhmxoBkg4u9siUZPUgt/BGnlN/a03iRSMK1oKYrXNY6fIL7z3t+5GolOZDYMSV9SfD41+UhCMWBfTiWWkS1aI3r9w6YRtSfiAQ8SB3Kyo8WPhHYuLoaDVs+oXttKAB1W4nVGODHjEio7lZUsei2vVNvuQ8jquAPOTNLtkMJdoWpUxrE4gEgj+U4uipx3MWEZxBjm6CZht5A+Xck2YFR7DVVnGDd7XSddnxwIeQiCGPYUSxGBjO2YSDhqKmMV21K3KlQqyVu6YHiDilWPo/pL6v+suj9Ps9O2++hPZ2f7EN3bF4Rj+DU4mIcA9Fx/1z8O09tzy9js/+4LrVi4IdV6VtboP/wDXnO2SMiNWuKfS/in3n5jubf8A7gPTtwgXek7q1xInbmBx4KfXpd5brf1w9JGUfM2u8hbkHExGExypGTp9aby7G0+qfoTdQ1DfysyEdRhetTgfsIPcpl/hfH8u50frfRetQlc6VvbW7EPjjbl449sC0vcp9l+rbKGmJlIiMIh5SkWAHEk0C0mMey6t0ffXZWtjv9vursfit2bsJyDcoklZ+0X61rIK0iKAzQJAigGQJmQRZAIEgCHUCVAygRooEgECZAIEgCgiUAixNdWAEAQgEDQCgEAEDVDZAIGEDQCgFQMgagGQNAwEAgEDQDIGgGQNkDZAAIBA0DAQDIJMgAEDQDIGAg5Pqv1V0P0p0afVus3jCz8O328GN6/cb+3agcTxOAzWuedZ66yPy19Rfqb171nvDLdzO26bak+z6Xbk9m2BhOf/ADLnGR7l18TxHO3fl4gEmRfioVZIUAJpxxWqzGjZbWQ8bapE/lvw/EsqvnaIiXlXGmZU0xnIb4QX44ouLdtGUpANXgpqyNs/K28PNukCIDkEthgX4Irz3VOr3N3IwtvCzgctXdVo8vasXpZy5qw0FRIB6hB0ujdRu7O9Qval8QxZwzjuxVg71/bWb8BKxGQkwMYY+DDUD80X7wtWfwzK9n6A3xns/JuH8zZzEDztyrBjyqF8z9rnOtn5fZ/T7+3Gfw+udKvm5YhPEgV7F5ua9HUd2zOM6vTj2LcrnWm0SSMh71pG23cBBBpzyVYSIzSiuVSWYlBGQmA4i9aqqjdgAzY8VSIwjqD+1CrIwpUIyujFg7NxKYmpiDfvTApRHNRYruBi2BxRUSWq7ck0JxIP3lEEgTyZBRcZ6Yx+9StRRdJwHCvFGmS7EmQ0imdPehjmb8AQLFshEYor5N9S/UNvZCPRtvJt5u9J3chjasyL6X43PsXp/X9e/wDZ4v2/bn/WfLwwOiALB5AYfYvc8BuGb2lBh9Q7uNnb/pR/ev0u/wAkYn4fu9qlvhJPLzZC5tBkAVRKE5RNPYmjq7HrcoEQuCnHl2LX2THas3rN0AxkA+XaqLTGUJCjPWoUE47nSwukGIwkcQ9KKozbi2LR8y1/bfTJjqEZY48DkrqYrMYXQSA3JWUxju2dNQc/hRILN2UZcjkVF12NrfhO2LN4a7ZwOcexRrDuWru1Phedo/DIcOarK2xuASdMzE/hyKDfG5OEf5pVbgqLdtutzY3UNzttxd2l+2XhuLMzbnE8pRYrN5l+Vls+Gz1Z9QfU/Wen2tp1XqV3c7TbDw2hpt+ZL8V3QI+Ye1JzJ8NXq35eM2/Ud9Z3Edxtrk9vejWN2yTCcTylFiFm8ypOrPh9x+nP10t3YWOler5mN4kQs9aYCGnADcgYH+cU4rj9bz/WO06nX9K+yjRKEblucbluYEoXIESjIHAgihW5dSzPlEhVCQJAIEgiQgTIBkAoBQIoEyBFAkAgECZAnQRKKEVMLq5mgEAgFAIBA0AEDVAoGFQ0AoBUGagaBhAIGgaAQCBoGgEAgkgEAgYZA2QNkDZAAIJCKCcbUyDJvDGspGgA5nJNMeF9d/WH0p6U2s7e3uQ6v1oj8jYbeYNuMvxbi6HEIjgPEVrnnU66kfmX1V6v676n6tc6p1nc/qd1Pw24gabVqD/27MMIQHvzXVwcIsXL1GAUVVJ3B4KNRs2G186fmSH5UMRxPBW1I6R8EiMZEYDBZqqDCRrIiPJFFvbajRwMTJRS3G/2extmJIlcNWxJKu4jzu939/dze4Wg7iA+9YvWrJjOMVlo9FERECqKutW3ofarIiQgYkq4Ojst5KERCVYu8S5EokfhkKgrcYtd7pnXd9s7xltr58yQ+URFxgXads+G4OcarHs9XPU8uvq9/XF2V9I9O/VXoENof9Ut3rF+1TXt7Zu2pcCQ4lbkT8pB5L5vs/S7l/6+Y+p6/wB/jqf9vFfV9jubFzb2r9mUbu3vwFyzdhWFyExSQK88r02OhaNQWILU7F0jnY1QBNRVVlc3haXeqiLB6YKKkDE1zVRVdEP8qqxU+dXdgi40BzFsuKrnVsY04gIiyRDBkFVyRcPRStRVPVnjkoqqRHBzxKi4TNV2HBDDdwGNTihiq5MtTEnNTWsU3GhHiTVTVxl3A12pQ8Q8weJjgGyKaseS9W9b2fpr0/c3117ly3+Ts7NyWqV69IeCJOLR+KR4Lr6vXeusc/f7vpz9n51nf3nU+qS3O4uG7utxcNy9cOciXPcMuS+pJJMj4ttt2/LoSjGR8PwCkSMGGKCO63NrY2TcuVvgOAW8OoeGmcz8oyxKGvMbi9c3F2V658UsBkBkAsVVDKKGQJQOKAaqots3btqeqEiOI4ojsbXrt23HTc/tn5CNUPYfFE8we5a1Mdna77pm4tvqFm4DUSIlGROAEsu9VWkWDciYiyJQI8QidLxd8cOxVHNv2Z7e6Y18snwE0LcDzURVcjqrmqMsoVIzQxq295w3BRa6+23A0gGv4onBFxK5GAOqAEZcCqlRjcufOamqpEpbqWlveoY5HULvmXIWncAvLtU0rTs7AJiZFhmWcqRXTs7e0RU+Ij8IWomPU+lPqL6h9LxFjZXRe6fGWqexvAG2XDHTnD/KuXXrl8zxXXn2WeK+4ejPXvQfVm3I2cjZ6jaiJbnp9z+5Efih+OHMd657Zcvy19Zmx6EhltECqhIEgGUCIVCQJZAgECKBFAkCQCBFFJkEShAipLq5mEDQJAKBqgUDQAQNAwgaAVAgFAIGFQBQNAwgaBIGyBtVA2QNAIGyAZBLSgYigYCCWkoLIWbksIlhieCmmON1z1j6Q6BbM+sdY221MQ/laxcunkLdvVInuVXP5fJvVP8A3IXZSlt/SPThCAcHqXUY6pS4G3tomn+eXctfRn7/AMPnPX/WvqvrNvV17qu53gLGOxM/LsDN5WreiDcitSSM22vH7u/O5MykXMi55qsVmRCJo2aos2uxvbibAGNsfFM8OXEosdm1CFqEYWpAEBgwz/esqqNmUJVLxLknmoqm9e29h5XZhhkcVRy95127MGG3GmP4+PYs/YxypmUpGUiZSOJKy0iygsjAlXBrt2HgeS3OdjFrHctmN1jgVizy002Y+IPgt8xKvu2gRqGK3YxKrtgCYctHiVmNVqjIXIaTVx3hbzWPgQjeuDyp3SbcZAwByb3rM5atfQvQX1Il6UuXdt1EXN50jcHzJWYSBnYuO2uyJHT4vnjn2ry/s/q/fzz/AJf+r2fqft/T/r155/8AR996J1fp3VunWOp9Nvjd7Dch7V6LhiPihKB8UJxziV83zLl+X1Nlmz4dSF0CoqOC1qWLYzdiacirqYsJDUwRAYvIEEMqIyqGw4KkUi3J+ZKNa1QiRQ1HvWnOrI+7JGUqMyixRMESclzwWWkDE8e9BAxd6KNIUzD8yiokF+AyWVKWnOJJxUVnk4mZGL81FRNqdwhqGVACWA5lVK/M/wBT/WEfUnqYjayJ6P08ysdPGAuVa7fI/wDMkKfygL6no9X05/q+P+z7vv1/SOBsiLE/NAq4AP2ru4Stw0WLYmWM5SJtW5YEBy55QxPsSeVtx5ff7k7nckuTbiTpfEyPxTP80v4LNpFEosFFivSVAmUESEEoBAEET7UVOIREjWiot27guMVYOrs99urP9u4YgVMMYntiaFaZdfb9U2e7gbO8h5c5/GR8EpZGOcW4Ivyz7/ZXdrcEJHVCY1W7n4h9xGahGGca9qKUTongz1VZrfbmWEgo01R3cxFpAS5lDEZXTLsTTCMmiZYAIOTYJv7mU41c4pUdyywgDKhA7HCiie5lXTRsGVFZncJeTl1Fb+l9S3ux3lne7K9Lb7vbyE7F6BaUZD7uSzeda5tnw/THoT1jtvVfRRuWja6ntxGHUNtHATIpOA/BPEexcubfiunUl8x6AhbYQZNCKAUCKoTJoRCgSAQDIIoBkEUaCAQRKBIEgniujmEDQCAQCACBuqAKBqhqACAQNAIBA0DQCBoAIGyBgIJMgAEDQMBA0DEaIJCB4IMvV+rdG6LYF/rG+sdPtmsfPlplL+mHxS7gi48R1T69fT/ZSNvZR3vVrscBt7PlWyf/AFL5h/upObU3n+XkOq/Xr1buof8Atuy2nRrBwuzB3W4Iy+PTbB7IlWcfyze/4eH6t629TdVmZbrqe6vgZzuyjGvCEDGI9i6TmM/a15uW1t3rxuykZyOJ/iiYRNjbn8mI1t8WLIrn378iS5cyzzUTWCcnmyinCL4hVFkbepiS4GATTGwbi9ECMS0Rgrqq57y8CzsM2UGPc7y7KpmS/wBiX4T5cu7quSLklYbQ0FsGQAgTRBZC1yVkKujaqr9WL03be2wD4ldpMcbWPf7YgmQxeh5Ln7I68VGGAISLW2AErRjmQun4cr8sd2Eoy5hc7HSJ2LhB5ZpzSxpuUni0Z4EZFarMqm/avCYEsqg8ea59SunNj0PpH116m9M7zzek7sWrd+UTu9rdiJ7e8IYC5bPs1RaQ4rl7fRz38u/p/Y64vj4fpf0b606J6s6Wd/0yUoztaYb3ZXP7u3uyD6T+KEvkn83avm98dcXOn1fX3z7OftHfhcqHPcpK1i+GRBoqlWRI00OGCrNRLv2IogYmowyTUsWQA+YqspgvhgmhTPvUXEGBJKBTER2oIyiSKCqjUQ0jP3oqq5Iu4FM3+5StSIaJEVLDiVkLywIiobmrImvBfWP1Yehel5bLb3dPUusxlt7GnGG3FNxd4ih8uJ4len9b1/brb8R5f2/Z9ecnzX5ttQ1XhGIYCgAyC+h+Xy/w6VoR1R16vJ28TuL+gPIxBAAA5qkc/qfUYX4abQOiZJ1SofLBOmDCn8x4lNMc23H3rMipzjQK2EVmCyuomOKggY1CCyMENE7dAeCBAUQPTVXBdbDKyJa12qKxF1ttVcCEsI1RB0gOWckOSantUaRIYtmMVBCQarVVTGrbnwM4pRFi6IoPdyRTD1QUb+4YbaQB8UgwZEpdN24tWRMhpGpRI1zmT2HBFOFsOCUF8QBiHzRVg8sRw9iDt+lfVO+9PdVtdS6fNpwpdtk+G7bfxW58j7ljvjWuOsr9I+mvUnTPUnSbfUunnSD4b+3kfHZuZwl9xzXLnrfH5dOpnn8OiYrTCJCCJFUCQDIEUEUAgECKKTopIhIoQRKBIEgkujmdUAHQNAIBA0AEAEDQSQCAQCAQDIJBABA0DQAQNkDQNAwEDAQTjGoAQfPfqL9Xtt6W3VzpXTNnHqHVbQH6m5dkYbexKVRGQj4pybEBgFr6X5Z+0182vfWn6h7i4Z/6jb2oIOm3t7Fu2B/tCZPeVPo196zXPq39SZWxD/X9xBw2q3G1CVecYOn0h968rfmd3uJbrebm9f3MydV67M3Jkmp8UyStxzW24WhES8yXaWdUVXLUJSDSMyRQyLlEqM7bRe4dERkMShGO/df8uFI8lGmS5No17u9QYNxKoqgqjDVc5oY1RtARJ96akicY5ioTVWCOk41KIy7o8FqRnpilalIVwWvqk6xXKyyz9WvsgbdVPqup27PFWcpel0LIGK3OWL0sjAArWM2rrEQJcHzSsxo3m2F2wWrTFc67Y5O3tGsDiFnmrW7bwEcRQ+1a1nC3W3eQkBQoMEIESMZexSNWrmkItjwWmWjazNyhLygKA1DKxLF3kWpDUAxwP+CuGur6W9Sdb9M9YtdR6VejCY8O5sz/ALd+zQys3Bhpk3aDULh7vRO5ld/R77x1s+Py/Tvp/wBQ9J9QdLt9T6TeF3aXJaDE/HaugAys3RlKPPEVFF8ey83K+7Op1Nnw6tu4X0xaimmLxMYsx4LbOGZgEAEDmhiTB6V7EQAkyINU0xNgC2fFXUSBiQ3tRBQChwQVkkEFFwGT0wfNRZEWLOTRFQ0RrIBy/coAiIx8Soz7m/tbFq5e3NwWtvZhK7euypG3bhEynKXIRDpiX41+VvX/AKsu+pvUG66vIShtrmm10+xLG1tbdLcTwlJzOXMr6nr4+nOPje32ffq157Y29UyThjImlAtudXbG5cu7+5eiTERq4x8JcCnYk+T8MPVoW4budqAAESSRHB5F6K9JyywBUi1ZLBlRXp4KBGNFMXUBHxqYrRG2CHC3jGoytsFLFisRopjWpRiXYq4zq+EWQXQDGqsSrQz1WmdbLYMolYsdC0Al8lBE2yyCdkESQaYtgEVICpGCKyboa5xgMsUTWrUSBGI8IokRZGLURUwO/wCxAxJgipAksMuIRVkRACoMa4hRHpfRHrLf+lurw3u2Juba40d9tf8AnWgX08pDGJXPvjfM+W+O88X4fpTp/UNj1Pp9jqOwui9s9zATtXI88QeBiaELPPWtdc5VsgqyhIIEgEEUCKBIBFIoqJxQCBIEUCKBMgAga6OZoGgEAgEDQDIGyAQSQCAQAQNAwEAgYQNAIGyBoGgbIJMglGLlkHivX31Q2Xpw3emdNMNx10RInM+K3tSRQyb47nCPtW5z/LN6fAeq7q7vLl3cbgm7e3NyU705kmeqVZFzjqJzW7WI4sxOxJnJtnCXDkstJi8wBxcompuJYY8Ew0wTEAhA47qcKCIc5poz39zcukkmjqVYz54Mmqq3E6MB2IlYLjkh6tgiLLFt5A/4orZpoVFO3B8PaqlKWBAxVjNrNK25Y1NKrpHOqrkWjUYLTOKtJOAdMWVE2g5NOxMXVkIOHGSJasECcRiiJxsyLkiilqyLrNpiXDBZtbkbIR1RqorlX7fk7oyjgVmrGiMcJDPNILjDVbbPJ1ply71nRc1cUEzAaHwyVEbRMJgjF2ViWt41UdaRLyxOLHAjFS1Y9R9OPVsvSfXhcv6p9K3+mz1SAPyP4L4j+OyTq5x1BeT9r0/fnZ8x7f0/f/r6y/41+kIXoxmxIlwnH4SCHBBzBFQvjzp9u8tULjs4duC6SueLQRLEY5KgIEasVUEdL1DOM0MWiUWAA71NTEjIAMFUxEviQGyCLiJi/L3IDwgtxxKBEg0y4ZooMhgWohhTajFzjyUR8l+ufq+O16fH0xtp/wDU76Mdx1Mj5Nq72rXbfkHP8o5r1/q+vb9r+Hi/b9uT6z8vgO5mZTL1Oa9r5sa7VvRYFvCVwOScnwCo0dMh5Oy16SZkkAxFX1AJFcC/XcXi7nzJ1xHxHBSrPhKEcEhTIIPuVQog5oIyQKEXk+Sknk1qEGC2yRFWZBUYRD0TBKEA/NC1eIhkRMReKoZIxA7QrjOtFgvGhqCsV05vhfIEBZaDOByTDSi4B+1RV0aClUEySS6KxSkZX5cizoy1woMa8EaWRJQXC1I4fDxKCQtxBeUhq5IEL1sFhhm6gkNxCWIpkoAXPw0L0KD6R9JfXp6H1EdM39z/ANn30mJOFm9ItG5yEjSXtXLuZftHbi7Mr73OLEjHmM1WbFRREUAgTIEyBFFwkUigTIEcECQCBMgCgigkujmEDQCAQNAIG6AQCCSBIGEBggaBhAIGgaAQMIJMgaBoJRCDm+rOuw9Pem971aQe7bj5e2HG9cpD2Yrfr5+1Y76yPy7uN1O9duXNZuXZSM7t2RcynIvIntK6W7WZMjLNySZ1jIVCyqmUdTxlWWEuY5KYMRe3JjWJ+En7FNXEhcIBY/F8S1KyuhdDAE1SqZDgvUZKYrPKLAk4LKoyGRPNBk3AkcKqpWT/AIsRxQa7IqHx4qK1CIY0qzLRSDiNAKZKMkIA4rUojOEMGxV1mxku2jgOK1KxYr0EUwWtSwShmmmJW4ZAY4qWrI027REa0ks2tTlboFPsU1rC0sQeKhi6LAg/s6qM3ULIlb1ijKdLKq2kyYsclmVWuAiK4raYo3W2iRSpqyGM9n8ByCSso3LTSJ0uqY22YQiCYjwlixrhiU0xbEPhiMlFJpToCzVEuBRp9v8ApH6kG/8ATkumXrk7m66LKNqM7lZS2tytknP8uQlbrkAvj/t+r6d7Pivufpe378Zfnl9E294GufELhK79RrgJSNQy2zU425GT6WJ5oiwWyz6XI4qiyODYNiiETXF01UWGGaIMRj3JoTAMI15qqNJOA7yoh+VGJc5jBBy/UfW9l0Dom96zvv8A7TZQ1eUPivXJHTasx/muTIHvyWuOL1cjn7O5zztfk/1B1nqHWOp7rqfULnm77eXDd3Eh8OqTARhwhCIEYjgF9bnmczI+L33ertcyxCMrzzpCPikTicgqjTuIynJgHkQSCMQBioLYXza6fKTkTEDKMOPhJb71YleegNLAZUpyUaaIAFkLUpRJKIjpcnJqqxETEAGjqontrJlJJ4VrO3DJqYrlA+xDFUohqd6qLLVokOMOCoulbGmgLqGCESxb2cFQjF+1a1MatvBo0pmVz6vl05i4xDNVsys6uFU1wChhxAlJFSjg3PHkgsMgIlFc21PVMniXSsx0rMdTHCKka1dGcIO3eTwWsRVPexxemDJhqo35kmgqUxNA8yR4FBfZsTJYnFZWNAtxiCJT54opwuxB4xND3qD9EfSL1ievdA/07dzEup9KjGGonxXdvhbuHnH4SuE8XHe+Zr28gtuaJCCKAQRQIo0SBFEIoqLIBAIBAkESgYXRzSQCAQCACBoAIGgEEkCQNAIGgaAZA0DQDFBIIGgkAgkAgp6n1PpnR+m3uqdU3EdrsNuHu3pVqfhjGIrKUsAArJb8H9350+o31N3/AKr3Ytwh+j6LtpE7PaO85HDzLpzkRlku0mTI4268ZC7I0A8JFShqzUBgQQRkoqi7KUGMfiFQOI4KKr3dsTtCQx+YDIqWEY7U2LSNVmVrGkaSAc+C3rK23LEEPkOKIJ26MKnis2NRTO3Qn3KKw7ktEoMVkyO4iceRRI6NqPiRWgMHqqVAcMjgqiUWD6meqIhIl6qisgcETCNuJTUxI2Y0OICauJCEQaivEIuJkEmpD8E0DUDmuSCB4ILQfDRVmpGOu2YkIOZKErG4INIyyXOtNluTB8VuUTIBjzCox3YGEzIBwceSiYk8ZBxUqmNNgy8uOGgRaXfkoi6ID1oGwVEfMlAgWw5FT2Kq9H9PvUMuieqdnurxI2m6P6PexFYeVuCIiZzeFzRId68v7fr+3F/meXs/S9v09k34vh+gIynbkYyjplEsREvUFl8WV96x0NvdADy1al1lcrG+2fmOa1rmtDc2TUIwBxcuioStEDhwUXSoKAN3ogAg6B6xxHIK6YIyJIGLJqHJy0R4iSzDEvgyaPz19a/Wp6x1o9F2lwS6T0e5KJMTS9vW03bnONqtuHPUV9H9b1/Wbfmvlft+37X6z4j5jbhOcwYCoOPNep407toWRO0Bru3ACRkAFK0quSuQvRjKTlgBLOqmrmtPWZGzs9ABEpgQc4EP4vcB3LTLgtVZaabQZqIiRBJYUQGju4qpSlbyTUxqsW9MQwbJRWhs80VTcg8uRyV1LCFquRfFNTE7cACw7E1rFsgNLe9DFegurqWJGy0nPwq2ki62IsWwzKxW0jTvUCoSgYDEIJRHiAyCCO4IhalJ8sEKx9PtSujX/wAOJx4qfI13d5btxMbZcxoVvGdZ/M3O4LAtHiFUur7e1jFtZcqfZrGjTEFmYdiyqyEQ+qQYZIoubkAeEYIM8r0pmuCiLrWoYUCNPUeiPU249Odf2fVLZJtW5C3u4D57Fwtcj7KhcvZNn9W/Xcv9K/UOu1dhC9Zlrs3Yi5amMDGQeJ7wkuxbMqJRlEhBFAkCKNEiEUUkCKBIBAIEUEUDXRzNAZoGgEAgaBhABA0DQCAQOiAQCCQQNA0AgaBhBMBBbahqIcgDGUiWAAxJ7EH5t+qnrq96q6/ctbS6f9A6dM2un2hSNyQpPcyGZn8vCK7yZMcbfs8R5LnxGmLpq4LkK0o2CaYhbuGFD3OgV2ocV4rNVVsyBcNlw0wdMcxLh3ojJfhKF0viMVityr4XAYg4vQMrKli6LvrHDBa1laCCDmylVC5EGNKMpWnM3QoRjzUGbah7hLNwCEdGEZZe1BYI0H2KlRlGTguwKqF4ahmURGmSoCHxemCaBsEDOAAUEo58MlRJhQnHJAtGFWfAJohIc8ME0TicAysRYGEnOBGKqM3ULOvxRWeo1FO3mTEROIxUlWxqiWLZFaRC9DU4OOSCiOqsZY8UGm0SxADxBFDVEX8RmqgD6qnH7UU5Q+IRloLGJIxAPDJRX6A9Hddn1n050/qEpfnTt+TuyA3/AFFg+XcLHi2rvXwPbx9OrH6X1ez/AGcTr+XrNpPVECvanNOo6ECwAzW3PF0NRHJETBkwZBCRJoTTNFVMAauOaCZiCKIEIjGiJUi0RSmaDx31Q9Y//G/TN29tbgt9X3xO06YWcwkYvdvt/wCTAuP5jFdvR6/v1/SOH7Hs+nP9a/MN+1KbGLi3GlammZJxK+q+NWm2IxtAQwkGjzKCF5oE2qGUsZY+xBzrkpy31qMaaC/a1Vm/KxPrs3u2bb6jASc5Coi3tC10y5tuJJUVsjAgICjhu9BLQRgiJCGZxzQaLcGAHeircZAKiM4hgcTkMFFIRo/tRE4BnPtKqkQx/l5qAYoJSchEhwcADDmlaTkzqBZcCigDvCCyMSC74IjPvK2jHiW9qFZ9xuhCzHb2aFqsrIzUttsjMa7hYD3q2pOW6EQBpiGArTgpW02GagY0gAyNMQEFN3cGVBxwQVCJJ41QXQtMeLqaq+IGDqKstzMSQC6D9EfRn1Eeq+kj0+7PVuuky8pzUmxPxW/ZWK4c+LjtbvOvdSW3NAoEgigRRokCKBIBggiUAgECKBFA10czQCAQCABQNA0AgGQSQJA0DQNkDaiACBoBBJAwgkAglEKDwH1l9Yf6T0aPQdrd8ve9Wtk7q4Pit7R2IjmJXTR+Drr6+c8sd38Pgpu7aAEYQAADAnh2LTMVSuwkWcBRVUtTuCDkAgg+qkgHPuTRXdEjFonwhNGXzBbuQm9QQ6amLuo2YnxRoZHFYrcYrcjEh8MmUG2E9UWFOxaiVOBAPB8VpFv2qWLHM31s6nxc1KytZdqBC6a1JwUo6UWYFagjIl68FU0yPAK5oEc/sRCAcOMeCBNTgFAEVY96ocgH5cUUAB3KC2RDx5BDA2DhRFVwe3JA7dA+LYFUWSj4R7StMoxIm8cVarDch5F8/hOC5WZW5WmExOIqx4rcZqw1gCEGW7GWoyxbFZF22MfmJAph7CrBexJqaCvatag1MGbsUVOMJOZSlp4OHUwfTvo71MmPU+l3LhnKBhvrEZULS/KuiIHPRIr5n7/GWdPsf/G+z/ref48vrmwnqAJxyXile/qOjbjNqEvxW3OtEA2deauolpPFRD0sKBuBVENB4UzKAMcslQhwPtU0RlEylERLynLSI8zgpaPzT9UvVUfUPqrc3NvcE+mdPfY9Ob4ZQhJ714f+rdc9givrfr+v68/1r437Pt+/X9I8oY0EYs0h7O1dnnMQjbcSALl9XDsQYN7OX6hwGILOghsxH9f5kxSIJBHEAt70Kwb25K7vbxNBGWiIHCFB+9KkSsWVGmwWg1CxCqKvKkDy4oJiB9uaCQjXByqL4hofYixMRdjgDw+1BKQw0ihUFRAEtTO+SirOYNPtV1MQuVcKKUCB2ZhWInI0YVCqww+PuWQz7ggVaUdFiyADd9QoJfKQqjmdU3GkQjE+Il0SqtjZBn5k3JVMdW1EmPCWQUWpSm1M+Soc5RgXkclBnN3zD2YJhpwgZS7UF0A2HwrKpg1PI5IHGGLhBOLCQIRXvfo96hj0n1htrdy5o2nUQdpffB5VtnumFx9vjz/Dr6v4/l+ibkTGRBoRktIrOCJhIIoEUUkCJQJAIIlAIBAmQIoBdHMwgaAQCBhAIAIGEDQCBoDNA0AEDQNkDQDoJBBIIGEF1mGqQGHEnADig/L31A9QH1F6v6l1KJP6Y3PI2gckeTY8ESH/ABMSvRfHj+HDnztv5eauWyaAMMlnWrGa5ZIONMCrqYrE5wPxM2ZQTjurM3DsOPNZsWU5Mzh2PBRrWLcRY6gQQcQcEG4/nbGzcNKMeRCisEgQWyUE7VwA8HFHSDREv2iq1EsWxk4LnBVGfdRLEjL7Viq5sfDcJGPBZab7MgYu7rUROfY371REvodUDPEogxogUoyGOGGKKGcB/wB6ICJMOainHCmPBBI4KoYfDMiqiIXQcSgIYduKqrJEiisqK3MZgnsoqyW7twuR1DuIUsalZdvcIJgcRmsxa2RZmdnqtIhOD1YADFQV2QYXhpYvQAnioNbs3sHBUSAALNUipVEhB6DLNB2/RPVLPSfVvTd1MHyZ3P026uA/8HcDy5EDlMwPcvN+1x9vXZ/y9X6Xt+nslvxfD9G7CJhI25HxRJEu0UXxea+91HatxcAaa5LpHGrY2i5JKqaZtjKuSGkbUQQrDR4SMk0KYaP2NioRVpMgS7jIniivHfVL1LPoPpDeXLF0R6jvv+g2EgWMZ3YnzLg/9O0JHtZdfR6/t3/Rw/Z9v04/rX5rAhCMYQiNIGkQdiAzDtX13xFjGGkRkcKkfYgU3lqhMgiVQWYhUcy9GU7hty+KPwtmsq0Wpi1YuTMXuQBZ8MDKoy8UQrCuHZ1T8ZLykSZE4kmpKg6W3skAEoLJOHGT1RRi+rKgQMRDAYNhVVnDjHxU7uKKtDCPbgUUwaY0RE2c4UAVFc4kF2oVmkOA4uioT5IFDHtViVaWcNTkgAMx3DmipFgGyKgjQl8FFWRpB1RXcmAKUCDj7q5r3PFqQCusOjs7EhAEj/BZabJyjGIEcVqGoXJxtDVIPI4DgqayvcuyrhxSsr7dkMBLPFZ1qLQAMFBIFRR5gDge5AvMkTQYoJw1cainJBr2182rludsmN61IThLhKJeMn7Qs9TWua/WPReq2+r9D6f1WGG9sQuy5TIaY/2gVy4vh17nlqIW2USgiyBIEQgRQDIEgSBMgEAgggkujmEDQCAQCBoBAwgaBoBAUQNABBIIGgEDACCQQNBKIQec+pXqM9A9Gb29Zk2+3/8A0OxGeu8GnMD+S25W/XPO/wAM9/Gfy/NU7flxEIikcStayrlpOGBwKgquRaPPIBBmmQQRIOOKaMl3Ywk5hIxK19mfqo8zd7YuTriPYyHwmd1tr8SPgnixos4v2benv+ilbmXlCZIL0YijK4uqLsdPNYrSh64t+9BosTcOa80hWgOtMleBMDmixzJwMZHT3rDS2zNuSaNADh3YcVUEgNLAklUER4eD0ZEGmj9wH3opCvYBRBKA4nBEpSAYceKUgiHwDdiKZGL1QMH2lVKV4+EMcKKERg3cqtWkOXI7wjKBoGIxwWpUw7UwXgcckIx7m1K3PXhyXOzGotsz1RdsVZSrZDUHegyVRSX1RwcGhUG23FqyPGpxVCM6jSMM1Q5FgxPa3FQw4xlKJj5mjUGEiCSDkQBzqo1H6U9F9VPVehdN6nORN3eba3O4M/MiNFx+euJX5/rj69WfxX6Xnv78zr+Y9nt2MRxW45VaYDmqyYByQRIARUWIL5opTg8an2Iiu4BEMA/LihH54+s/qQdU9YHYbecbm06HE7WLYS3U2lup/wCQiNsf0lfT/V9f153818r9v2fbrPxHgBbAMJQfUSNQao7F6XkxYTVpEU+JuKpjNufMEvNGGBi+CiYjp1iEoDVciSQ7AMA5cmgDVdFYeq77UPJgayj45Z6G4ZGZrXJk0xm2VglmFMHy5qDqQgIxRUJxJoA5IogTAjigca1ZBKIJNPagskMuToFpAH7UVRIhmJNOKomRqGNWohiBofEKKVVZYkh8c2UCthov3KxKm7BKRK2asKtmookQSinAamowzQSm8YVw+5EZNxcEYlywCqVzumWjuNxK7KsQcCsrHcfT4Y1ozBaxNQu3BDnI0VZtURtyuTqaK6vy027UY9qzrUieagJCL8kUieGJUCAc0yUDcjKiAeQxQXQdgaB0I/Qf0N6tLeejr3T5EmfTNwRH/wBO94x/4gVwnjqx2+eZf+H0EraIIEgigRQCBFAkCQIoBAi6BFA3XRzDIGgGQCBhAIGyBhA0AgEAgkEAgBigkgMkDCKkgYQqyAUR8S+ufXzuPUu26TbL2ek2fEB/z741TPaIMF6ZM5n9XLd6r5jO5IxyLZrCsvmydnYZKKUpNhUKogTAkhkwUztSYygXUxVM7hHhnF4mtU1FFzb2peKIDYqys2NfTYWwZwfEVPYqsTvQxIWK2x3ARJ8gop2SXp7MkGyBf7FWLFhrFloY70KvmudbZgSJUwyUF1qY0mvcqi0yDADvZUEWbtyQEY5k4IAc8qIJMxxPagR4MgdsYl+9AyKlBGTns+1aSi5gGdQiLHLPhiirYj2yVRCQwJSIgXjLUKdq1EWXYxu26DFSxYw2TK3c8uXGi5601wLuVtkp26fzYugttTMouS4PBBMmIIEcu9FiUQwLZ4oJ6SKmTAYvic1Kuvsn0T6lbvdB3PTtRnc6du5Sc/F5e6HmDuFyMwvkfvc57N/mPt/od768/wD1r7BtmMQYs/BceXbpfqC2wAOTBCo6S7n2qYujTEmoxxLphqLxfT71B5f6heqP/jfpjedStMd8QNv02GGrdXnFs9luIlcP9K6+r1/bqRx93s+nFv5fl82zbi+s3NQeRl8RJqSTmSS5X1nyKLIGh8QM3RFAOi7LVhKokFdQ56dcS4A+cywANEHJ3u/0fk2BpnGl0niM5c+ERQYlTSxit2zIuXk5eROJJxdEdfaWIRtv2MMFTGiY8DPXJRVMgSSBydBKIjwQDMHHcglEfxKKLhw7UFkY0+0ImEYvxbmrokwEQ2OSaIyAIfilFMgGNajJQSFQTEUDKxAeASqnCkSwxUAirIhosa8EFN+YNCeaDm9QuflmId50VYrX02zG1ZEQPFJIa0Tui3gHmRVaxLVcLEpS1TrxZCRp0xiaZ8MljW0g/BFDvy96CJqXP8ECNa0CADANxqVkLCjoGHflmgsh7UI+pfQbq5seqL3TpE6Oo7aUYjLzLJ1g+x1x78WV29fxY+6yxWmUCikyCJxQIoBAigSBFAiEAgEESgF0c0kAgEAyBoGEAgAgaBoBADBA0DAUDCBqgTRIIGEEgoJ+fZ21m7u75AsbaEr10n8MI6j9ivPO3Etzy/KHXeqX+p9U3XUbxJubu7O9L/PJwO6LBejq+fDjxPDm3bjHkstKpCM6xNc1LFlVSlKNCFFB0yBZWVFYv6C0slU0jPb3aagDzUw1kv2Lto6oVjywWVS6dejLcDKUqGK1LqY6MogO9FLGow3QMllULRY1Qa7WFc8FYL4gswFUTGa6GY5qNMd2LSfAKURjcDlu9QXwkZM/w8VRMAuqHQPR+xBI0k2D/YgmCeWFEFdwE4YIVMECLgiiIYIJwYn3oEw1DswViVCYNPYECYADii6si4NMcFURkX4/wQsIxcaXVjNKzIxloOBwHFWkU7uw35kaFc+o1BYnqjwKvK1caxOL+4q1k7LYZg4YBRVx0gAlh2fYqgEpEkMG+5BKEZmspE5s6Uj2/wBIeonaerxtJ3Wt9T21zbaAKC5Z/Ps9jtMd68P7/G8b/D6P/wAd3ndn/wC0fovprG3Grr53D6XbcYihW2CHY4RAdLVpxRUJEu8WLqiuchEYgAu5QfA/rl6mjvvUe26NZvRu2Oj2ydxGPiA3m4+IcNdu0Ix5ajzXu/U4znb+Xzv3O96yfh821A/uOS9bxqpylb8J+DESGHeiIXC1ZfAWwDl8TEDi3sQlcbfdUlcErNmR0Al5u4H9PGX83sSjJbsknTEMDmiOjt9swZu9XEboxYNwpRFFz4H9iiqRhQqCx6DhwVXDAendiiJxHytUYoqGfaiLYx8LuTWiKZkXfEcUQyQRTtcoISHhBOfeFUqm4K04qKcBT7FQ2DE1IIqoJW/g/bBA6Ow/gindn5dv70S1incd3KrLBdee5hbAMmYt2ojs2rRtwZ3mcZDAdi0RMW4RLmpq5RcWx4YD71mtD3nBQBB4MOKKRx7UETjwOSBE5HtHagMQshMIjF3QMNV6ILIUAOD4c2Qej9BdTPTfVnSt6Cwtbq3qkMdMzokPZJcvbPDr6r5fqe9HRclHgSFdMUlAigRQRKAQIoEUCQBogSAQRKBhdHMIBA0DQNFDhAIhgIGgEAoGqBAwgagFQwoJBA1ROKg8n9Wuq/6f6F3NmBa/1O5HaW2odB8dz/wxXX0/Nv8ADn7PMx+c71ZM1OCDNMF2OVRmropcxdsTkqhC9GVJdhTD7EYQJeGBWVVmLuJhwqljLe20ZDVaJB4JqfVnjudxYk0x4FcZ1YJ2p3Ld+2QJxINOSmN66xYx5HLtRWe9bH+Ky0oERFiangoq+EqAcfciLw4AaqCm64yc5hFZrkMeCCiUGozVcLKp+YaUA5hEXQkKHIYlagsapoiAOCM0Enkas3EoIy4D4eSLTFTx4ckRZUjCmQVER8YfDgyqUFsqAZqGKyCByyRUoDEGh4KoU4lvuU1QAccFYzVdyJEtQo1TxWkXUuxLjGjH7VmkrC3l32I8PELHxXRpgQ1cQtM2JxpcaOB+5VFgicS5bBFSl8TtwqhhiVPuGZRcbOl9Tl0rqm06nAGV3Y37W4DOwFuYM/bBwuft4+3Nn8x09Xf06l/iv1h0m9blH8svbPitkZwlWJ7wvheuvv8AsjqaXGHYuriZ0gYcighKJatHwVVCciB4WccUHB9aepbXpv05vusyjG7Pa2229iT6bm4uHTYtnkZl5fygrXr4+3WMe32Tjm1+Vr9+/uL9y/ubnmbjcXJ3r94isrlyWqcqcZFfWkyY+NbbdqEgQCWJjmQqyrvTtxtSJmBERMjElniMS5oAOPsRLXA3/UZbmU7dp4beTAk0MhiYgfLB6tic1NVRasykWyVR07FkRiBm1e1VI02o1ODqK0MBJhi6KruAaaccERTEPQIRYwdsK0RoRBcVQWRrXDiiIRkNQ480FoqHfTmyAoz5ZcUEvDpcl3QQkQRh/grEqkkORwUUWqvE+1BJzpKCUPhAx4IJsMTgKuiuXud55l4xHwgkKsVGUjpxoEEum24i5LcS+KVIPkrIOlFsjXEBUTBAq3JRUgcVKoJALqBS0lwC4KYDxEYoEQWOFEECXJ9yBam7cFFIy8VQVAO8u3DsQWW8WxEeKDXZkbemcDpnE6onnGoWepsa5uV+uOnb6PUOl7Hfio3W3tXX5ygCfeuXF8Ovc8rCtshBEoEQgSAQJAmQJAiEAgRQC6OYQNAIBFNAIJIgQNAIBQCoaBoAugYQNkElBIIJxCD5D9euqj/UeldLif8A7WxLcXRk98tH3RXo48cf3rl156/s+Qym7viMuSziqrur+IpioM4PswPaghctCQd65rUqWKrc5wkzs2SotFxwx73Uw0ShCQoHOf7BZVl3Fo6SJR1D3pq45l23O147Z7lrWK7+1uie3tyzlEE8ioqVyNS+ClalZ5wIfMNVu1ZaKFCx+Ll96I0RPYOAKCuZDoK5xGWLOgolE48llVZNXKCy2Xbkg0RlRw2DOtFOAr73REqgVxQJmLjLBBIDEinFAmzeirKWRPHNVUeXDBZVA1fnmgAwyyoO9XQ5E8RxCgiCXIdslUoIlKXuLrUqIRmbR5Ks6lurQnbE4sWqAsdRuKdvceJBNXwWZWlxkwEsCFpldpJo9BiMkEhU4tT7AqmmSADpiG4/xUXUrcixciEagtkJUPbTJFfoz6W9Zlv/AEl0q7ckZ3rVr9JfkQxNzbSNrB/waSvh+7j6+yx+g9HX39Uv/wDvD6HAvbr3OtM0RBJIZ2UDI8L0HFBTOUYl5VGCD4L9cvVH6z1Bb9PbWbbTpUfM3wiaT3l+NYSA/wCTZIDcZFe/9X15Pt/L5v7ft3r6/iPmVwRkNRLNgeAXreRRevxsWTcnp0MDKUiREA4GTVDtQYySM15ze725vLkjUWZEHThKZGErnPgMI5K0QtWjKQGSYa6m3sCIfEiiEi8hg+airLcS/JBbHGnxBBGY8NewsgpA8VMc0IsMQC2aKYj3vV0DLAcAcX4IiEDiXLckEyGD5hARrFhRkEtLd2KKrkaU/YKsqy5NDioqUdLc0DFX44oLIxwPHBFO4WtyIFFYlcHG4SjJ7iTW2zNAg07Vy0flAVg6UYkaXNcmTRMB4j2siwfKeailQ0QMs+DJqQBhX2KKiZOODIIeJsnQICiKCw+xQMeIjI8VBaIgB5YoLbU/GAKlQfpz6Xb79b9PukTd5beE9rL/APZmQPcQuPH5jv3+L/R6U4rbJIEUCKBUQJAkAgigRQCBFABdGMDIYaIAEDRdCIaAQMIpoEmob0UAEEgqBA1A1dDCgkyLhhBbaiTIAVJoAg/OP1U6l/qHrnq16MxctWrv6ezKJeOmwBCne69PXjI4c/Nrxs8XOKxrSuU8PeqiucNUSBR1MVQZStnTkFmrBOMboBgfEtys2M04XQTlxC0yq8y9bNSVDVsN7CXgmDXPBZsWdKt1YiY+Zb8UeCjTX06//wBONJYxePcrEaXBbOlC6VVc4uX9yw3FMQdaDRFyGOCIpmfE7YmqAJ4YHLkgqnEVPeyKquRLDIj71kKAbCgQWxkMXZBbaIelScOa0iXhIOboDhxVwOByyBQpyb2qsgmlCWUWFI+/BMVEE1bsTANQYuoCQdqtXAIIuDmzHgqgBaQfxDMKohchQtWWRK1Ew9tMF7JlQcQliSs962bN3UBQrlZldY0jRIdop2qlXWiJQDGuasSxPQBGmWfYqydKKBB3dwIjM5c6pVj6x9C+p6Y9U6WbktVqdrfW4ywEbg8m6w/qhA96+X+9x/2nT7H/AMd3vN5/5fdNpMytAmvJefmvT1F5f5SBwC0wUXctU1ftRXF9Veodt6d6Bvus7ga47O3qtWSR+bfl4bNocddwgdjrXHH26xz9vf151+UNzf3e83N7c7u4b283NyV7dXjjO7ckZXJdhkacl9aTJj418+WXeXre1jK5OQAYUI1RdnA0mspZiPeaLSV5jdbu7u7mqY024kyt23difmkfmmcz7KKILVp8lUdPa7cRj3oRrAYAjvUaOYYxYoGAKl2QWCLAEV9iCMqQB4VfmgpgHkTnigtbH76hFMVAA7ygVw+EF+SCNvDtaiIm1CUBEABBKWH2oK5Hwlsf3rSK8ZfY6ipiNRzxUUEUQXQYHBgzBBXupabRehNVYzXCd5Fs8URXfmPNEfw/elJPDrbGDwc0GQQbhyo6qmWEXavJAA55DNDQA5rTmoaHGrsUUpVFfYgBgxCCGbIIGVGHcinGEjQYqC7SLYcmqgquXXLY8O1KassnNQfoX6EbuN30hvdp8213mojNr1sH7YlcZ/lXf/2x9DK2yigSBEsgSBIEgSBIEUAgRQC6MGgEDCAQARMNAwimgEAhgZRDQNAIGgEEhiipoGEF1qYtPdl8NqMrh7IAy+5XmbZEtyPyV1HdHc7q9uJGt67O4f8APIy+9eju+XDieHPmXqTQZ9qy2hIIIu0jk/BApRjIVoVLCM8oytyAqsqmCJA+x1UxA24l3ww9iujLuNm51RNOSazYya79ktkMlcTWrpt6M5Tjg4cx5pFdMOQz0DIsDA86rNjUVmMhcI4ZqY0ZOJ4cFEU/FIAZnFXAaXB+1QQlEMOaKrnQGgH8VAmNOzFQSD+3MoLOIWkWRL6i9BieCALFw9VdDjzQqRPirlRVCIqWryUpA0XDnkFFIOyoTjioA0H3oIGNdVH9qBHiqGDQ8cVWWe6DbmLkaEfEy1Ga0SiL9kEULYrHUalZ7MjF4yNQViNtNmUQDFmk550NVZRbKfKgz5qiQLucO5XUw66cnegITTHqPpr1WXTvWfTSSY2d5KexulgQf1AaJJxGm5GDLyfucfb13+nl7P0e/r7J/F8P0x0a/rsxcVFK48F8zivreyOqQADR+xdHJXI5jFkHxT/uD69MS6R6fgQQdfU92H/C9nbxIHbcmF7P1OPmvB+735kfHdxurFq0L9waRD43BIY4SFQC5pGOZ5Ova8OvKbzdXN3eEpgwhAny7ZLkGXxSkfmkWDnuFENVwgqzW/a2CThTAlVI6UIaYffgstpADAZ4oFIGiKWRc1wCC2J8AGQHYiIyfT3d6KrtA4t/goLKsyoIR91HQRuiIDDtQOLBESGOHxc0BUY4DNAUIZzRBXTtWkQq4CKtJOnF1KGRRmoVFTie5sURk6jcItHirErlACkgO1GWewDuN2fwg+I5UWfmt/h6CzE6R7mW2F4Ib71FOMaOS5CA7T3qhF+/NkU9PixfCqlICHFFFI/BhnmgrocMUUQi+PwoLZGNsMMVBlneMpdiAgONTxQa7MWApUlQfZ/+33dH9T1zaGVJ2rN6I5xnKJb/AGlx6/yjtz/i+vlaREoEgRQRKAQIoEUCQJAIBALowEAgaACBoA8kIYRDCihAKhoBRDQMIBA0VIIGCUEgg5vq7ffoPSHWt47St7O4InDxXBoH+8unpn/aMe2/9X5avN4T2eFdKxGcsae5RSkHcxy+5BWavmUESQC/2oImQuFjjwUsFMxK3OmBWVThNw/vQxGTEtwrVVGe8IzBJjyKSljLt7Yhu4EfDJwR2rTLsRmHb5s/uVVISIqMFFRNS71dZoi1KF4nD96CEohw+WJUNPTTkKBF1AgmoxPJRVVwnTjmpVRFanH3qCQALn9nQD1qtCcSDyZBMHA0JREwX+8IG+D/AMVQsKir1SpCbMIoj8IyZAU7R71AV0n3lBHtdBEBgHI7EEhi3vVTFdyANGqtSs1TtrhhcNuXwyrHglIs3FvTIThmO5YsdIltpeM1pIM2dKrI1E0wDLQiCRUDtRQZl20u+feiJxv37JF23Lyr1oxuWyH1E2yJxHY8Qp1NmfyvPWWV+qPTfVI7u1a3MCNG6hC/EcBdgJ+52XwePFx+k9nmb/L1NqUZNWq7vMJxErkYRIeR06jgAc+5Skfk/wBb+orPqD1V1Trc5x/T3bxs7Ufg2m2/KsuR/LHWTz5r6vr5+vMj4vs7+3VtfPd7v5b27QmNiMibUCznITkBQHTQAYBdZ5YrLpJukMXdkRs2+3OJGKJ8ulYgIQDipxRYuiXo/YopgPnVnQRYP+5FIvWmCC2DmGCCu4GB7ECgCwz7EEySeSBjtZBVcclnwxCIcDFmbDE8EEhi2KBvkKjgggeRVQnYntoiFGJx9iLEyFKqZx5oJRAzwZiqlc7qhaLcUSuXemIbeUs2Yd6WmJ9KtaLZkcZsT2KRbXZtOAtIviA37BQOvechkgWnVJ3eqCUQBg/eqoJwY+xQRfgfvwQiJkZYGuaiiFt6kmmaCN7cWrQYVlyTDWSV6dw0oENTtWeKitUIkDtUFsZMGPZRB9M+hG4nb9aGzEnRuNnfExyg04+9ce/mO3r+K+8yWkRQLJAigSBIEUCQJAigEAgFtglQwUDCAQDoGhDAShqAQCoHUQwqBAwoGqG6imCgYKCyKDy31XvStegN+IgHz7u3syB4Suaqf7K6+n5v9nL3fH/L85X9IMhiXyotVIyA5Ma54KKgcWxGRQRIb7kCmHxo2BVFF0SDM+oZ5BWJThfEhpkaqWEqM4TtydvCVjGgJxIBFXyVFVwEuD3oVjlIwuCQyOXBNR0rdSZDk3YtstBGDUIUXVZAcPlkoof5csVAgzAFiEAzxLUAQAcUxH2qKpuxflyWa0gRpA++iCYIH2qCBxrTNlQ4vi/byQTIGGaqJay9M8kE65+1A+L9yBBwcBXJXQVZmr3FQPAIFXggTIE3y5fuRSOFcBgEQplxzxrl7VplmvW3BPzCo7VWV9iYvWA5qKEZqVqVVEQt34mXwvXhWiw3rcGIDNwHaMexUBYY4smJpeccogBgA6uJpiVweJnfABsSad1Kpg+6fSrrEb/pTpsNWqe18zaSP/oXCxbholFfF/Z5+vsr9B+r19vVP/D6rs78ZWYk51SVOp5cX6hdcHRPRfWupRkI3YbWdnbk/wDO3P5FpsPmuP3Lp6uft3I4e/r68V+OOq7iBjHp23lI2LBEbkj8xgGA5tjLn2L6z47GIgADJ6lCrNlZe5Jw4csVU11bdqMQ1dVGb70WLBDSWNSVlTP7ckDAP7YopMgWL5lBZENEjBBGVQQBliiIWsGfsQ1YHBxwxQKRIduFFcTVThwoJxAADdyKmHyZkEXd8MkENT49i0AMMURKMQ3EcDkosMAvz48VFWB8QG4ICXvZaZcfqUw4i9XUiObuiJGFoYYyU6WN+zA+H2JEdS0Dp4qqtiInAu2KolFgiDAuOLqAliq1AWYAcKhBCgIALDkoJHTGPioFFYr+8d4W3biExm9KhbnPxGpzdUjRbsNis2ri2FssZDFRU9QDgVOXaglabUTMZUD4Hig9n9Lt7+i9c9Fnr8uM74tXDi8boMdPe65e34dfV8v0rMNIg4hVIgikUCKBMgSAQIoEQgSBEIBAltzAVUwUDQCBvRQAVhEnUA6BIgQMBA1Q0AFA0AEEhggkgkEHhfrdfNv0dtLQLefvouOOi3KS7+n4rn7PmPz/ADmNRc0NAqypkNTgfFms40pJavHNQDuHFSgJMWr+9URkHiBnxVGa/ZljA+IYdyqYhDc3IkW7gpg55qVNTlBmnbLjMZhZxvUfMcFs8lEYtwAC7Z4diI2bK/qtg4FqtyW4lb4yBBcV/egiQWYfsyjRAOfsUCpU8cWUDbgqAjPLiUUpsY1Uq6plAPg473BUClRgionF27VMC7AwxI7FBKMqgsx/bJVFkC2GKomDEDCuSCWLNVBF44O3MIAD3oGxANECkWjTDFAonhmgBQ8/vRSkzfaf2xQVM9T2kHEqs4jMOO3BWJYptS8i+Pw3KF6MVqo0bgCUHAyPf2rnW18ZynASLeMAuOBFUU9IcPimoYGLijUZXRIRkXf4cSBmoPo/0j6poj1PZSMRF7W6tGOAjIeTN+0xiV8z9/nzK+v/APG9/wDW8/1faej70Ttgano3JeXivX7OXy3/ALj/AFVKxsemenrBa9eP+obiVHiY6rW3Hd47g/yr6P6nHz0+V+77PM5fnohuPPiva8C/bW7haUYGQ+xXE1s2luMQ+ZyyqqNsYVBP+KlaSlEu4OGYWVLHHLMIozx7UQEuSyBxA1OEEsRWhHBBGdRwbLmghbby+01QW0px4oK5RyNOXJXUxA0IfBlFOJCCeHY6CMgXyrmgiI1PEFaQ4s328lKqYiC4J7woojj2ZFBYHAdEQuSOkVZUcXqBe8AeCrLmwl5l2csgWHYFi/LTq7IUBOKsR1YgCKqVIvRzUoJAaa+9AO576IE+PBVRU4KKU5xtgykexIlc+7fnfkQKQVZ1ZZ2xxKmtSL/LEQwyxUWJAUxUUjcYNnxQQiC5rQIL4amxd1B1/Tu/Gx6307fTOmG03Nm/ckKERhMGRfsWPZN5rp67nUfrS9O3ORuWyJWp+K3IYGMqg94WZfDVmVWVURKBIEUCQCBFAkEc0AgSAXRgIGgaAQFFEAQScIBUCgEDQNA0AEDQMBBIBFSCCcRVB8y+vd6UemdDsvSV7cXG5xhGI+1ej1T/AK3+7j3/AJR8PuguSK8VCM06EgYe9BXG6QWlU5BMNPRRws4qJk1CHdFNxIEjDgVYgYFwcMgVRnvWNQ8I9qsZsZNc9vIZjGmBSpuLhKzfBNstcbA5lZxvWa6WeMhgoIbS9Gzdk9QasKKys10tturdwtEtkexUjXo8OrHko0gzFxQcFlSaIRQCNJ7aIE+Q9uKBklqYBRERWuPFFQmQaDP7kDEaCrgs7ckFVyBfEnIfdgik5Emw4LIm9K4cFRIHvJ/aiqLMcsKFFQoTyQFHIwQWOSiISHhpVARocRwAQBFRn3oGcMu7JFUkewAoI5Ks1nvRMoMccjzWmau2l4XLOiVJxoRzCWEq/biHlCMQdbmGLD8QWG9W+Gmk9j0ViGSdOYLVP70wIkSdyT2cEV6D0JvjtfUdl4gw3Vq7YkRnIjXbjwoba8f7vO8f2e3/AOP7z25/MfbfTe/t3J27QmAZOTKTaYgVMpHgAHXyZfL7Xc8a/O/1C9RWPU3rLq/WbRl+lvXNGx1H/wDHsgW7VMgYw1NzX3/Vx9eZH5n29/bq15kRBC6Obfasx8okhmiaAsaj7EpGizaEIiBLUo3IYd6auLoginy4KNHIluZqgItpr3lQKuJVQmIlwBLuoqRHvo6AifCz0ogJhg2aCNth4TgM0E5MPD7kECzPhVmQR0sXPsQOMa419qCbgUQV4404KgHLP70Q9OPJRUwcRiUC+ZvaSirBg2DKxFMzRgg8/wBSu6btyQwiGD806+GYz7SIEA+JqsNuvs2YLUZroxB0haROOQapzKgemla/YgeBrRBDUWQgu3oWLVS0sh/BJFtYB524JnJ9AwCtTbWq1YjDhTNSrFhYKKC2P8UECTJ2yUUoWzIkINMNsAxmQFUWxlt4ZucGUVbb3Fh2FRgpelx+jPpP1Pe9Q9DbSe7Jn+lu3NpYuHGVq0Rpf+nVpXDjxsd+ruV65bYRKBIEgSAQIoEUEUAgSBrowGQCBoBAKIasUUUQ0DQCAQNA0DQMIphBIIJBBOKD5J9f7v8A1fQ7Lili9NuGq4A/uXo4/wAP+XDv/L/h8dvmLnOqlWM0w7vTmgrnBjShNXV0xUfMiWgac1ESjdBpJgVLF05228UOGAUsa1DWSQJcE0pyaufJVFVy1CYNFqVMYrm2nblqgW5ZpWSleheGi8AJYRnms2NaxXYzsy8VRlL+KhghenBpxNJHAK4O1tN3C5bHiFTig1kjEOQoSg0q2AdRSppbD9uaqyk1CXzYNkoEYjSzcwopRLHjV+9BXIl3IQSBDVp2IGcK0GQwVRA23FG4qKWlgQx4qYBjEh8FVTrJgBXigcsas/NBGPYwCIsia0x9qAahDtSiCAxHDN0U3YFjhlxQEZMzv9oQVTABIxD0RNI4PwwzVEJgkHiMCrKlZz+ReFwFomh7XxWmW+2wlJxQgSYMxLtnRYWLIzgQXaR4jCh5o0k51EYNV/3pphViRjjU8EGjabie23O33GsjyLsbsWqHBYjlR3XP2c/bmx09XX16l/ivZdc9US6b0HfCwHub2MtraiJGPguhrsgcaQK+V+p6ft7P6c+X2f3vdOfVZ+eny0izG0YgaZDENTsBX2n59DbWzKYJCLXTmCNrcDM4Z9PEgO/2qUWXLbAMafs6NGAAMW5ZFAyHrVE1CTgucOCBxwB4oJEO32pVRi9QfiFFBMDE+zNBEvUDDieKBCTZc+dEEonwFsqoISEWL54IIMeFEFgAEWOOIQRnm9exUR7MT9iIkGoc80WJijvXIlQDlsaFFArKuJxQMkAEYlVKy3ZthmiPO9UmDupRGBLrPRylZ+IAYLLTs7QHQwwXSMtsfhpiFUTA8XYHKgYB7wgfbkUFV67GzAzk3IZqjDCFzc3PMn8OQRMdC3bjGOD8lm1sy4qSA+B4IEIkFzggiQZZILBbjGs+KCue7twpCiKolubkqA/FieSiaUZkuCeb8eSVWvbaoy1Gp5rFjT9T/Ti3tofT30+NuBoO21TIzuSuSMyeepcuHXt6ArbKJQJAkCQIoEgCgRQJAIBbYCAdKG6uATAKBogQNkAgZQACKaIYRYkEAEDCBxQSQWRQfFvrxfjP1PsrLubGytgj/wBSUpL08zOI4df5V8rvgF3OBZQiiYLs3NRYgXNA1cioqJ1Ahu9kRTOzImku9UQ8ydsMPEUpqQ3FuTCcWyBUwlPSD/bkJDMBTFJxhPE5ZUTRCQjJjmrqMG5sF9QDtirqMkrplEwuVHNQUH8os72yceCjWrLV+Vu4JQrxAV1l29tuPMiJwL0V3Rqrn7VFiIcPwyWVNq8AP2ogZ4e9kXSIqW/YlMNQIFAe5RUBQ8SiphiKuKOiYfHlwRABxGdUAYO+RRREGIHD5mQMmiCAFS4qgnzxKBuWLIIkIpjEg44OgeTO/Ioiu4C+HYEECAXADe9BGQpg0s2QUzjEvE4HI8FqM2LNjL8zypVlWMQauCKN3hWo20cGXiJzwqKFuLKNaZIBcHDMZOphqLvQUBRTiQDQPRmL1emkNxQHVt3uL89vYLGEItOGLzDO3ZxXP0+qc7/Wt/se695/SOTugAC2P2di6OEWbCArIivEqxa0byRjtbjEvPSKFwRqFOSlVaJPU+zuVwN4j2UdMCiX+zkmBzDxPuUIhB2HHgo0satSxGKCOB7EFkRR8uKCEpFqYnBBANjjxKB6mFMUESS1ez2Kgjl+2KgZNWI7EA5AINFUIMyipA5s/JA9QJIwKAIAI4ZIqTZoFI6XyfPEKxGK4SS3BVHA6lGP68scQFjo5WbaLzCkadrbAhmo9FtmtkRxxOSImGd3xQMEE0zVEbk4QiZHAZcUHPAnur2uQ8AoFUb4RAiIihCzWomMHw4KKgQDVBJicq5BFV3b1u1Eua4MOKQY57i5MMriaUbcioLrdqvNQXRtAVZFX2QCVFfon6J9S/VeiDtJSe507dXLenMQutdj3VK4TxbHa+ZHuytsolAIIoEgECQIoEgSAQC2wEAroaBqAQCpQFENA0UIGEAgaIlkihAwgkEDGKCyAqg+D/W3ceZ663UHBjt9vtrQAah8sSOH9S9U/wAY89/yr50xJLtXAYrLSm5FifdxUpFMsXOaim1QgGrSpzQQMYEkMiYqnt4kSOB4hWVMUmxcjUE0wqxVEhfADXBXjms4umPKkGiagYGiYarmCASc8SFFjBdtWZO7hNTGaVqMH4GiqMs4ytg6PhOIUsalbuk7wQl5ZLA1ZSUsd+3MGDkLbJypJ8mWWgGYuiggOWx4KIKYEs+NK9iqolmAUFcwSXfvwCiwA0Hs7kUxINjQ8ERYC4c0IyQGZ51VQhgQT3cEAHzy70ABF2RT5DvUCJaQp3BXAmDvi+aimBV+OaIIln4cc0Cm+nFhkECIo1XFGwdBUSKughIAigwLlWJWeeq3MXI/FA6qcMStRmx1QCCSHIBoflaQcU58UUjIYftT7lAEuAc0DMhqbPgorB1QXhuY3LdyURdhpmwasT+4olZJeYdMCCZSwC0kdLb24wg3Iuf3LMrWDej/AKMsfmiW4gHM8QhggTIAVC0xYk8f4hGjiwyQSng5WSEAzD7VGj1DHudMETEGmQyQTJLUwQVSdyzOUAAwqgRIIpjmgKNhTBUPEUTBFyWD96Bs33qolDHOqzVAyJPeinKIc4VxCAYgj70Es6+1VNVXZGIoiSsN0klge/iqOX1K21y3MChGknmFjoiW0jUfapGna24aIJC2xWqOH2IFqBJ7KK4HEmvA1SjDupyv3RZj8IPiZWRK127cbcRFqDJRU8MMPeihiSSfZkpVMM+Ciq725FuLRrL71cGSNudyWuX7ymovhYiAKc3WbRbpiATgVFHgx9iBkZILIEEtwz4JVfaf+3/eNPrewJrK3Z3MWZvBI2z3tILhf8naf4vrcltkkCKCKBIBAigigECQJAwtsBAIGqBA3UAiGyAQNFGSIYwRTCAQPJA2RDCKkEE4sgsgHkAg/OX1SvjcevOvyDCMdxopgfLhGL+5eu/E/tHlnzf7vFOQSeBoFh0QMXBJzNWxQVSBDMHOSyocvFu9AVBDqiJActXtUCFAc+SgVDXEjEpqYRhEh9Pt4qmKJwkBixzDKphGkGOCDJuLerxRxZnWbG9YjLxESTWcUzEcu9VGW4JQlrt0IrRYsbjudK6hG7bjlIUPatc1mx1xLUByxKuEIxIo1cipWjlU0HaAgi5LhAmOOWDoERxWVRkGFEVGmPvREoSAcD/BFTBD07EAavRvvVTBp4jDBkQwG+9AEe3ihozb9nVNIYqA+GQKiihPDgcgUUFkQjTNs+9BVKL1w4BBAHB+NOaCu9AiscHqFUrTZaVuJlhp0g8BGlO1WIsEIjCrKhiLngoJGI1OX4ZIrP1GIlt4EEmVqTn+khSiixDVXTXiosaRaLPKRbFhwCCG5A8iEBEAynFpYEgVwRE4l4saELUSmfcrolprX3KBywZQReTAe9FGYJbhwQOVa44t2IRGgZ8CoqBOHE4KgByNXQJnLDB6KByBduVQqBy/3KggHP7digkY+J8G9jKgiaHtoshue5FEiKAd6B0BcDDJEOZL8ae1VllvPpDYnggzzAiC+Jqg5nUJDRAcS6nXwcrNnFmU5atdazgBgtsr5GQJDYdyYHbGFP2xVFe6uaIGOBlh3qxKjsrIhHUQdZOalF5kxEamZyGSiiMDpBNGoipFh8NCSFKqu9dMAAPiPJCoW7JJ1TqeaC6AAkzKBHMgPkyikWY5EKKYACIlVBO3TDEZqVY+k/RDfDb+trdiUtI323v2QBgZiOuI/wDCuXs/F/q6+v8AMfepLSIlAigSBIBAigVECKBOgSBrbAQCBoBA2QCBugaAKIYqEWAIGyBgIGUAgkBmgaCQBQaNtHVegOMgg/LfqzcfqPU3V9zgLu93EgOH5hH3L19/Ly8vOk4xxD8Fh0QMqPkMEEZgUOXBSrEH+b7FA6NxQR5gKgP2KWCJAqc1kRPxY0wKKUg+VfuV1FZABcgAP3+xNTFcxHF/YisG628ZF8DEOVFkYJggtgOKCm4dOLKWiG03P6fcaj/blSYHuPcpLhZr1e0lGcQY5NXiF1jDS4PJRoGoxUCyxpmFBE1oKdyA4DkigiJoQopEBh7+KCBiA6CcWIGknk6CQKBklBEY40V0wwmpgl7+OCGBqAcOKoVXpUDihpMQce5DUqSw9hwUVEguHGBooK5fsckWKpANgHUCJ1RY55Ye9VKltbhD22B0ETqHHYeK1GaugTFwZajxGBVRbGTluCim4BHB80EdxD8ucZSi7GQgC7kZnJ1MVjs7oeWCBjkkNW257iZBidLVrX3K4h7mUtdiMqEapHI9/eoJRDHjSvJUTGYQSfNApClPaoICNeWaBmnLj2KqAXOPFBGRIkGyx7FFI1wwzKCNO5UMEvq7VAaf8VAfsFdE4Co5qB0D1PcroQowFePBQOpcIo0kxyPJBMRozOQiIzoK0AVRiu3gCQPaMkRnuSJD8VRyN3PVuyB8MAyx01G3aABiBngrE6dSzh9q2i2XMseKotA0tJ2fBQZLgNzcAN4RUqo0zlpgQBiaMopWoaRqk+rElKReBgRhn3LLSBFCRVBVGIMndwM0qLWOSilWp4MgUhiRTmig05lShRJ45YKCQJHYgsjIdj8FB3fSe4u2/UXS5WJm3eG8seXOJY1uAFu4rn7P8XT1f5R+qb4AuzDMxIA7CkVUqEQgRogSAQJBEoEUAgEAtsAIBA0AgYQMIG6AdABABCG6BoGEDQPJAwgkgkAg07WWm7GR+Xxf7IdWfJfh+Sd/dle3V+6PD5l27Mv/ADTJXq6vmvNzPDmkHWWwzLLDeIGpYoiMzXGuaixA/wCBUUjhTkoAg+zFNDADP7lQAYH3oIGIeii6jIV5/sERX5kYmtByqmCi5uLZ1MKpiaxX7sZuIphrBei71ZStRhnGQJeqwqs4KD0PTZSs2LRGUQ9V6OefDjb5dqExct6o4KNwNjQvTL3rNingH/Z0UssFEBFQDhn9yAxxHIFVQGwIx9ygRMSCIjHB/tUVGD6nJ5IHzxQBfIUbEoGI/t2oJYc0AS4fggWBrQohVGHHHmqDEkIhxZqIERgfYyGk0a1RpVKPACocqVVMouPuUQo3DbuxmRQ+EjtV5qdL53LmMYgSkHMQPhAw9q6OZ2pk5Yo1Ful/2wUVOJAkwjqDg6Dg+GPYg5FseXfuWZVMJyDcnosq6IETCIzPwxGfJWormY/qSY+PTCNcq1UF8Xxl7lWkgNTolImVBw7kQpgDFAcScc1ASo7exVUQ7lqsgKl3qBggjRhTBQLSaPniinp8P25KAAJFKsgfhc5MwQSAqDmgEDwLgdvcgjEH9yCYZ8e9FIaR/UqlV35GUWiwGNVWWGYFGoBggp8wEEg4V9iDjWjruTmfmJK5Vp1NqCWW4ldW2AIA4FbiJQzJz4oC7cAFXqRENUkksAAKknIBB9G9F/Qf1Z1vTuusXB6d6fKoF+35m8mCPlsPGNvtuyB/lXm7/Zk8Ty9PP6vVm3wyfV36Y/8AwLqnTv0+5vb3ovUrR/T7rcRhG5Dc2i1yzPyvDUNOFA4cVZdOPZLHHr13mvFxL9hOa3qYbvQHDNBXcJMdIGPBVKlagIRpXipViYbLuUEZDwoqBOeNUCkzvQOgAQ9FkMGmDoLAKDJQbenXp7bcWd1A+Pbzjdh/VCWofYp3PFb5uV+uDd8+Fu//AM6ELtMPHES+9c+bsb6mVFaQigiaoEgECQIlAigSAQILbBoBA6oBA0AgaARDQMIoZA0DQMIH2IGEEkEggW8vHb9M3+4ArZ2t+4O2NqRWvXP+0TvxK/JUpEwi5dxXgvRb5cOWW9Ni4LFZqqzqZy9VFEgHolIgcBzUUGL5YYoFLFsf3KBHGuKojK4zMK9qYlqGq4ZBy7ZKpqR1EuQa0RpTdg0nIcBZoqlEEMwrUlNMUXrDigbgE0+rnbiwRI1/gpVYbkCOwrKqJAk+5QejtxMbcKaaAL1x5mraXPKuiGEZUg5wWOm+a3yZx7iVh0J3Bf3qAFKZoI1AfE8MlAAFuTopliPtKioEBgX5MgY+I+48UEmFeZ/aqAzFGo9UA/AdqBtlwwCBZUBf7kBUuTQDggDT9sUCA/YqsmHcjJAno6BH7qd6oTOOPahqu5B68cws2NRRctu8ah6IrVblcnCJIbU0hEAAahSTsrrFiu54Jv7WW4i2EwwZzmygsjEEDwmTVZ2pw/epRzOoW5W9+ZACIuRjPSDR8DXuUrUattK5oAPwnEolSt6p3b02oZaRlSNEWLRGTu7qqcXDolJ8D7VEOdcUCLjBAHNvegQ5DDBVRjjUnBQIDPJQJjUgt9yKbgivsQGRxdAEeGvt4Ipxx5DBA24Y80QgS7NzQSD/ALZIhY8x7FQO6ozbi4K1oojmbi9VhiixSJOJ9h96FYdtGi5tOrtQCQFtmupIkAcFtFm3sbi/fs7Ta2Z7jdbmYtbfb2xqncuTpGERxP8AFS2SbVktuR+jPpf9JOn+nYWuob8Wt/6mI/M3cfHZ2IkGNra5G5lO9j+Fhj8/v232Xx/i+l6/ROPN+X0/cStbTbGYA1SpagM5Hg/2qWZHXneq+XfWu3De+h+rwvSErlrbi/aJNIz28hchpfgx9pXL19f947e3if6uv/L87baQNiMi9Q4BX0+fh8Xrwm5ZuOfELbnSFA5qeCLiYIfkyyoLAhFJ6En9uSCLUYmqIjIA9mCKiM2xzUEg3HtKgsiffzdBqsM5BwIY96l+Fj9Rei+oHqHo7ou7JectpbtzP81r8s/7q4+v4du/nXXK2yigSBIBAigRQJAkAoBl0YCAQMIGgSBoGEAiBA3QMYIphA0DQMIGCgYQTGCDl+tt1+l9D9fvuxGyuQB53GgP95dPT/nHP2/4vy1cDEAUbA8GXRhTe0gD8WZofaosQ1PU0GCKRcmlWwRECPE2eLKKiXOOGaBFzjVQJuJzdUAiH5IHUUfm6aISmA1XKqIVJcjmoquUBizZscVmxdVSk4IbEKKwbkO+PYiVzroJwq2CiqYw1bi3HjIOoV6JgTwXrecCFGNHNZcEo3WL2u2HqY0J+9c66SrCXb5iougFjU45qKNT0ZTAVBxaqBg+LmcVMUmq7NzTDQwADlxioqTg5d6CJryI9qAHuQM1k4yQFWNOxAicv296BPR2qgDIPFv4oAGrZcAqgMaV9iqFJ2KaIAthgFQ9cCphKU4u1aqY1KUB5biR+YEVYNL7nWRIECjji61EoBq3DFaYWi07jTq4t2YKNMfVoflWL0YhhKUCInUah6+xSrPlPZG4wOAtgzMmdmzY+xSVcTsRAtxxBPxCWNaqwWsQ6oHoiCOKiFMvVUN6qCIdA3Le7mqEDXlxUqmG4u2aio0AAz5fegDQP3IFqfHtKKAHbg7BEMBi3+KCRx+1AF3HNAAd6AAAbhktMozkIxJw4qGuTubxZmcn5Uq4xmOMia/eoqvW1u4eAqkSq9uBoiVlXU2DG4OQW4ldARldnC1Ztzu3bkowt2YAylOczpjCAxlKRLAK2yeaSW3I+7/T76dD03t47zdabnqPcwMLl4NOG0gQ8rFnjI/8S5n8I8OPxv2P2L7Lk/xff/U/Unq83/J9N6Zvd/ZsxtjyxGIZzFyU9ffUjfs9fNu0dQ3+gSuXpmdwj/ZH8owAWrf5Z44/h8S+r3qMXthPpFmX5m/lomxcxtRIlckewU7Sun6/G9b/AA5/u+z6+vP5fMSIiAADAfCOS+lHxKjR6B24KpIkwArg2OSKjG9bM/KHjvEgRsxGq4eyEXl7lmq7HTPR/q/qspDpnQd/upDEx284Af1Su+XD3rN75n5anHX8OtufpP8AUvbdPu7+70C9+n28Tc3At3bF27bjEPIm1C4Z0FSynPs56uSr36+ufmPJCQMBKJoR4ZDMGtFtzJgxJqgjF2wUqpDCvcBzUEoyDDJBosyIkCC4IqlI/Q/0a3fn+hLdp67XdXrY/pmRcH+8uHPzXe/Ee1W2SZAkEUAgRQJAkCQCgHXRgOgEDQDIG6BoGgECRDCKYQNkDCBoBkEggkgmEHl/qxuDZ+nfU2xvzsWGdnE7oJ7fhXX0/N/s5+34/wCX5uvSAoKk1MiMOa2wougHvqioxA1DUopymAGGIqgpMiTw7FMCAGqtQgWnMcOKgTDFsBTtUCejoDHEBaETxyyQLSWHNTRXM5gEQBoPuVFd6JIf4XwUsXWC++k6h4ftWSubeBIYBoqUV7SMTvbQIoC/sV5+U6+HoIxLVb3uvQ4k3JUSsTMLgFdMqErPSxvJGDgBYaIkVrRs0UtRx9qLpxeuo9jKGihywUxTBYMoBwaex1TTw5DNRdJjqfgmKY4PRMAMsOxMDJGGTKCOngroR+FmZ0CBwBUEqPyQMgV4HuVENMmxydiqyixOCIiRLN+08FRDzJRNatirhqULhMxpLxkJAhs2f7lmxZVnlmcIyMGoJAszjipi6ZgRHUR4s+FVdSoQuylJpSMQBXJVIlvLMZbO9GEXmNM9UcKFy/M1qs1WTbObWky8UmjEVeqzGmwyiMTXit4lpG7HsTEAmKc8CmCUSag0TAsVQ2Y49oUDLs471BHSCX4ZclQz8P7kVAYPn/FTFSDEc8kwO4A4q6CDUooGC38UEmeT4nNApZsa5IABsMWr2oqb4vT9yIjI1C0yw7y+DHT7VFkYI+I6nqhUZCLMcRmiMdwnybozahUVPbxAgApFdPZlrcplgBUk0oFqJX2n6O+hTtza9T9TttursT/pVieNqzKNb8gcLlyJ8OcY85L5n7fv+1+s+H2v0v1fpPv1/lfj+kfZdttotEAfDQ8WXmnOvX10sv37NomMazGAxYYrpHP5eJ9Y+ptrsun39zfui3Zsh5ns/fkrJtyNWzmbXwHfb/c9R313f7pxev8AhhbP/CtA+G325y5r6Xq9f1mPie/23vrVAMrsrdm3GVy9dkIWrNuJncuSPwwhGLykeQXS3JtcZLbk+X0PoX0S65vLUb/Wt9b6RGdRs7cBud0H/H4o2oH+XVIrx9/vcz/Ga9/r/wDj+r56uPU7T6Mej9mY3NwN51eWfn3hZtcK29uIau+S8/X7nsvx4erj9D1z58vp3pbonQthso2+jWNtswA04bSzbsSDZHT+Ye+RV4v2+brPs4+l8TI7VyBYm5OUhH8RJb2rp9WJ1WCHXthsI3ZD82/cLWrUC7htOqRwjGvfksf7Jy3f177Mj8ZgmEp2ZES8q5O3qGB0TlFx26V9CdPlXnEgXAb9irrKXH7VAn96BjJ6jg6C62fhBrixwxRX3H6C76M+m9Y6c/5lu5Z3MR/JIG2af1ALhf8AL+7tPPL6eVtlFAkCQCBFAkCyQJAsVKBdGDQCB0QCBoGEDQCAZABA0DyQMIGgYQMIJIJhB4P647kWvR+zss53O9iRyFq2ZH7V29M8Vy9v4fAbrsHoFpmKbxeBYURUMKAOeKikTIdygr+IO7cAEDjBnPAIAiMc0ECDi6YEYuCe9QAJ4MyKCH+1ERkCDiWUFUyW4uP2KorncejU4pRjvASxyUxWG/BgeGSzRT06JPUY0wBV4+U7+HcAZ3y+1d9csNqcEEZwlQug125GUA9H71htIvkEES9Q/ciJh2x/bFFAOQwxUVIEVPtUUnLl/YoCGBzqgMTTLii6kDUtgqaemgfBBGTNj2BQKtAimaO9WUCFR9/JMDng2CoJCj5ImoOQWYkGjohFwS+SoiTxoqEQ/wByqVnuxuiUfIeUgfg5oiET1KR0PHVIg+ElsMycgphrr9P6Vv7u0jvLsoysznK1t7YkIG9K2B5xjKQIjbs6oi5cI+IiEQZYJNuJasu9O296XleCxci0f1Fq7O9GF2f9oXrc4QnGEz4dccHwV68fCzyy7S9C9tLUhOURMSjK3PEGsSJdmBCxLq5jk7W5uTGMJMPFKWoZN4VmNV0IWiYl5cjwC6amJ+U1T7eaamGA8nPYyKmInL9giExEnZwz+9RQ+WfFAHD70DYYZsoA8H/xVEOTd6KHCKk7scsGUxKgMaKKlEYucEVIZZIhEHIhUAqaGnLmhp/Y2KJqq9PTGuAw4Ko5d+4ZEnJSrELcgZUUMQvDS8ScMFUrDckwm+Yb2qVYvtDwxaqkV9c+kf0yPVo2Ou9asP0mEvM6fsp//lSiaXbo/wD68ZCg+c/y4+L9n9jP+vPy+l+n+rud9fH4/wDy/QO26XEk3Z+C6am4C1eeS8c4fS69hbq+NuSRzFXYv7VWZ5eQ9QerrO1tzEpASiDhT2q61j4h1vr3UfVXVbdjaW7u524n/wBHtLMJXLm4uj/iC3F5GEPlLM9Svb6fXOfPT5n7Xuvd+vL1nQPon6m3xjf61eh0WxidvHTuN8eWmJ8m0f65HsTv9zmf4+WfX+l1f8vEfRfTfor016buW7nSto1+9E2j1HcyN/cmRy1sBbjL8MBELw+z29d/L6Xp9HHr/wAfl6extx5koENFg4wqcliculraIWoQAZs+1bkc7WPcT21u6CB48pilO5XFl1n3XWjG2Q/mNRpEt9qXqrz65rxXrb1vDpPSdxur04iVuJ8m3Fg9w0tx/wBpZ45vXUjXs6nr4tfnyyZaRGXiJrM8ZGpPe7r6787WoeGILsSMHw7VrEA1SqzcQiJYduZUEmcNlkipgDl2hB9I+iPUTtfWcNtKTQ39i7YIdvEB5kPfBcfZPMrr6/ix96PNaQkEUCQCBFAiyBIEoBQC6sBAIBAxggEEkAEDQMIAIGgaACBoGEEkDQTjiiPl31+3Onb9C2nEX759sYBd/V/jXL2fMfFLrkVpL7lUV5MB2oqMvCaY5qKia1d2UESKincgRyFcUCIBqSqEYgF2eigMYsa+9lBEAvXAoGWjXFsEFcpA1yKgouE4YD70FEnDnFkFN12DipwQYrg1Ej2hRYj06MT1EDDwHBXj5Tr4dqhAfHBuK6MIEHUxyTUEoScuaYsqi3bSDyi9ImnYVlpc9CEWoeJ24ZKoYkS5fsfkoqYIfiXxPNAyQODjNZsUxTDJFAIcVrlkoE7Fye1USixwIdQS4Vwd+5URLE8VlQR380UpvhnmqDEBUBjSiJaHL4gDgohO6CBFBXAuyoRYAsU0REDKQbFXUxMWpRII+IEMTxyU+y4IXJW7BmIyN5idRbEDN3TTHot1ctXel7ba7KNwxtdKtQGlxKM7Vr9RduRHi1PcnckeLvkrz8Jflj6NY3O73wubu0Nvtd1CzcubmUwbkbVrxT80U0iFmJnh7SVZL8s3Phyen3Deje3NqBtWNzub17bwIwhO5qgDjSqxy1WGzAjdXRlGcouBRnOQWW3QEgKfE2GSumHqGGHsV0wQJccRUJqYtDHDg6aYixqEQmyApkVQDGr96B45MCoIjBAhiHRSkBqePeipO4r3FVKgQa0PJRTr3IHE5vimJqWGWCGlKUQQDiqiJnwxQYt1dINcM0tGK4QbY45hZ1pVbuGBQX3Ym5aEhiAqzXNvOInicVnpqPefSz0EfVXVzc3YlHofTzCW9kHBvTNYbaJ/mxnwjzK8/wCx7vrMnzXs/U/X/wBl2/4x+qOmbKNvQNIgAGjGIAjEAMABgABQBfP55fW77dG+Ywg2Ldy6OMryvqLf+XYkdWksXzwWenXl82n9P+q+sN0Lu73l3p/p+RPmXogC/ug/w7aBwhxuzp+ESWue5z/dz9vHXdz45/L6d6a9J9G6Ds/0fRNnDY2iGuTi879wAf8AFvy/Mn7dPALHVvV8tccc8fEd63tYQAOQ+xJyt6V7jbWI25RAGiT6n9oI5q/UnTBe3IsyE5SeQcv9iy1PLBf6tblD4i8XYq619XE6p6isbWyZ37sYRHzSPH7+Szem5y5+16f6u69IDa2BsdrKv6jdvCWk/N5Q8cR/U3YrPXazfdI9X0H6a9F6dr6h1Kxb9RbseG/uOoWoXIWrcgzbfbSe3bic5kSkcyF6OJeZ4eH3Wey5Xy/66fSzpfpn9L6l9O7aO16LvLo22/2Fsk29vuZvK1csgkmNq8ARodoywoV7fX1sfM75+tfKYN3lnXRlbFvlzwUqJcwxAy5qBkA0FGZA4kag+GKK9D6K6oOmepul9QkWjtt1alIfymWmX/hkVy9vw6eu/wDZ+pL0RG7KIwBLHkkLFZVESgSAQIoIoA4IEoBQC6sBAIGEDGCAQNAwgEAgaAQMIJOgEDCBoJBBZEVQfGPrzuJy9R7Hbu0bGzgQ2L3JykV6eP8ACOHX+VfKbmZNTgVFiLUc4qKqPIIhGleCiov/ABVwKQBpioAMCOIzxZTQmJdUQHB34oFR6IHI0YYFBU7E5jhyUwVyi9f8UFZ4MoM90OREZn3Jqs10Rg4jniVDGTbXxZ3onKoIIYZpLlLPDvQkJwEgKYtmurnFcSTOgwxdBYCcsDirEV23t7hjgRhySq0vEimBzUUEOAMkEZOQ49immrICTHIcAgZdjQu2KADlmUaMFxTAVUwI0qMDXtVBGVQ+HAKCwl4s7c1BHUxNexFLVmTRsUxQ9DyQFCc68FU0S1DgSgRIo7PmomEw/bgquClBR/uU0wnD0YPl2JphCRoGcFRcTMvCRwY1woUB5cjGdHq+vjkzcUDtdY6ptbFjbTgbm22nmDZzgYxnGFyeuVuT4xEidNXDkYKc85dn5LdmIX+qdW6hE2NH6XaXhp3UwR51y07ytjTSEJEDUBU50oultrHiLJiU4jWTohFoQhhGIbh2KpXK8y7He3blqTkzkCCKFjmO9Yny1vhst70EtdhpIGPFXDWiJsyqGZsVMXTABwyyUXSAYUcDhl2IJCZfNjigdGd24KoQMXrkqG71GVFEKoqTTggiWzQhh2r3qrai5D+0KIVcvcgbUbPigAaADJUS1zAdqpghKYeormFcRCdwmJpQ4orn7iYlMgVfHgs1YoEZCLu/JRVM2EgUVdt7gwNQrGaey6Rvus9Y2vSenQFzeb27G1ZiaBzUylwjGPikeC5+zqcza6+v13qzmfNfrX0T6R2PQOibPpOy8Vvbgm5dlQ3b0q3LshxkfYGGS+Vbertfc55nr5nM+I9hbj5MaCua3JjnfLi9Z6rCzGZMq81nqunHLjbXo13qW4juOpw1WIl7WyOBOIleH2Q/2uCxbrd8PU2NlInXKpIqeDYALc5YvTdCAgAcMu5akcr0pv3RGLnLJFjh9T6lGESxcnILFrrzy8N6i9TXbEDKR02nbXKgCx5rtJI5nRbnqb1PAT6FZiOnxJhPqu4JhtXHxC2QDK/IZi2G/mCv0z5Y/wBstyPYdM9F7Tpl63ub859Q6hFte/uiINsH4v09rxRt/wBVZc1lr5+XvtqOnfpx+klEwFTB66szJ6mXMr283mx4Op1L5Z91urEBLG9cZhCNSQVerIvPNr5/9Zepz/8A846ptNxciwtWvJtYk3xehoJP8uEVn1+y3qRPd6eZx10/OQuRMyWADuAF7dfLXxA0uTRqcVpmoykTIyxGDIqQYRxoM1ESBoIvjmg0bc4x+En4TwopWpX6t9O9RPU/TfSeon4t1tLU51fxCOmT89UarjxfDr38ty2yiUCQCBFAigSmhKAQC6sAIBAIGgbIGgaAQDoAIGgYQMFA0EhRA2QOKC2AqoPgH1h3f6j131GMZvHbG3Yjy8u0NQ/2pL1fHMjz3z1XgJO7LLSol6jDgc0VEuKKCJILIE9QgiThV+aB5vk6CIxUoTPhlmgQJA7qZIIzDxDZlBHSwfPP7E0VzDVdxwQQm8qhqYqDNclpLnEJVYboJeRHaoa5+6+KDcVKrvbI67fkyuSEohzp00fImrrpHOtBjO2AAxBzPBVcWRiDEcS9eCrNVXIESjLniURoiGzUaMaSMkD0gog0sB9nFAgc6KqcTWteCixIigfFFLTHtUAzHnmgljjTkgVOChSOLPXJFg/Z0XQIF8nOTIgcg1UAwIwooqLUdq4oAwdAaMCWCKbAEBDUZHjkzPRXGdWGTOYxaEyWrk5x+5BIxjED5uZRCnqADDFVFcjIMTDGoYkF+7JVGKzOB6huQR85OvOsQarP5a/DVOxbmGPdIKljPLbXIOxcD3Ks4cL9yHxVIwVxJV8NwJHg/Pip9WpV0TA4tWnDBTGpRJnIFVDSGNcM1QwGHEuog1AZsUEZEAjjmFQhI5YKBAkUwVwD8UDBxpTJUAPDBApSIc+xBXKUjXEqiq/dMY6RicVLRlxIUUGLvwQZ9xbAAY417VKm+WYXBBySwFSstv0R9Gvp8OkdP/1neW//AHrqFoE5jb7abSjZA/FMAG4eyIzXzff7fvcn+Mfa/V9E9fO3/K//AEfYdmIiyNIB1VHs9v7VWeY30ydR304/lwOqcgdERyxKnVXnlh2/TfMnG9MebuJDVC5IUicfDwXN03Hb2W1gIAtiASe39y6cxy76baRi5bktuVrFud9GDgy0sprU5cLf9UMQQ9Acc1i9O/PDy/VesmN0bfbW7m93t7+zs9vCV27MnhGOXMsOaxJrdsnyz7P6Z3up72xv/WUozsQOvb+nLUjO0Zio/WXokC4Y4+Vb8PGRwXSdfX4+XDvi+y+fHP8A6vodq5atiFqOmELcRC1bgBCEIxpGEIxaMYgZBc3T65PC2egxY4FaTWI7a15jgdrUNOBVkL25vWOvw2VqQ1aDFyO7sUtxrjnXwX6netpdWvw6TamZQtXBd3ZFQJx/t2+2uqXcvT+r6/8A3V4v3/dP8J/y8hZtlgZY5D7l7ZHzNaANQbCnvC0yGDszfhBUDFY0NXoFBKQBajHLsQWWZVBFSs1Y/RX0b6gN36FtWH8ew3F6yR/JMi5H/eK5c/Njt18SvarbKJQJAIEUCKlCdQJAIBdWAgEDCAQNAIJIBAIGEAgYQNkDQMIJBBKKg0baOu9CORkAfag/L/rTey3/AKn6tunc3d3fnXgJmI5YRXs7+Xm5rztzSzCr581zbVs2dUVCRIL8FBAyfkECALB+5Asndh3IETWvaEAOMs8FKExGBPFQI8MkAWoMxwQVk1A45IITHDE5dioqm+LvxA4oKLgHbxUqsW4pxwUI5m4JcNks1XV6aQJgcQ9OK6xiuvoMmGOrHktCyQo70OYUZVTg8GbsBVMAJMQM2UVYAAKBEMEAgnHNBIsAK45oIYF+eaqpAs9HOKgYxrmimMcaZFDQ3LmoBuWGaGh+/iUVEsgAz0/coG57396KMe1RQx9tEBID3VVTSiQIu7tgVMNGumOKuGq5EUPCiYiEpEB3wP3pgtN2IczepLxAZqqyJp+Y4J9xVw1I3Q3LJMNQO4u6xpFMuP8AgpjLi3JkdW3DvGRlhzAH3LP5b/DoWd1KI0yrHPsWsTWuIEvFAuOHJRUDATFQz4FWUVmw1RU8FdZODxxCosjdqHqeKmKm8eFVlQ7GmKSCBId8Q6uIgDV3VQ9VTxOJUxYHY5YoqWkU58cUQRJGGCAJIFTiiqpF2z5qsozIiA+NDRBlnMGRJPtWapwgxr3IoJiAB7UVl3RI7OaiOj6F6RHq3q/p+1uWje28JncX4DAxs+JpcjJgvN7+85tev9Xj7dzfj5frDpg8m0IG1K2D4nDGBOOIOfNfPnh9rry6U7v6fbSncJMGftJyitfDn8sOwlO7ON6TynuKQNWEgT+X7MFh0dbaSlCBiY6JCkYyrR3FRityOfVao3rduy0S4GdWWo52a5vU+r2rNmUnrkyz13jfHr15De+rdtbjOd+4IW4/FMmg7Vy+2vROJGvp/QOsdXhHcb2U+l7CYBgJR/6u7E5xtyDWgfxTr/KtfX+WL7P4er6X0vpfSNvLb9N20dvGdb1xzO7dPG7dk85ntLcAtY5nuLMJuJAyjOnBiMCDkQpjU6c6c9xCei8BPT8F5vifiBhLimNaL29hCBJl4RiqxXnOu+q9vtLU3uVAwowZNWc/y+JerfqFuuqbi5t+lTOgkxnvBgOIt8TzwXo9X61vmvH+x+7J/wBeXlNrs424FqzLkk1ck5kr6H1kfK+2tkLdHI8ORUVMeElvYgUtWJx/bigcQ3L3qAzD0fvUAGBJB7O1QfafoDvwZdZ6fKUh+XZ3MIFmLSNuR7ahcb/k7y/9f+X1t1tlFAkAgRQIrIRQJAFAMurAQCACCSAQNChENFCAdA0EggYQAQSQSCBhQWefHbWL26kWjt7Vy8T/AOnAy+5a4m2J1fFfk/dXfMeZLyveORz8RMq+1enq+XnkYJ4vi+aw3FefYgjIYIRAl2zPEqKVDESemYQGH70CPxIEK5EKBEkgnu7EEaO+fEqALP2VftQQOaCuWf3oKy8qYlVVUolualGTdRLYUUpHI3cJCqyrp7IQ8qLPrFX5ZrpyxXVsXgzljE5ii0jTqjIY0GAGSAkaFygzG6ISIeoxCothMy+KnAIJRyQDh/v7EQxX2oqQPCpzQAzUBm2KAcElAPzfiikGx44IowHEv2JiImQq2GYKhpmR45qYplnc0KgciAHxVEDJmdlZBA3KclcZQMy1a8Aik5JD0ZFE5H5RWjIysETI+IkmRk74O4w+9IJaNI1R9iCE9UgefvVEYRmPiIP8pfLsyURgMNXVbpABJIFHIbSBisf+5v8ACzymAL1IwPsW2E7N2UDiiyt1u9CY/ZlMXT05fwKgG1K6iBtxZwf3Kg1MXI7AmBE1P2IFqcOWDDNAch3oAc/dgosMEYN7EKb0Zy/JAia1pyVRCZ4YoImTNxQVXJ0JKCkxdi1OCzVSM+J70bxWJZYugz7jVXMqVJH0j6DdDO53/UupeabfliG1iIxBcS/MkXPYMF4P2eviPqfo8/PX/D9DdL25s2wBISz1FyR7AwXn5j2dXWfqBF+9G2Nd4wIlMBgABhpiOCla58R0dlt4+RK3CJlCdZg0zfDEHMLUjF6arkfKt+KUjpxjxIz/AHq2My68/wBW61csxLUjEEgE0XLrp345jwG/65uOpdRtdM28b296huSf0+x28TKUgMZOSIwhH5pyYBZnFrp17Jy9z6V9B7bply31HqWjfdXh4rIB1bfaH/yYmk7nG6R/SAukjh31b8vWkylImTkl+9VlRKYi4AYq4apvbmEIEvU+zvQcDqXUtLz1iIi5MsG/bisdV155fNfUP1DvT3E+ndGsX+o77SZfpNnanfu6RQyMYCREa4la9fr66cvb7+PX/d8q6l1jrPXLh/XXDbsEsdrFxUFiLhLSJBoRRfQ9X605818r3ft9d+PwVqxG3ECAYDAdi9LyLY0GDSWGoMcSikQA/PDtQI8T70APFQ+1QFIuAS5wOaglFxKLZpVfSPojvRZ9cWrL+Hebe/ZMcPEIeZH3wXDv8V24+LH3tbZRQJAIEpQnUEUAgGQLJdWDQCBhAIGDkgEDCBoBAIJBA0AEDdBJA0EgoOT643f6T0P1y+7H9LK1Eu1bpEPvXT0z/sx7b/1fmbcnSREUalOVF2rnGOdCz15LLSqRJQRcNxyKIi9ceTKKiQ1DhRBJqYO+aCLPJvtQIEmTDFAmLYOVKFMMAHwxQI4DhkmCJw4qCqRLOQO1BGQYN9irUVTkBGmIxUxNY708QDTB1EcreSIjnjis1uNexkJW4v3rfDn02W5mMQQaYfvW2Wizu/lJqMEVoN+Ii4rwCIyh5SJJqeOSKtt3JOTKkRR1RfCfDDjxQTBzLtn2qBuKc8+1A8A3+KoYrUsoImYMmbGhQOnF0A4EvtRYiZF6VHBBEk6X9zogMqYcHQGssQ7ckDdwHxGCi6cjTnkEVXIlnJftVQiBp4lvYiAQjR8WxRRMDSACAcUVERtwga+I5jJGWjzHJJm5EiBhpwy+9RS1ExPHlgqgjpxPDBEIyiZjwEsC5GILFu1FZbdsy3125HwENq1EBnAbV2rP5X8LrduJgAYuQ/DitJYru7YganrwVMVw1RzZEabd3Vg7hRVj5v71MUjPEEHtCqIOCXoiEW1cGxRR8oLDgyBDEe5BKjVpwUUO3cqhgh8xxdFRkWOPeiokh3KMqyQA7EoKpeIPhyUIhcmGAy4KNRVKbkB8Ao0i5fkmCF6XhJPepVj9A/RHop2XpPaXJ2xG9vJT3UyXwunwAcPBEL5nuu9vs/rc/X1z+vl9UuXIWNrK5cqI1b3Bg+LrO+G/ms/TbEpy826Qbki8jlyHZwWY6dV3IiMYnDmc/wB66x565HUt95cZapMAOxY6rpxy8gen9Q9R7udnbHythAmN/fTB0OPkgBWcuynErl8vT8R63oPQuk9DsTtbCx5dy4w3d+R1371HiZzzH4Yjwjg61HHp14EEOzg8FuOdRnMCJ+1XEjn7jfQjT3KWtyPOdV9RbexKNs6rl+6Ws7e0DO7cPCMBUrnenWcIbT0b1b1DET6pcnsNhIvLa7eQN+QB+Gd0PGPZB/6lvj12+WPb7pPEer9N+l+gejdsbPQNnHZWL0wd4bZlK7eLtqu3pE3JGL08TDgu/Uv8vD9Zfw+Df9wnSth076i/q9nKA/1nbR3m8tw+XdW5mxdlSn5ojGZ5vxXs478PB168vl8/idQB/wAV0lYxKtcqYBRSHw8MkCKBGlOJUEQwx7lFBYjGiIkCH/eXRXq/pxvDtPW3QtxGgG8twIxJFx7ZFf61x9nw6+r5fpmYaRjwLLSIlAlNAqEUEVAMoEgHQC6sBAIGCgEDogaACBoBAIGgaBhA2QSCBoJRQeQ+sG5Nn0LcsxLHebuxbI4xgTcl/urr6fzXP2fh+fdyXk/HM41fNbYjJMjvyUaV9uaJUZAsAMOKIhLEOCGUrRE1AFH/AMEDb4XJDoAPU4IIvXnyQGA71BEM44OUESS1BVXQpGjLIqaRDZqiuQdg/eo1FdyIfHg8VWWW7bJNO4LNVy90AYnis1Ys6cXAALPSq1wnToF8CGYl11c1FRM51WGo0W7pmwOCqYtHiIAHYFRKQmS7sxwGCCyE3jWhA7mRE4ywbDLsRV0Zc+4IievJsMEUiWJ+zighmadyoeoO+SAJqFBEk4llQizOVAOO9URMuVEEJXC/LJBEXJO5fkhqestXuCgDIHGiBa4ZgopiUX7clQroGgmQAiMTw7lEWNYMiBMhj+3eoDSBm6oJGQDHH7ERHXWusEEF4/tkgVgxlu7s2N4kxecXiKDmov4XWJfkRJYBz9pVFgMSa5ZMi6rlaEpF6D2IiPlSB5IAsKY8VREyJHLJQGoMiDg/cikZc2fFEPUSMBXNFEeKAMx3YIAyauIPsQ1DUMsDyVUhIE9qjKMhR278kVVclSp7llVUiCeXBFQavM4KNJ3AQQG4IKZW/Ou2rFR592Fp4h5eOQiWHGtFju5G+Ztx+s/TOy2+z2O32u2t6bNi3G3AMx0wDRcDNfLn8vuV0tzKV/exsnxW7BrWkpyGH+UfanRz8a7O1gQBRuPfyWpGOqsvX9NuTkkNiFpnHmtzZl1K9cjImGysV3N0FjL/AMuB4t8RyHNcunfnxHVEre3t2BbiLW2tNZNsACMIH4SBk0qd6h8rrt+Nu5bOGoGEu8vH2SWmWi3fjXIYjvqtRzrm9W6pZ29qU5zEIRxkaBlOusb451yodM6x1WcZyl/p+xnXzJx1bi5H/wAu0aQf8U/Yud8us8OrsfTXSthbuR2lowu3aX91Mm5uLgxad2VW/lDDkph9nZ2/V9xbt+Tc24OkaYzhIRBA4xyXfn22Ty83s9Et2Vk6l1EeUfOlGNoV8oYS5SOJTv2Wtev1SPzl9bOu2+p+oumWLUYxhtdtdbTT+5dDYf0Lr+r8WvN/8hkvM/o8faGmLcmXtj51S8WrGuaqHwBB49yIiZN3uyBVzL8UVFvb7lAHPLFkgYEaaq0oiur0KYt9U2M3Ph3FmQakqXYksRmuXt+K36/mP1nuf79z+o/apPhq/KpwqhPVQCBEhAlBEoBFIguga6uYQCAQN0AgkgHQNAIGEAgaBhA3QMO6CQKCQUHzX67buUNl0TaO0bk7949sRGAp/mXf1T/rb/Vx9l8x8XvsKYnI4haSMs5CrFgFGlRJEn4IIniUTES9QThgopaWY5HFAEBg1QEAASDmMkCLtSqBPSmSgQGoEe1QKUQAKZZoIz+HDFBAjDLmqqDOKOTV+SixVKnbmeKaYzXIv+8KDmbwUMcFKKthiQeKcfKdfDe5gOMTiM11YkMnw6gX7EBAgVwOI4KNL9WHvRlIXWGJcJph6ok6hy9iotBwbA5oiwEg8DmqqUJlxWvylDEoyyP7OgHHHDggZlHFQRlM8e5AGZZgK8SqFOVUC1Yt7UEDIGrmmXaiInHgyBEgycCvBAGQEqoJibv71AwRHEIqE7gPhDOA5KpqqUpyixJIx9iiLZG0CWDD8RyOLBVURcILhBZ+oHF+BUQxubkpC3C2/FqSwyQVQnfPUbjgVECLZ+AUZ6N3KKusSAswNz4pB37yy0JxuREncjIKCYk5IxQGsEFz2DIoITkD7URWcQX5FVQ9KCgUQtYbgclQwTwYlFBcH7CoETV3DjJAA0pQKhGZOXeohaiwOWaqomZY5niFEKd0YYFFVzNO3MrLSABd0AYahwbArLUUSuGJEZYvRNaei+mvTLXU/Xext3YG5b2uvdmMSR4rXwOQxbWQV5/2Os5ej9Xje/7P1HYNvb7SVwxAhaiZSGZavvXhfU+Uuk2Z+VG5cDzmRMmvxTqfeka6d2EdFtyz5nILpHG1y95duXrx21mTTlWc2cQgMZH7lz6rrxytjZs2dvGzGBNhjAxOb4ueMlFrNY29y2J2Nw846TbjelWF238sZY6ZAYvirIW/lCUJWYabRN9gIiJLSFskD4j+H2lJEt1RuerbbaWJzu3NMbQAmTUhsKfs6upJp9O6ZduXI9Q6pa/NpLbbKTEbeOIuXQaG7y+TtWL5dZ4dw3hbNayxNXJ/emIVy9bftydXEY97v47eBlEgMFUnl8w9cevI7PbXZX7ohbwAA8UzlGAzJTnm9Xw137OfXNr4vO5vuq9SvdT3kTC5eI0Wz8luIaEO4L6Xr9f1mPh+323vq2tXlsMceHJdHIaY459lERFokH3h6lBHwkV96KCIs5BrzQRMYkfEx5oFjWJBYqBeLEhn7lFa9ndnbrAtMVtzP4o1B9qz1NXnrK/V/Rer7brXRNh1bbSErW8sQnID5bgGm7E8DG4CGXLj4de55aiFtkIDJQRZQCCJQCARSZdXM0AgEDZAIGgaABQNAwgGQPJA0DQMIJZoJxUo+NfXDd6/VGy2zH/pdnAscCbszJ/cvVx/hHDr/J8uuyMiTRQZpHM1DKNIF0QmYUcl6oajINGuAzRSJ8IIUDFAQcqqiIwPt7VAjX9yCLMUA7aioAyo4AQQFQ7gnJ1AmoXyRVZwL55hRVUnZ8BwQZpxMjSrB2HBEYN4ATqahUqxi2k9N0jnRSXyV0KkOe5dccyhNyY4DIqNVaNOBfTgQmpiY1CNRQ4clVV6+JWVWxlSpc5KouEojsKrOLDKmNcu9VcSFyNA+HJAxcizlyBjREqfmx4EPmiEZ1YD2hFISLuRgqB4mtXQMlqkPzQRMsyEQhhg4KIqnqyD/cgTHEGqBTkcyghK6QGy4oaPOBNceKKkZYZc1ERnMxi4qC9EVKJjM0tEAYnmrBIW2l+9MEdEatiUwXWNsQBKWsg4RhiTkylFVuUobu4YvdGmJ1FwHaoqAaZIq6xOErNszLHSwCol4HoXJyOKIgbjF8DwRUJ3nk7tyREo3AQHxzUEtVH4DBUIEE8QgHL9iAMi3IYoHqGl3UCFQqES4p3jJBGUw1MMkASWZ+/JQQlLHFvcgQkCGBBKi4UmALlz7lGkTMZYoshSuhmBcnPJZ1qRluXHuwcMzv3LOq+ufQj0n0zeed6iu3bh31u7c2lmyABbhBovNzWUpH2Lx/sd7fq+h+p65n2fbt1agbdvbRGrzCDJ/wAMT95XmeyOhsLf5YBcZHLD+C1ydVd1DdizaLOWFO3gtdXGOZrDsbc4iUpubtw6p4OwFAB/Kubv+G86ZDTJtMw0ubYrWOdqucSAfEwwFcuaqWuXvNxZswlOZA0vIyJYU+5RZNc/050MdR6na9Sb4SEIRMel7aTgTiS43N2JxY/2QcPi4KfLV8PZAgB2Bdyc+0rWOdrk7+5G3S2dMSQ0cgc24Dks2Okrj7zqvlRkTIeHFsAOXNF1809dfU+3s22ezI3HUbri1aBpEGmqZGEftXT1+q93+jj7f2J65/V82u3dzur43W/uncbs/PIUiD8sI4RC9/HrnPw+V7Pbe75SEpPQcnW3IRJA8WdA3JERk2L04lXFRMo0HHD9yYmoEjIVTAEg4dygqvamJyxCDJKUxyGfaipWd3chKvwgg8VmrI27be2JTIuRMa1lEv7QVnVx9j+iXqQ2uoX/AE6bnm7PeQnu9q+Nq/aA8wV+WcPeFz6zdn5defMz+H2BaZJAEKaEgTqCJQCKCiB11YCAQCBugEDQMIGAgEAgaBhAwgaCQQMIJwDlkHwH6tbkX/XnVKg+Sbdhx/5dsBvevVmcyf0ef814S7R88llpnL1f9ggVT3qKcge5BBiS2TVQRaNEBSuTIEXbTgAXbtUEXFI4cUCkccuCAxwFMSUBlyxClEX8Ls3FBBxgcMslGkZxDOMDxxUFUse1BmkDqp3d6IxbqLUyUqubbOjc8nWfyrqRcxdv8xXaVyqqROpuNVK1FgIkKZZKCyMiQQVdECwkOBwWWotGAWkw4mlUMSNw55qauHE5EOMlYliQlUDIlyqziwF8D3KomCP4lUAoeWYCBuPaqiJPiJBpgoIgl+QxJxQSGQJ7CqhSbPLNQJhhiUVC4AztVBUQBHl9qIrOkV96GoCdw4KGrg0Il8qkdyImbsiSbWQGp8i2CKcTdx71ZRfZtiIEyxZiO9XVTndvykdGowwMYfEeDFRGU37o3tx4a/y4nTAsI0Z+5TfLUFqc7sYMPFpBIGGCJU9OhnBB7UEZScU71RDPiyJpxfuzCglqGByVE9Y4OyBuSKnvRSk5BrSiCJJAAGCABAfLgUTS1c3DdyKRIZwG4KBRJbFBG5Iahmioa/aoFKdO1RuI6mCzrSqUzEnlgsq1dE6B1j1B1Cez6VYN/cxtm5cOEYWwWMpnvYcVjvuSeW+PX13fD9J/T30yOjekukQu2htd/Z2//WRtx065ylIkXHxPi+LFfO763q19n0+v68yPX7azcnPXcOqZx5cAO5ZjVdfbw8u2ThzW451zN1fF/cULwgTFzhq/gs9XXTnnGiA0RBDkigpV+1XEtWefERo5ILOffgVqMVg3e/hByDglWRx9htJeoNwb+4B/0OzIeGo/V3Yn4B/5ET8R+b4RR1j5b+HqtcneRwxIGR4NktSMWi/uhEGMaE48qLbDi73dQiS9M3WXR8e+pHrvqezvjpvT7UZbrcGfknU8YxFDOUe9dfV6vtf6OHv9/wBJk+XznabE2rs9zurhv7y6dV27LMle7mZMfK6tt2rp7zbxeJOqeQi5WsZ1QdxvS/lWDpOcmCvhnVZtdUnjKMDkHRJpR2e9xlcPZipqkdnuXpdZ8BV00xXOzv4OYz1c3RbqH63c2pNcjhjxVxnWiz1GxPw0dsCst6suWoTGq3V8Y8FFUeS57VKq2xtmIo/fQLFa1+g/o36BPSNhH1H1GP8A7h1CyRsLB/4G2uMTOX/mXW7o9q5zy38eH0graEoEVAIIlAkUIEUAurmaAQCAzQNA0DCBoBAIGgaBhA0DCCQQW7eOq9CPGQHvUo/M/rLcndep+q36HzN3ek4LgtMxxHYvb38vNK81MjUOD/tRc24qIOqneoEXdvaoqMquHoMGQD058BkqIVyo+WKALIE1VBGQqUSBw5fgopcPtVAR/H2IIltOGVQoIEVr7P3opHjicnwUEJVpwzUVnuV5Ogwbv4WNSpVciZAvvzWR1NvfFIn7aLpzXPqI3gQRkxxCtWGCAXGGaCZYsRlzUIJGUotiXePFG4lC4GHEUQSMnjTDMKap6hpBzRD1FxgGVMNwA+BGITUxOM2Dq6zYthdp2rUqWJTlRx2lVERMSDnDPt4Ig1PiOzkgWoA8nREDM8G5oacbpjjnmimZgVBxTTUtUZBEAty4YIqEtrqLoYjKwWYO/JExUbcou5c8OQQWxkCRKFsRYAEniQ9OSKnrALt2lAjfbP30VxkhLbyYynKT08u3SRCjSncRtz3l24bhuCG2B1xcAn4QPf7Fn8rPhpO4NmIt26gADU2LYrSVVLcTlIP3oFUmj80QCnH/ABRCc4Rw4oaBcOTk58kVMS44oJaiTTBAw4eo/ehUCWqaftgiByW5Ipaou7fuUEZTDv3IpawxGXFBWZB/vUUiT2KVUSe8qVuFItioqmcmfhmVmq+x/wDb103f7Xd77e7i3o2nUrVrydQIkY25yafZJy3tXh/Z6lyPqfo8WS3+cfbdMJyEB8MQSOdaLzPa3ba1IHSTQ1fsGC0xU97btzsG0blwag2mEtJ9rUSkU2NjbhajGMBGEQ0IioA4fvVkTrpLyKgRBJ4M5PYtYxemXdC9agQLcogPXSQrUnl5u90rqfW5aLRlt+kwuRhu95IF7o1ATsWMKn4ZXMI8yudrrJj0+63e3tWf1Jnb2mz2Q8m9K5KNq1btxoIPIgDRkOCqXxPLndH9XemOt72ex6R1Szvd1Aa4WLZkJTiMTASjHzAM9Lsun1s+XKdzr4q/fbiVonUNJD40PvSrHz/1x6z2/StlJnu7iZ8uzaB8U5nCI/fknHF6uJ7PZOZtfHdzvrt3dXNzvJG91DcHxCAMhHhCP8o496+hxx9Zj5Ht9l6u1WNveuB7x0ROFsFgAOMs+5bcqthb0A+XoiP5VVMW5E1ue5BPwRixl3oKZXAJABQR1yqefBRRriCA/tRVU4RkCSHfjxRMczddPBGqHhPAcURmsb7c7aYhcqBR+Kz8LK7G33FncgGJAmRgUadTZbQ379myGEr04W8PxSEPvXPu+K3xPMfrqVqFgR29sCNuxGNqERgI2wIj7Fnn4a6u2oOtIFAqKAPJBEoEgEUIhLqwAUDQCACBoGEDQDIGyAQMYIBBIIGgaCQQW2NQm8fiiDIdoDqz5iX4flTqN03b927ndnKfZqkT969XV8vPzPDmyOB4Y81zbUyuZjA4oiHmjPD7EaOhDgvzUCIIxQQixzYqAf8Ax4qgJo+aCHAog+ZyUUYuyBMGLk9ilCLAB1BF8Tif2oqHlQVz/wAEVVM1YVHBZVRc1EknE0RWLdR8J7EHDun84nmsDTEvEMtai03o6R5kgDgHOLK6Y6ux6D6i3sY/oukb3diXwm1t7shyrpZlL7OZ+Wp6ur8Suvb+mX1FnHVD07uwD+MW4e6UwVi+/j+XSfrez+HN6n6X9U9MiZdR6NvNrAVNyVmUo0xeUNQC1PZzfyzfX1PmOTG9CUjK2Q2bLTCUZgYk1xzQSt3HtkGp+5FS1+3BBbFscKuePsQSBw+xEsWWNtdv7m3ttvE3Nzdlpt2gwMia4nAM5J4KxMdT/QYyuSAv+bajLQLkAYxlIY6TP5ea1rKf+mbW2NGkPxMnbvCamRE7LbB3tgHjqKv2PqrOzsUa2/ep9qv1iMun2pfC8DxBf3FPsn1Z73TNzEflkTPDAq/aJeawyF20XuW5R4kgt7UYxKF0FtLNkQqq4XaAYHAvio0mL8B+9A43YSPPN0QpRiXMamtEGcncyAIhENECJIcl82CCszuibToeOSrKYsSniKGgVWLI7MwJfxDOLsTyB4qKp3FnVuW8MRKFuOm24idU8+dFmzyutJtkmoYigWmSFhiXwVD0gYBQVTNSBQFVBCxuJh4WpSGJaJQxMbLfgFrE9ODkN9qi5UZbLfRAexMEcv3KaZThGcfjhKJ5hUqFy/RoiuBKIr10rRFOMmz/AHIF5jihcIuI6h7MCoES/YixF+BDZLNUjJ1NawhIKNFI/wCKitnpfoV31D6k2PR7dIbi4DuZ4CFiHjuzJyaAK5+zrJrfq4+3Uj9L2eoelOj3L/8A7nstsLcIWrNkXoExiHEWETL4Qvm3nq/ivtTvmfmJbr6tehNkTb213c74wiBq29gi1qiGpcum27vWi68/rd38OPX7frn5cXc/XiECf0HQ8hplutwO942Yn7V1n6l/Ncev3ufxHF3v1p9W3w1i1sdqWNYWp3TXDxXZHDsW5+pPzXO/v9fiRyZ/VL1/ORP+tXbQIY+Tbs2x7oLpP1uI5dft938ude9a+rdwD53XN9M4AncTjhn4NLrf+nn+HO/sd/yxz651i5Iyub/dXJMATK/dkSB2yyV/1c/wn+7v+Vm19Rdc204XNv1LdWjbOqOm9cYdkCTH3KX1c38LPf3Piqup9a6n1Qg9R3V7eMQYi9MyiCMDppHU2bOrx6+efiJ37uuvm654vXIXYyEpQlEvCcDKMonBxKJBB5rpZL8uctnw6nS/XHqXplwbc7+7udphHbbmRvQ05CJmTOJ5iS8/fo5r0ev9nufnWTqu73PVN/Le3jHWAY2LJJ0wifirz4rXr9f1Y9vtvbFCW6tzIlp0DAwpH7l2cFhuOcq8URVclADUYvxYMUETdtMD8L5YhBGVxmJrE0DIasgLcgSDRvYVKuqpQkA+IHDJRVbkuW93BAFu0ZoKpM5pjQcUVi3m1iRQO2aJWOyZ2pCQNM1MWPc+ibh6h1zpm3LeZc3m2iXGMfOjWi4+z4rr6/Nj9YX63rhyMi3tSCooBQJAigSAKBIpFEC6sG6AQCAQN0DCBgoDNA0AgYwQNA0DQMIJhBVvrotdN3t6Xw2ttemewW5cFrib1GevivyneLW4yI8TAgYCoXfpxjLMFx+2KjSqWdeSiKjEEF8UaRnGbaonDBVFfnyi2okvimJKsFy3MAOx4LGNGXAqxCAcK6Ik17FUDj70U6tRwMskCdhSiyIg8nZBEyeRYt2IHm2BQVXKZPwKy0zyJJrgis16AkTRwe4oODKMp7gxiNUpS0xiKkk0AAGJWKPrvoX6CdZ6pCG89SXp9I2cmlHZQAlvJg/i1eCyP6nl/KvN3+xJ8eXt9X6Vvnrw+1+mvpx6M6BEHpfSbFu8P/y78RuNwTi/m3dRH+UBebr2dX5r3cejjn4j1AtaqylKRyBJLLm7SJfo4kOYxpk1DwxUNZp7C05eOnmD+5kV5frn0z9F9alKXUOjWLt2WO4tg2rx/wA9vRIntW+fd1z8Vz7/AF+OvmPG9R/7dPSt+ROx3u+6fwgTa3Mf/Hol712n7fX5jz9f/H8fi2ODd/7ber+YTtuv7Y238Bvba9GRH+SU10n7k/hxv/x9/lZD/ts6yQ0vUOzDl/Dtr5OGFZRV/wD7J/B//Bf5dPpn/bLcM/8A3D1F+TpacdrtvzDnQ3Z6R7Cs39z+I1P0f5r23SvoH9NtjC2b2xvdSuwfx76/OYrV/Lt+VbXK/sd38u3P6vE/q5H1Z6D6L9MekInpXRdjsep7/cQ222vWLMI3RbiDcvyjP4h4IiOPzLr+t11evN+HD9vnnnnJJ5fEXlGzCEncByA+Jc4ZL3vmnQHiCMDSqik2XD70A1Wapo6COk6i+Aw7UEqtiXq3eEBqlgZGTZcELFE9ptZyJ8oCXGPh+xXaz9Ypn0uzMuLk4DGoEqe5WdJeFP8AodwkmO7iOGqJH3q6mIy6NvQQ1+LHNpM3NnU1fqp/RdSsR8zy/M/EYnUacsVdTKhb6jtoCzrLS0+MSLaccAeKaYlPqOzk/iDipBZ2V1MqzzvLueXa03M2E4y7jpdk1PhZHcGREJ2pAk004u9G5qpaq3At/q9vKcDa8JaM2d4nEtjUqX5ajTAzJIiHPAB1RdDZbqcSTE28zrpjTNDGux0i0P7xM5fhZg/2ppjbb223tyaFqMebB/es1cSNydA5IGQwA4BTWkZaXzLPU80EDXkWyyQSEYk8WwDOyCjcdM2V2J12mOUo+E9qupeY5m66BuIx17eXmxytyDSPZkVdZvOOTMShIwnExnEsQcQjJagO6odGkfNjx70XEgbkqASPYDioZGuz0XqN6IloFuJw8w6T7MVMVZ/8c33/ADLQGZcv9ifVdabPpu1ACW4vGRzjAafeapkNao9H6WKeTq5zJKhrTZsbazEws242YyDSFsCLjgSKlBIaI/DGMQMogR76KhmUZFzii6hKQqK80QtQeuaAEszhHgiFqo/FAtVAwrkMyigSOY9qAJzzKKjIvj7VWVd0CcQTQxLus1ZU4y8NexDUbd3VI2rniPDMjiqaiZShc0E/0nkmolLxAxPt4KjLMYwlQcVIM8rtyxJgHtH5TmrYzrRanGYBtTp+B1lqNcRJnFDwStKbnEVCiq9RL070QsPjq6ghOIkSMlFYLkGnLlVlpl2PSXX5dA9QdM60I64dP3VrcXbZwlbhL8wf7DtzXP2c7HT19ZX7GuG2ZCVqWqzMCdqf4oTAlCXfEgrEbqBVApoRxQIqBFFJAIEUAurmaAQCBoBBJAIGEAgAgaBhBIIBAwgmEGD1HeNn0x1m7F9UNjuGbGsCPvW/V/lGPZ/jX5evBoxwEYsG7l2rlGWTVf34qNKiBigg37c1FIjUiITtxkKhBmuWCPhxCoUN1KDi4DIcWUw1fExuR1RPcs4uk5wPvSUwaq4U45rSHrJLMe0oaBjgopDBj2hkoiaEMKHILIkSAK+1UVXBV8jgVK1FJESWzGSiqbls6mAcmgCxbjfPOvqX0k9EdO6dct9SvWxuOpzLx3Eh/aB/5QPw/wBWK+b7vde7/R9j9f8AW54m/wDufarFLdA2ZIWHVtsyJAIp96jTRCcRKoYBESu3ogUwUJGW3dFzcXLQ1GUANcyDprgBx5o1i+WlgBjkVEKFu2xOJFCyBxtfLiSqLYwIwAAFCWVNXxiBFo4PRGdSnT4fiOA4lCPg3166hPe+r9l0uUh5PT9rAmFW8zcHzpPlhGAX0v1ec43+Xyf3e97z+Hzi4LhkToDP8oai9Lx6oFmROolieCfVdAhLA1Uw1GuamGiR0BsS9Tkc6OipA0LIAswQBEQ545diCLCgi/FAhEEhzi/cgTsxB08uxBON64B8VePLmgnC+H8QjNh80QXyGWIV1mw4DaGcbnlR86B1RuARMgeThNPqt3l6e/sxs7i9K9C3TbzmB51ly72rvxjnEkxPBJDHMu2jLawnelGU5SlHwAiXgzIwrxC1KxZ5bIdN2m32tu5csC5uGfVc8RiDkMhzVqyLrU9YAi0YjhSvcoq0ASkPKOA7y+OKprBvOvdP2BlHUb+5o1u0aD+qf3LPXWLIpteo53gJDbQjE0AkTMj7El1L4E+tbli0LY4UOA70kT7Kh1reyqYWmy8KuJ9kv9b3vCDjPSmH2OPV9+S3gET/AChMX7N0OpT0fmCJMsgjWrY7mJxBieAwCIhuNnt93SYEpAhiaH20omjNHp/T7RAntoPkZAyBPeVNpjVCNqFIWbcdIo0Rmmi4XqMQNWAIDOOCapGUnf5hwxVREGRL1J581FRBIL/bkgQJep7AEEQQOb4n9yIJGTYN9qKRJoXRCMhxr7VREyOGKA1HiexAq8e1QFRigNRapdQRNznRU1ASAdzXIqgpwxxUELdwROkui1HcyMRG9b+KGJHDMJiRYJR3FvS4ExUFXBTC/ITMJ/EKEKC69ETjrigxA6nhKrYKxKqY2Z+HM4K4jTDcTLAFhks2NyrIy1Cvw5rK6gZRix48VFIlxqOPFQGpy/DEII3rIujVH4h71YmKIwiZCJGNCCl+B+uvQe6u7z0F6b3V2RldudN2/mSliTCPl8TlBefj4ejv5dtbZCgRUCKBIpIBAkAurmaAQCB4IBAwaoGgHQNAIGgkEA6BhA8kEgUHL9YTMPRvXZB3GxvYFjUALp6v8ox7Ph+Y9wBX39y6uUZZyOQUaVyejFufaoIO2GCKKFiiIitCios57kFVzbxngKq6mMk43bEvC+JbmmJ8LrO9s3QIz8M8jks4sqwah4cQcCoGbjCp7CVowvPjx/xUxURdcjgUBKRHiAbioEZSI/bBIIwMieRp7VRRKRjcpgsOkWbWAu721EtjqL8lx99zl3/X53uPunoiyRtrZrEEUfHtXyn3Pw93GZiBAGj4LSOhaeMcWIFSygsEoO4L8sS6CzVOQ1AMBmeeKIQoCAHL0KgshqDkseCCQjIRagIJ9p4qmpgCNYuRme1VNEQZT8IoKEq4mr9MYscAA3aFcZ0CUiaAPgOAUxX5f+pXV7O9+o3qC8bktMd3OxF40A28Y2Y6eXgK+x6uc5j4PvtvdeanuGGmPjoSGzelV0ctQgZkgfM1QhEiPilqr8xyRSNyYiHZyzpgUr0QCJRcHBsVMTTjO0MaZDi6YacNDmMTzD/Ypi6cQDgaGhdTF0GGJeuaYulK2dNakj2BMNVmA041KioGB1DmUFsYNEszt3oEIMABJzXBAvzKkkaRUVqGQVT1zubfTSNuOpjT4pgVRLHUvzBmYE4YLTMVRnatQlO5IQswDzuywA4D+bkhXm+r+pdxdErG1/JsEsSABcm3E5DkFjrpZHDjKUpfasNOltLmkMSV15Y6bYXNXNbYSYYqiQgyIsthsXB54I0thKUTjQ5KUaIXONFFaIXAWcqVUjMSi0qv+wQVicoFpV/DLEEKKtJPGvABUBlLjQ5qoQxBqgAZA445KKi8ScwyqEZMfuQR8wgY1zUC8wY+5k0GsCpwPYgDNx2YKiImalkCd0EXY1LlA8uzgpgjIu5HsKYI1cPioG9MarQrkGk4UFmMWyKow2bkrN6dkljCXh/pxCQXbr8235luk4ivMKUR2u81eCUgKeFBK/DRLUMCUJ5VyjE0OJzVZwogRNMEqxMSIzWa1DueKNFhShJ4sR+wRTIkzhqK0RjcMTj+wWL01ibQlcEzhiasn2SR+tfROzu7L0V0DaXQY3LOwsiUTiNQ1gHukuPHw7+z5dhdGApQjioEUCKKSAREUU11czQCAQCBhAwgaBhAIBA2QMIGgYQBQSCDletH/wDhPXm//pXH7Hi66en/ACY9n+L8zbjVKRkTgWfGnJdXJjmWLMwKioE1QQLEcWNHUCDu/wDBFAHtRTEWd2AzKCE5RNDJQVzi4Y4cUiWaxXthqJlHFqLWs5im1uNxtpeXcBlb/bBSxdbgYXYicPEPwnEKKiJxiWIqqVITgeQFQURMSjIM7UNFFVXAYtRxgFGlesjJgcQCiIbkEwjMYuxHBStR2PSvTJ7zdxmKRiRHB+ZXh/a7zw+l+l67br736Y6SbG3hViAwLe9eCPqV6W3t3PDtWmWwCOlqP+5EMGMGEQ5zRTlcAaL9pKYicZRIpxxZMNNyGiPfVE1Y7g1oPaXVZW2zIO+GYKsKuLMRE0xLLTKGDvVh3IJ7bT59oSLAziT7a+5Et8PyH1TeR3nW+p7q9Bje3O4uF21NO/MxJ7V9mTJj4Pd21ltiDGQYjAKs4k0Wpwd+aCsMxAqeKoiWamSEKQNHqDxqgQdg2OfEIF4ouRRBJ2DjIPVEQE5s8TjgCpinG/cFBhmSmGrjeNPm5DNTFESJEFvEHYjkpi6NVXagx5qLp6oOCKEYFMFd6EBZncq4DlQTFqMa3ZgFrUQHBemojkVZEtQ3O7hb1bncz8qzAkQHzT5QHzFaqPM9T6xuN7IRgNG3gXt2sQOfOR4rFurIx29pdmcHKk4tL1I12un3h/w35BdJ62b3GiG3MaSGntW/qxej0GNYmuYyZT6pOllu+AwlQqNLhOJp7kFmqBNeFK0VAbjVJYNQZoD9TAfMKYqKstb2LNQoa1W78DQGmQyUsXVvhnExOBwA4rKqY37kJ+XdNfllyTVxeLmqoduC0gepAzQDNEg4nMugTcMAoEz1yxVAwp9pUwBiDX3KiJjF8a+5AFmbFBF+YAQJxQl64II6geI7UAJDB6ZoIkseKBG4DgOzJACVHyCgWpzkwx7FRZCQbF2NEGHqcdBjfiKgtI9qULbbliCTQ5Ih3dvES1QLPUKC+BNy3pmPEO9FZ8JmEixGDoJG5hED+KABrhXgpViYLA/tRYURERI8MgirhF4PhVTVUShVysq9D6A9OT9R+sOm9J/4V64bm5OLbeyPMun/AGQyx3fDp655frGWgHTCIhbj4YQGEYigiOwKxKiqEgTLIEESihAIEgF1cwgaAQCBoGgKoJBAIBAwgEDQSQGaCQQcr1lAz9GddiI6idldYDkxfuW/T/lGPb/i/M18DxNhiV2cmKbGT4kqNRWdWQpyQIk6cKZKIgXDIqMrhGGaore7KupuSIPJm1TjXmi4gY3oFokmj9qIcb8hScWOSmCu7bjdgzNLN1qVLGGQv7WYlE0GIyWbElxss7mzuB4gIyUbnkXbenINlWisKqacT4T2Ii+3cMgz1ZZrcVylWuPNEqN0g2pxGQfvU6+Fj2X02tG7eiSWDmvavlftXen2v0pnD73sLdqNiAgWAiAXzdcceu9N0bgPhMsA5OXBXGdShubesxJfTngmGoXtyWeES5oeOapKhbuzLPSUg3FFa7YoCSzYjkjKwTBmKlgGr7aIuLgDHDDh70ZWWroBETlV1UqwTFY5FqcFUOUyH0imaILUyTKWB0yzoPCQtc/KdfFfjm3a3T3Y3dyJmGnUTEOalvEvsvgJaIgDxVpTJAVJJBDBERekW7yioxAlXgczkoJSJw4PVFKT1LuGVQnAx70EZHKvNESyAlkHxRSA1EMCcWCIjGWiT8Mg6KttXbZk5qzUJoSgujfj5tGIFGbBQ1cBblElgHoTmphqi5CBJhal+ZIiIqxDln7sUxdYd3d6mN3elt7IOqZFnc3Ja4RhHwDTAdmaZWdjidY6f1HzBudzdnuAaSuTL6T3UAU64/O61z0NpsBIAkgfcrzwze/LoWttGEQ3tXSTGb5aBbMmpkmn1WCzhw5qfY+qf6bbSB1QB5iim1r6xG50nYTFTJzTjTvUqyYiOh7QVEiBwfBTweVkembaDOX7TVldMWfpNqQ2gk1cvlwTTFN7bbGALQqmpjObEWcRZ6hsFTEre3iCzs+JdQxdCJj8JNOOCip3Ya4sS5GHapSXEbN8ROmZIIyUlaq8XreIBJWkHmPUhueKBGc6sAwQLXNnLAcAgRMvlOGKAGL4ICTjDFQRkSKKiBHizQRJGAw5oGTSvsRCYtVBF6882VU69/BQKYyogYc0Y9iCUMWFOIVBubfm2JxLGlGRNce0dFDk6zCtli8JR8uZeXylCNdsSDjAjE8QorPu4A+IYx+woKA71P7kFsThx4JSLNJDfzYBZbRjJjgylVqsyeklhUrtqAq1GL9qtI+wf9uXQgT1v1HcjWHl9N2fIzHnX5v/AEiEVzvmuk8c/wB32YutISlAVBF0CQJFCARESimurmEAHQNAIGgYQMIDNA0AgAglRAIJdqAQSCgxeorRu+mesWhjPZX8nwgTh3Lfq/yjPsn/AFr8u7oPDDAAk9q71xjHMsSxYZqLFRNKURUS2Ao+B4ohONPYioTZ6oJAitPdTvUQxOJ78sEVEsS8ZaTh2KKUo8Yu4xZBCVuLvUK6lU3LOqDFJWbyxXdpchLVHuPYqi2zuyGt3Y+EhnKzYs7Su2pNrgSYthwSKzwvXISoT+xVXWm7pnZNyL0+KOaw0z2rmMeIYvxQj6B9NYRhKzE0NK8Cvke3z0+9+vM5j7jt7gFgMKMBqHBZdKutiIiWDniOKCAifN1Zk1RpeZTEmADH2KGLhgZDCgQXQOOrvRKnAgxFKyFU0N3AFWyeipVsNRJfEYN9qrNXeEBnBLu7qskJatRxDu2ZJSIss2zOcQ7OCJcnBH2LU+Uvw/G9zaab18C5K5oc6v8AMQ5H3L7NfAqkSuuI4jijKzXNmLDkM1VWxepZv4KCfhDF8cs0U/CZHMGjKKUwTBx8WTolIwkMQ3F0QRBJId3VExbOBHiGJyUaLQQCC4A97VRMVShKeWLZoiuW3u/IwkaPyV1cUeZuLUmkDIDOPFRlfDfhvDUHEDjgqurBu7UrkfNsmUBLXKQJBAjUFZoo2m8FrR4zOEoiUxLImtParDXQ/KvwIIBgRWORByQ+XEvbWWzv6B/9vM/lHFv5StSs4026MZYCilrUi+BhQBySoJ6wKHEZc0AbsBQe5F0vMFPcyGpi4CAxc4kGlUBKXbRDVZeRbB0VWYOzE14sgYgYhseSIhKQBfNUTNwEYP8AyqYJW5h6Yn2JghubQYTGIxZZsWFZuuARFJVq3WSKincqhOe05oGZZthkgRmQCSKckCMnLinbggAT7FAnJDEkjGPJUEhHST2VdBCp4U7kDJFOCBOWHDJApY4U4oIl2QSAJHDmgg5f7UE9RNTxyVTVkSSMKHF0Ryt3aNu9IEMDULLURjMjDEINli/KUT4mkMjmiLNWvw4OGJbiosZJRMZac3b2IJxYBKq+JiYPx4LNrSNavmpqrLJaQPAhlirG7ciMNmZknTEEnuqfcqP059NOgnoXoHo2xnDy91es/rt9E/8AP3f5p9kDAdy58/y616NaZClAoIoEgSARQiIlFNdXMIAIGgEDCBoBAwgaAQCCSAQSQNkDCCG8sjcdO3tgv+btr0KfzW5Ba4/yidfFfli/E+Tbf8Ift5rv04cuddBEq4YrOtYpIBFO9UVy1gh/4BBEauHeiA0w/wAEA8pYCiBGzJzioiqe3uUoTxCpgFvdP4ZGMRxyUPK+PmENcLj3qNoy1RPF81LRFwRWuSaYpu7O3IuKK6zeShanak8XPPEKpmKt5tibZu23Bzh96jWMm03mibTPhqCD2KVZUrrW7zfKax7CstR9C+nmu5vNMQ5AD9jr5Psnl930/D7btbNzy7cQXERTI96y6RusmQjIACtHwFCo1iy1aBYBtVHQW3JQJ0gUevdiUIIkiY1EirgDJBaJCR5/syIr8ZnXAs3AURV8dNHL0w581WVguREmEsfifFVFzYuHOIH2OqyjEgSA4MTLmg0beY86IzkavzpVWVmzw/Gd7aR/UbgW9wSYatWR+Mjivs/l8GnG2BAAEggNJ81WasgLcWBHeiLDpZmrg45YqhBiQGz72UUSgCARXiAUXUDal8kmOJc0Kgp3G88vVq1Sm7WREuAYRJkZ/cpbhI12pzNqF0xeUgC44n7lYhebcqYsAcAzsqEN1eJIIBAoaKKYu3CNUouAexFBuQnGUg4jDFg4D8SpahixHQLgkDE1EgXdNMUXdlrLw8EwPiFDxwV1LGa9+s21q7K5DWYWpREwKASYEtxTTBI2TcBt0gw8oZiIoAXzCsZFu7K1IEFx24osrZqs7q1K2a6sqO+TdiNM0BKzc8q+KDCX4u9ZLGny4uGwx7VSDyxiEMBiANRi3NkMQlaB+Gj5oiAtkcSgPHGhqT3hBIXASXrlRFiZEWoKYYIpMxYgOaIIShCQpJijKvQQWFeKoR1AuKILhMSAcLIzXgbMhOPwk15LNjUqULwkBUluC1KiYmS9EVPxkNxzQRlGVX95QIiPEBACMc5dyBtFji/FA/Dp+GiCJ0sCAgTjg44IBy1ECJlR0ACwbJAH35oIyZvuCMkDRwO1WLicSQaAlEZ99bcC5i2azVjIIinvUVKJIqPYtMtMJ+FvfmosSuQEoibswaX3FStKImrFRWjbkSplgAs9LEpQcgZOzLOqlCMgXwY0UWPX+iPTn/yT1L0bpN2L7e/fF3ef/wDNY/Nve2MNPes9Xw3xPL9RX7mu5KbCOokiIoAOAHAJIKlQKUJAlAigSARSdEIooAXVzNA0AEAgEDQSQCBhAIAIGgkgYKAQMBBdZiJXBA4T8J7DRJfJX5Y6rA2r96zNhKzcuxY/yzIw7l6+55eXn4ce7cifiqcXC52OmqJXduMZMioSv7fIglu5EPzrRZ2/ihhykCPDiKKK5187/UTAls2NVWa59y51WZxkOBdLzT7RAS6rA0uyfg6Tin3i2G76u9S5zcAp9KfaNlrdb+UXlbBbNlfqn2qc9xvm1C2SOQSyNS1QeqGJa5bIOeSxi6ut76Mx4bZf2/YmC8bi2BHECuOSYDzIGorwdBg6js9QN6zFpD4o8eYQxkjc8/b6H/Nsgm2c2zCi6+yfS79DHa27xYXLkIgk50/evj+z/Kv0Pon/AEj6xYv2pRxcmnJZdF43ELcT3A83REhclImRIAzQONweaHw50Pcg0gQMDINxfNA4x0uZUADjMpEoANTqqcBh7VUtWQgTHUWegjwSRm1bbiCTRzAtHmVS1PWY+DAZqisXnoxdn0qJjP1r1DsvT3R9517fn/pumW/PlCOM5/DatR/muTIiPat8c/ayOft7nPNtflPcW7pv7mc4+K685AlxE3CZ+CVNQqw5L7D4VYyNQBBeqqac3zo7YKoYlPSQPdz7VFHmShFjHvzQITjO3ORkR4TXJBlhd326uxsbW3K5fkDLTFmEI4ykTSMRmTRRYnZ6bupzhG3uNreiIy12xfhrMiDWILAl+BKmaVPa3rtq8LFzVAMIztycGMhkQcFcSNF06ZMHMhUn7lRPbWyQS1cWCKsldkSBEimPNTSMG5ndMTPUI27huAiMmPgiwcDALNV0trKMdtaGnGMaZimasTRdNudDLSeIRWeYlICOsytSnATi+MY+M/7qIxTtQfzZRmDc8UXyeq0ylMRpk1FRGJ0yBGIwZBpFyN+GiZdqiufFSrqvXdsT0z8UThLioasO6DDVEg8RxVVKNw3AYP4RUuomg27gJET4eLohx8yLapA8QAqqU7ZGGKCrUI4ivBAxdtmmfYVBISjX3FBGTA/vQEoOHdpHgqKZCTscciiLIAEMcUAYRMTAjwmh5KWKx128xGRp8p7Fj4avlfGWoOO8OtIlhlTBMNM1DgE5E5IEwxOB9qKAWDv2qgqxZQDv3IB/DTAYqiNAHdQMTGKBHHlxQRcuRgpRLTmcc1YhSEWb3tmqiEZdvNGk64gl0ZovDXaMTi2CDnDEjILLVWEZhVDgGIL8kRptyHwy+E0J4LGNxnuQlCZEsQaIqVuRBfBQbJAEAijrLUMAAD3e1ZafbPoD0cSv9V61MF9tat7Gw/4r35lw4YaIRC535bnif3fXitoiUAgipQlAkUIEgGRCKKa6uYCAdAIGgaACBhA0DCAQCB1QMIGCgaCQIQWWZabkZcCD7FKPzR682c9p6r6vt2Yw3d6n8spah/vL2dvLy8negTI10gLONaw3tuCTVjmFn6rrOdqRiSE+qfZCVm5jGVAn1X7Dzt1AuC4zT60liY6kQWuwfmMVMNX29zsrpY+E80F4htzgI1wwRcTjbtkhgH45KKZAjgfZggqnuYwbTAk8AtRLVYvznL+3XIn+KJq2IvyIcxjzdFO/DbxtmN6Rk+QooqiFnYO8LR1CnxSb3KKkdvdgNVt5xq0ZVPcc1Ksc/fbOduY3NuOgxrO394OaFj2v086hDzf08z4R4oE5HEL5fv5yvtfqd7y+x7Hcm4BXUGYjGhxwwXKPVXRgZayZAcHGFPtURqhOAhFzgQCgYlIzoaZA4+1Fa7ZPaBgEZ0wTqcUD0J49iRNTDjEuS3f2laTWiBmBU1yPHkqyssQmBKo1F+0IWqbrahGpALkYuhDEiC0nD1p9iD49/wBxvqE29l0r03ZMhO6ZdS3mljg9nbQPN9c/YvZ+rz4vT5/7vfxy+Ubq1G8LN8DWLlmMZyjPCcYsX4VXufOVwgLdmH7FIVMvIxOZB1Blpk2iGBch6tiFFVXgJSERhkgUyI2JkEAs2kjiiN+w2+jpmz2kYA2tzbtbzfkhxfndlI2LU8zbsWoahDAzLnAJz8HVH+rTsdNuy6htIbmV3cC1Y2sDGYNs0EjSUOxvctz2ZPLF48+Kj6h2ZtWLO8cyjtN7DZC5KszbvW5XIwlI1loMDpJq1E9s8b/H/wB19d85/MUXD+eBE0ajZrDbTENaxZzXJCKZXIQgTiwJJ4c1mrrm7mEY35yMxKNuxotmEnEpyI1UHB1mrHVgdJAGGDLcZPwyZ2YmtFVZN1anPyhbABPmSNTEUAgC47SpSJ3YbqzZhEwMhpcMRPDHhIIMk70Z3RERLmhamXA1SUsMDUBV+DfYtMogyD6X5t7lEabO5t3B5V2KjWnKwYOBWIoEChIA6SWf4lRaLkK1pxTETgQaqKnKcBDw1Mv2zQQlpNSHODoKpRdhg2KoNBFW7EETXl21ZQIhziilM0d6qoIEj2M6BkmLFwe1BXd0XYGMgHxB4FTBlhO5auaLmPuKz8K1ROoOJMHwWkMZEmuYQPWAwOSKNQZmRSlKX8EETw9qgYBbjwVgUm9nFKgIqH9qimDElvtKIRxoO9SqcSAQfakCpUHi44KojQVrXBAPzHJVEokg1RGbcW2k7M9XWa2r96JUmauZWkTHw9uKziyrr8dduF1sKSWHRniKHJkRuteKy3D7FmtLbUBIwyqHPDmsrH6g+mXSj0v0H0u1OHl393GW+3AqDq3BeDvwtCC58+fLr1/D0hW2SQKqAUoRUEUUIBAiUEUDddXM0AAgaAQAQNA2QNAwgEAgYQNAwgaBhBKOKD4T9ZNr5HrbezoBurVncDnqhpl74r0y/wDWPPZ5r5zfdw2BxKopnbBqMOKiKp2hxrkhjPK25rTMNgmmFKzQ8k0xWbAyi75rSKpbGMz4R2EYKWRfLTtdiLMXuz1EYRCxW5Gs3IQFGbhkmGqZb4CUoxi5xQ1nvdSm+mMADi6iK7d3d350YRzOCo03JxsW2Je4ah/tUoxx8y7J8SUxW/bWdIB9p4+1TFjX4QSzjgOWaLEmkzhuD40UrUqfTZQ6fvBuLVtmPijEtQ9q8/t9P2/u9Pp994v9H1r0z1Tb7vbxv2J64S8DZ6gPhYYHkvn2WXK+vz1Opsepsz8QBqOHGiy01WzqejhqZB+KqWroxOpiWIq7UTEtWwuNWJPIlXGdWiUaAHx4nMh+aqL5WyIjxNSgGaEqy3JoxJwHtQShejXUXJJPBEpG+8hwwf8AggrlclK4IigJAi5pUtUor8u+v+v3OveuOqdVtDVtRd8nZgmgsWIizZNPxaTLvX1fVx9eZHw/f39urXH2d21chPb7gNalLVDhqiXXRwq6JkLgjugISETLWHEZasGSVtKVqQu6AxaIkwzDLTNQjGVZEMHY1zOCCsj86Wv5PegJwEovGcdJ+J8kR0Ojbqzf6bHp9wylvNrI27cbbyNzbEEAwArqtvVvlU5v4Wza17H05Y2m56de2m8nct7MyuT2sYHVeljGLV04tJwtzjmZdYvXV2WIeqN7tP8AougWb9vdXLW4l1Lrd60RO1HcG35dnbQuCkjagT5hj4dciB8Kz11ta5meXNhEm9KczXAZUUaWTuCYIjkA7cVUxjugxtz1YTiR7lKKY2n3cy7A3IQAzaA1GnsWcadA3CTKtStsmJSAoHYEopWIi5eDhhGEI1xeTzk/PxKH4WbnTi4o4KK4u5v3P1UGqQ+nVkWZ1m0btvYmdMYgSMYksSxkeOrFaZqmQl58yfCQRSbBieYoqiM7Y1SHwyiaoLLe6lD45CUePJTBp02rlRmE0VTt6KQGGIK1Kiu3dlBy7DBjWitiSr7d6MiAK5LONyrGcGMTyQQlG4CMwckEbkiCwJIAo6CMbjE1qA3NA/MBKCEhEmoB7EEYy0yb2oLJkaXxepP7kGactNQoC5AXrTgjVGsZc1K0otXJA6J+GSkRpiRxWkSEgSQa6cygAWDZhF1IYEuOzNAE96ArX71AzHNnHF0QiwblwqFVIkPQOEMBw58EIGFOeKigsO4IFJ3pHtIqiIE1qGanaFUMEtRkRG4NUXOSnTXNUB8CXWVSAwDurqAUcZlVGzaeOFy3xDjtXOzy6RnuQIlTNBq2ADyHGNa5hYrT0HpPoN3rfqHp3SbYc72/C3L+gHVcJ5C2JLHd8N+ueX6tu+Xqa0BG1Fo24igEYhohuQCSYtuqyqEgRQCgRUEUUIBAigRQAXVzNAPVA0AgaAdA3QCBgoGgEDQNA0DQMIJDFB8m+uuxiN/0nfAVv7edmR52Z6gPZNej13ef7Vw9k/7PkF6LUwIfBVFJFP8AeRFEzx7kVSS554UQM6QQC/JRcOTC25OmPHBBnnvRENbDDipiVWL85VfsVEZ3CIkl+zNFU+XMjMGSg0W9p4hiAKKjTLy7MGjFpDD+Kixl/T3dxMymaP3tyRG+ztYQDNUM/J0XFoYUNVFSADBnfNBITiAzkEZKAE6O7P7VLG5W/ovXd50rcyvbSIIujTdtzMtMmqMMDzXH2+mdvR6fffXfD3PTvqR0uNsT3kL9i4Axtxh5teIlFqLx39bufHl7+f3eLPPh6jpvrr0tvI6IdTt2pyGrRuBKyS+Q1gRWL6+p8x059vF+K9FC7ACMhJ4ziJWyCC4OYIcNzWWrVkpAxo2nhxVxNaNsTEamJGVKnvRLV128dNSHiO00VwlQ2+5BxDgUrxUUfqYiJ1sC595UFNzeW3GAbvRccP1X189N9OdV38JAXLG1umxl45jyodnimC636ud7kc/d19eLX5jsRuW7f5cwxOkg1Pg8Ir3L6r4QMpENMDuTTFkN9KFuVm5AXrMw0gfii34Smkq6G42U/Onb3Bs3JxiIW7gIAyYNTBXUxfLa3nn5JjcjEPEiQL8sVolQlZ3AnckbRMtLiPbyKDPcBhG4JRkPCJSfBBXdtW5gm3IwuRaQIJjIHiCGITE1O9e6veh5F/qe5nYNTbNwkHtIqe8p9V+39GjYxtbeItW7UBEBgWYkDNPhPlKd6NRODjkii35coykXg3D9yCs6Lo0621OKh1FShtp3L4kboYPpjEMz0qewJhq+WznBqvxRFF2F6MTBjIyoNJrVFX7W9ESlcETEzlIxi9NI8I+xA5mdwkXM8kRxN14dzE4s7LFajp7ebW3BxFKsxW4wpsmUSZVMnwPEqiRjat2pSJMTIu0cH7C6IhZstoMR4WJkWcH/AC/ckhSsxuOdJYiojV2PEIsX29xScCBLSfE1VFTNm1cDgty5rWpjLdt3LcsEZKN67GpLKNNNq/GY5tXtUUF+0fKiIEQZpUlyCCMgBI6SGPsVAxFWw70ECavggnEkhhkPciqrocHgcCFKii3dEJYZqNRdctwuhwWlkQhVINyDxkDQ05pKytjM/dVaFokSeZUAZS5sEUDiS5QMAHN2yQ0s2yKBk059rIQiQO3gjROSjKRIrkFGg7oFkC+CIhLCveiGJRFH8WXBkRIs3aqsUTjXViRi3Bc2wADRVBF2w7lUxo2k9N6JwGbrNa5XXrI1SOIGSy0lsIgTL0DM6zWo+x/QXoIu9T6j129bJhsLQ221lkL+4rPtayO7UuXXm46czxr7KStoggRUAgSgicUAihAigSBIGF1czQCBoBAIGgEDyQNA0AgEEggaBoGEEkHhvrNsvP8ASm23YDy2e7iDT5b8TE++IXb0/mOXtnxXwO9Fpnk625yskpSck4GgdFZ7geTAu3sQIRk+DlFRuXYWYvLxT5YKDn3d1cuE1ZTQrVuUgw9qqNMLAaiGGNtrmNTaY5cUXF0bQGAohixgIg+5QRjDzJAz764osXgRi2GmJ70U9UnJw7cWxQNwA/DFBCdwu0RUoETCLmc/FwjUoKtz1Db7dxIDzT8orLvOSgptdS3N8vENGXwxGPtUxdbrEZgPKTvUDAIanc3EoD+aWCYa6nQ/V3W+iQla2d19vcYy2s3laBBxjHGBP8pXDv0c9PR6/wBnrn+r1nTvq/ciRHf9MJiGee1utUZmN0feuV/Wv4r0c/uT8x6zp31S9J7uMYncy2Vw0FvdQ0OSH+MaoGvNc76rPw6T3838uvPr+0u2PMtXIXIUInCQkG4uFix1lZf/AJNtrTnX4Tj35rFjpKP/AJBtpYTBBL4u6y1GS91/bkmoDHDNRp5H6i9bjf8ASu5swlGBuXLOsGriM3b3Bej9X/N5P3b/AP8AP/l8ghLwW6CJMIscQexfQj5FKUouYnDPtTTAJRJd+5DEZ2wYsBmgpO3ALh4tiRT7FnGtWRv7+28Ybi4HpUu478lfKZEz1TqgJErguONPjiDRT7U+sW/6yZBr21tyeIjIxpQZ9qs7p9UodR6WdRuWbtqRhpjINIY4llr/AGJeGiO46RM/l7o22gBEzBj4uPcr94n1q02IXZSlDdW7o00iZBXYJjZbyUB5UISjODu41E9xRFZ2u5jOEjZYGIOoPQ8DzVqoWtxOEzIMTqOoO7EZPxURrtbu1PNicQU1cTkIynGBYiMwZVqAA6qqNmIm5GIqQ/hfvx7SolaLhHjEQBJjTiiODfkJ35AYiLjtKxW07NwyiMh+5b5rFjTZvQMqkF8z9qod2Ika9xRFlkSHw4H5UFl0WTbMDEGZoyoqhtSIOJNIl9Mg4blmoKQLtvVMxIjVq6gBzdioqyzuHtvNpAUGrwHmGOLdqaYle8giPhMZS5FvampjLLRbnSXMNw4KjQJuPEP2yUFohDRq4fegzzhpcGoCog8u1vsQNwcaBA4Gpb2hFOQLcslEZb9sCo9ylaiu3dkJNwCy00RuQuxY0OR5pKlFzb3ANUKx+xb1nEYSkJZoiYm4QSizc0E8WA9qCJPEIpuPlCBF3Z+9AqtwUEqkAlVSdnKinE17cCiFJiHow4KordjXBRE4yP7uCogRUrFbhBwWHcSooFFUTgQJAg5pVjdcrMHIgYdi560v2kYxiTKkYgmUuQqp1Wo/T/oD0+eg+jOm7K5b0b2/D9bvx/5u5aQj/ktaIrlz/Lr1/H8O+tsooBAishIEWQJFCBF0CQJAwurmaAQCBoBA3QDhAIJOgHQNAwgEDQSCAUEgg5XrPp8uo+jusbSEdVyW2lctBnOuz+YG/wBldfVc6Y9k2PzJ1CIiRIYXACy61xkY5QMqgKa1iE4QgHmwbJFYdzvoRiRDwvgFNHNnKVwucXWRda27eLPJakStlqyNLnHIBaSRZpHsOaim1K/DhRBI9uGB+5BEmRaIwzGaCdAaU5KNIgmjlES+JyxzqiKzO5KRhaqRnkHzVF4twtRrLUTWUlLSOTvOqxEvJ2UR5hLG632KWtRHZ9MnMid4kuXKTn+TddezZt2g0QOA7lRabhGODIIxiNWpqli3BQXCLmgFS+p8FA9AFT7DgjSqZ24PimA/B2RVcd/Y20XsX52yMDaJis3mVfvZ8VCfqPcRP/3l2fKTELnfVz/Dc/Y6/lRP1l1C0/l3ZA+xx3LH+jl0/wD6umS96266ZPC4KZGP3upf1+f6tT9vpmueq+sbqErO6iLliYaegES5EO4oVr1+r63Y5e333uZUYSiYDyzpox4U5ZFd3nRBd/tUUVy/ioqQMoxBdwcE0KV4AMc00xNwSXpwZXUGmJdjh7UXUBAZ9roGbcc8uCIRsA5Y4qfU1Tc2kXdg4zU+q6qO3lEgxMo8wSFLyqyN/e2/g3NwctRb3q+TIut9U6hBnuawAwEgCK1Kfap9Y02+vNKPn7aExE6iQNJrwaiv3PrGn/5B007W6P0/5rAwAocQD4sMHFVr/ZMS81DbdZ6ZbjIyMxObsDAsHODhJ3E+taY9W2cxqtXozmfkdj2MVr7Rmyudbrup5DHsdZny1acPy7shiDhyViVZoizsy0icNQYEuAaIY0xOmLy5MVQEmRqackIDcc8eJJRGfcTJGgZ4qDTaP5OggSizsasyor8nbiUZREomJLsce5QZb9N2I6tdHcgAng7KflVsIXJGMQ9IvIBiGyYGtFqCEBfGqWMHoZCQH3qYVZDcaixgGFDpkK9xZDEbszbkBplWoJBHcgRlEBzKI4uqiUDGTyiaZf4IuCuBoc1BAknHAoM122KspVlQjIh3xWWl9nd6S0qtiiL5AXKho9nFalSqdJamSrKcSSeDIHTmgeOGVXUU3jWqqCXIv2KKjgWbsdA8dVcc+IQIgtQ4qgehBqftUATTFwVRE9lBVlNDY8EARRy6jUDR0vjwWWgHw9yJTDFuKWrG4ORAk4YrlW8ey+m3pseoPVXTunzD7SMjud8eG3sNOYz+KkO9c+/4dOJ/9H6WuSMpSkwDl2GAfILURBURQJAlAKCJQCKCgToEUCQPBdXM0AgEDQCAQNkDQDIGEDQCBgoJIAOgaCQQW2hCR0T/ALc3hMfyyDH3FWXLpmvzB6k6bd2PU95sLoa5sL9yyRwjGVPcy9PTzc15+9uRAkANLisNWuPud1OZL4pasZvKmalZw1dDbMRzxWpGbWiEacAtCyIGrFNVM4OosJw2D8QhUNRzFEQzTNz7UBqyOGRUDAGfsQ1CRnOflQd2JJ4AYlNEzctWY6YmgqZHGR4q2q5W63V/dT8u24gT4iM1mjVsenQtxEiHPNWeE+W8MMKckaSMyAMETQbkCa44UyQ0juRFgCAM0NZ72/LNEu+D5KFrNLcX5OZGVf8ABDVRs3rhDk5P2KYIS2lwg1OLAJgY6eZUkCSRlxTBOHRYmszUVZMi+ULu32ViNKn2rUxm+XPvb1njbDDDBL3/AAThms295du64SIA+InBYy1rZF0d3btk25vo/FipbGsaYyjKInAgg4EKBSuDOpFVLSRVr8Tn2KNDzWNMHoiLBcJNM81dMSjclhiE0xbGYJdnYiirNTJd6kHMdqoUmYsWJzZ/egUrcZcHOSuJqAtAxomGozssmGq5WiI1DqXldQjYeNwgYNFs6Bz9qmeF1CEQJaSO5YUr+2DuB3q4LrHUb1sSjOGt2EpCkiArKljaL9jcGPlzYuwhINIDitys2VeYteuABhFmOIqFvUOFqcySAJMqiRuSJIxajoBzgcuCiGTIVNQVVV6QZclBc7R8JwVCJartkojFfB/UwOSlWNc9zb29rXJi4YdnNLSeVI3XWbluE7dmNqxdGqzO7IQMovjEfFp5syl6rX1gN7qEJWL27sRG3uvCNyJjOBkMYkh9MxwkxSdUsgviMrkJQ8IOUSQHK0ye5Jt2finUtGJIP2pSHatmQiDpDDGQdz2oWi6JRGDP+Gf70RHzCCIuYk4OBL7FNWI3NeiI1RGo5iQwSijSBXXBmfE/uTDUZQz1RbiSfYpjRwubm2Q2mUQWZ2TybGqF63M+IiMswcfcmpUtIDjjWquoRDVZx2OiIuONOCKkSH+1AE8zXNBFxkaoG9WCKNRpxdEBJLh3buUCNC3cmrgBID8qoH4hiceONFTASOOKysJ68uSjSQFf3IJQFQ9VKsdDa25TLCoC51t9++iPpw7L0/uuvXgY3+rSFjajL9Jt5Vn/APuXnblFYnmunxMfRC60yigRQJ0CUoRUCQCBFFIoEgToGurmboGgHQNAIBA3QNAOgkEAgEDCBoHmgaBhBOOKD4j9ZuljZesZb0D8nqm2t7j/ADxezd/3AvTzd5jz9TLXyneWDrkHcZclLF1j/TgEkjtSRNPyxEcpLWImI4gd3NShxDUHt5oocY+1RTJYB6II0q5bJ0AcMKAexAneg/2TkgYFKGmaqITuHUIwDk5qYFcnGxbMAWkf7kuJ4KKwyuSvy0R+E4hKNu12kLcRlLFXRoEziXooHrGkSOJqyCmd4EsEECZfL7UEDrw9qBxs5mqIsjakQXRYvhYAANKZo0Dc28S5lgoM93qNq3EnhgFBgv8AVL1yJEc6kfuUaY47fdbiTsa4BVlqt9KtWhrvy/yqyRm2qd5uIC35VkCMMyl6WRzDbMscFzxtbbtXYEm24fgtfWp9ktV2I8Y71myrKrO4ANQTzWbF0QvwMse5BqtmJVFgIfsQTiB+5VDEpZGhoqRKMqgd4QSjIVcggUHemokC3hjxqVUO4HODNlmmmKrsZCJpTIpQpDRZsgBpTBnMc5H9yE+VRtnU+BWca05CfDFXDYhKFxvhqs/Wmqp2bjVFU+tPtFtrc7u1ExEtVsisJVp24hWSxNldDZ9X2sCfOtygGAiI+IE8SV0nTN5XWJ2rtbcxMGVAKmvJaSp3AInSARLipUIEsixA4opxwqXzZDEuZzwRGa8D5wBBkQzMFBXuZQueGVoSjqDyIYYOY97LPS8xolPc73qEttHc+TcrK5OWMxGIrKVCAMIgUAWWviKTO5e2e6tXbgncjU3IPWEZNET/ABHOJySFLZXZytR1GJLPjU81rmpYlITuXAThHAFawarZ0ipxVZVSiJTq3JRUpN5tuAjHwiUpTwPYm+TCvvK0AHYVYYIiMomVoE1IyRFekszMQc0aNixJ7WUpqg2tI1Di/MHiOxZxV1q+R4ZsCzkZEZEHgrpiyRJD4tSmS0mIl8R9qqIuQ4+xQNxjw4rLQMqUVMJ/dmgYkcfaoGJNy4ohODFFIHkgY5oG4bBjx5IFhk/JRYdWcrOtL7UXIAzWbVkeq9Hemtz6g61suj7d4XN5PTdvM/lWY+K9dPKEPeyx1XTmeX6lt2drttvZ2m0t+Vs9rbhY21ofLatxEYD2CqSFpEqiKAQJALIiUCQCKRKBIEgSBrq5hAwgaAyQNAIBA8kDCBoGEAgYQMIGgKoJBBIIPA/WzpR3XprZ9RiA/T9x5d2TVFrchh3C5ELt6r4s/wCXL2z4r4Ju4NI6sc2qulc2TRVmUggQGrgqIgv2ZhRSMRlRsUAAGY4ZKKROZDKhUFGr7lA5MccMQUEWAFCiKrt4AMA5wQS1fp7ZlOt2WJzARYw3LsrhDEv95WRr2toRDkPIsqNGs45oFEyxxAzQQuXBgO45qiuLMS1FBYT4vsQEQxr3oJebCESaIInd1LU4ng6EZ726uSOmJZ8exDWUyvXK1bICigcNlfuywJ7ExXQs9LtW2nMuoFuN9trETG2xkM8lNWRyL26uX5mUi4xTUsUm1cuGgormruNNvZy01HdmunPOOfXWrpW7VuLSYnJa3Gflh3F2JNB7Fz76dOeWbypTwC5zm1u1IbFgZTLAZrX+tL0pukRpCnBc61Ds393CgOqPCQRWuO80sZwI7FUWR3m3JpcA4g0TRYL0JViQeyqmmAzYUzyTVTjeYcM2KamJC/BvF2ummFM2bs4QEy0yxrg9E0xpvwhLchy0RT2UXX8sCe3AeTUyWmdMbeg4q4g8gO5DjgriA7UFy2Tq4hfo4Z5YEIAbKD0FDWqmGl+hgWkzHIjFZvMa2no3wLxu63DHX4qd6mLKlC5dEiblpqN4TT2FApF5gijjA0Wa1E3IoqojPM1ZNTFV0vIz5UU0xARhd2sov4n1RJ4p+BpMtjfsA/qDs94QI34ztiUZANWFwViCw1RzUuYvmf2G73HSbfTf03T4ebv9xIHc3oQ8qxatxJPl24apykZyrKcjyAzV2Zk+Tzu1l2lqFmMncsGDqc84WtEdTHnUraASL0HcgiNRkxoFFQ8JvyOsylEcKMaU5rP5Pws1R0D2FVCPZ2ppiBLSNaFNDkQWiBVqoYMQwQVXrQD2wdJhE3IXDhFg5B/lKWLot3CbQppIoQfs7VnVsSE4k1Wp0zeUtcXT7Q+tIkYt3qauFieDZqaoODPyV0wnPemobmnF0XCd8a9igaCQ9ypgMiyhgcZupVkONQBmFi1W/aWnOqR0s5L0DYlYtbkfo/6QejJdB6FLq2+teX1brEIyhbkPFY2VJW4cRO8WuTGQ0hZnny38eHuCVtESgSBIEgCshFAkAgigCikgSBrq5mgGQNA0AgEAEDQMFAwgaAQCCQwQNAOgkEDCDL1vpMes9C6j0mQBO8284Wnq1wDVbP8AtxC36+srPc2PyxvITjclG5HRMEi5E4gihB5grvY88YJxDl6D3Mo0quVIbAIIlhGgYoESzOewKKiZCoJxz5II6m8P+KBs+FDmUCkREOSeSCq5eGkmsQaqoVmMYxO4uYD4InPmoYyX70rki/aSs6qe3tEyBIaPBWEbIkMzKhSOWefJAEmIA4Y1RFJMiQc+CKmSBT3KCMruXeEEPOuEMTjkiISEiOL1VEht75iwidRUWLrfTbpYyLcQhjXb21i2HkwIo6Liu91Hb2aQ8RybBTVcvc9SvXizllExnt2Lt2bsa5KSLrfb6bINqGOK3jDTDbWbIcioCpjLud5CLiOIzVvR9XMuXZ3SudtrUkidnZTmNUqRWpwze8apQt2IOwA4Zlb8RnzWG/fN2mXDJcuutdeecKGyDPM1OSs4S9rbW2Bl/LHErU5ZvSN23qJWeovNUT2sRF8e1YxrVBsEGlOxTGjidxD4ZnvqPepgmN5uI/FGMh2N9imKkN9If8Ij+k/vUNTtb6350Z3IkAca9mCDT+sjMuJajxdS2rIkNxeyDjgrOqn1g/WXwX09zlX7UyEN9uBjHHJyrO6n1g/X3fwuMMVfvU+sS/1C5Shon3p9Yf8Aqk/wkK/7KfSJDqss4+1P9lT6RP8A1fUKhuTJ/sp/rg/1EYyLnsV+59SlvIyia9gU+x9VR3DF43NL4saJq4f66cRppMZsGKl6MB3glDToMcaurKYlC7bEGDg8CqiUZgkMRLg/8VFSNwxDAAPwz9iaiwTGgjAxwV0sShcJi2qgVlSwQlKIYASATVOM2BOn2K6K7VwE3CQRFgHbmsyliyUokBgzoiMzTg6KrJGArxUUEhxXvVBqD1NWw4ummFG5O1dM7cjLcaTEDGMYy/Fk6yuKowkAxPaTihakIh3yTE09Adxmink3vVDc4MoEXZsAgGo2PJDDJBHLkmmECcU0wxjRNMM4vkmgAryTRJvYoq21BywDj3rFWPqP0e9C2+vdcG739vX0jpghuN1A4XbjvYsdkpDVIfhHNc758OsmeX6Fu3JXJynIvKReR4k5raKigiUAgRKBIEshIBAFBFAYoEgSKkF1cwgEDQDoGgEDAQCBsgaBoBAIGgboGEDQMILbcpRmJRLEFweYUH56+q/p+PSfWO+jbgYbXekb3asPDpveKcR/Tc1Bevdkry5lseDvRIcN3qNM5gRQiqCOpqmnNBEknAcgFFRPBq5OgNEifFlQIaZIhGuJxOJRFE5O8jRUVW4+bdMpUtQ+J8+SixXvNxqkIg+GNAFm1YqtWyamj0KRLW23AxAz58VoTlJgcjxQKABeRQRuScsMM0EQSMqinEIAgy7cSgjGxKbug0WtjnLBsFEaLdi1AVx58UWQT3dm2GOIxZF1ivdXqRao2JU01hu7y9cJY45porjt7kiCXqk5Tf4dDa9NOMhQ4K5Cb+W0WLdljSmaDNf6hGIYB2S0c69u7tyRY+xTVyK/0125iria2WdhGGNTwW5yzekr9y3aicNQVvTMnlzrk53ZMFxvl2mRZa20aPRszVanLnek7lZCMOwLbK2cY2rYgKnGRCluLJrKC8lhtKUAQyqKzCIoQo0qnEO2eQWa1EDaOKzioaBwQKUA7sphqBthTFDTj8M5DsKmBx3G5j878pVQ1fDeEhpRryVFkN5YlkB20V1F4O3xIIzfEK7DEhGxLP2q+ETG1syDuBzVkjOj9Dbqy19D7InZgMfap9YfZIbNxkwV+kT71IbKJ5B1fpE+9WjZW45YDFPrDamLNkNQFXIITFsnSGHNZq4iNvaNWrwUxdqN21H5aHlRZsWWoCF6IPjLGheqYaYF52pyDJJV2GDei4DVxV8hxv3BQ2hI9qbTECWB/LMcz4sVAxODPpmAxq4ogCYfF46ihZ0ALlsAtMvgAYn2qaYWq2YmOscQ7hNMoqKWqvjcll/S6onCAjEAU4FMAbeYxQIRwJOSCTUFafeoIgHAVGaGmI5nDJFIBzhggACA704FRQw4JoOagbIJZKaEG71dMWCOHDBTVx6T0d6W6j1/rW26XsbYludw5jrLQhbhW5eukYWrYrLjgMVz6rpzNfqboPQunen+j2OkdOBNiyTO5fkALl+9L471xsyzAfLEAKyYtrYSqiKBFAkCJQJAlAioBAiihEIoEQgSKlkurmAgaAQNAIBA0AgYQNABA0AgaBoGEDQSCCQQfPPrf0QbvoWx6zbH5nTrhsX/AP0b9Yn/AC3B7139V8WOPtnmV8I3MWJiMQ1eS0yyTi1TwyQVzGWaCIp93B0AIjEmqgjKRAqWD0KCti5MzydFVG1cvyEIYDE8AgjubsbcRat4Qz4lZtIxwBnMy/ipPLVbLEWr7FvGF+RYsAqIESLH2FRUqxjSnNBWIl8UF0LQ+YMUF0bNsVZwoCU7cDkW44Kqpub4QBAxerKM1jvbyc81NWRRpncxSQ1Zb2bjAkLX1TW2xsIhnDdyLjQLdm0xYPm6lpkVXuoQjSJUVz725vXTTBQ1XCxOVS5SRNbLWyoJMz4rWIvFq3bi8vYtamM243kYBgwPDipejGAxu3iZSpE4LMlrXwuhZhEfetSM2lKQjHCrrSLbMBbh5sw05/COA/ihii5cEnxrmsW63zBbALDPipCnNyC3sVSKRFzyWcaAteLlzTDTNp5YVVw+yPk1IIYJ9T7K5WwXABLLNixX5ZdT6roO3k6fQ0jZZPqaUYF2RULdh4nsFR2lTBKMJw+EsOGSmGpRuY6g3MKYL4mZDwk45K4Jxv3Y4uOYTyLIbm7i9OCfapZFn6y6MYg9i1/sqfSJQ3nEMVf9lT/Wl+pmx8Sn3q/RHziQ+amr9Rrwf7E1cN3atFUpgU0t2qoIihrTgqJOGoG70TA+BTTCpljmoocnP2oD2UxVCfLJQFAKDsQHh4AlQDkhvYi4NZdn7k0wGTcO1NUOMPcoYiTlmmmCqGB3zopauB3zrkFNML9gpq4b+3IoAO6CcISNGU1TOmIqQ78apocTB1B6D0l6V636l6mNh0bZy3V+LSvS+GzZifn3F4gxtQ7anIFZakfpb0J6C6V6O6bO1YmN51fdiP8AqfVDHSbgiXjZtRP9uzA4DGRrLkkateikXWkRKCJQJAIIlAigSyBAkUIhIEUCdFCBrq5mEDQAQNAIBAIGMEDAQGKBhA0AgEDCBoJIGCgkCgp6n0qx1npO86Rf/tb+zKweUjWEv8swCtcdfWys987MfljqW0v7a/d298ab+3mbV2OLTgTGXvC9FmVwlcy5EOSMcWUVVIUyEhiyCss7PyryQIkgNm1AghpIONMu1QQlCU5NFFSvXobe1oj8RxUtHJlI3J5LHyuY1WrYEQPaukZtXwIA4l6KosMQcGBHsUUg/AdiKMT9ignAAAgVbF+KocpgY07UVRc3L/AGfmojPKU5HmMUBGw4IVxnU7e0L4Jg1Q20I1mG4BA/Ot24sKclNWKLm/kHEHdqpqss7964allARs8TU8UwXwsgMOK0jRC3CJcjtHJFhXNywIwY51opowXr8pHF1BGFp/FMVyCsgs0jLvVRC5JqCnPkqh7e1rl5kz+XHDmURO9c1E881L01IziEnb3rDS+Fogdq1IyjK1wNQyuBeUGcBirhpxtkEZtxUxAbfF6VCAbEOa1V0xAW9Pi9qikYwLELLUiuYOBPJTVQMDXPioENvInFomh4pi6la250UBLRiCMsyiFKzIYjFBWbLg+5RURZbA+IcKKKt13Y4kSA44qGGLlr5hpPuTYLRGJGoEEK4mpC1J3OCv1PsflU5KfVdMW+OHFMNBDOXpiyYmm5w9yFPVIcjmFQwW7f3ogfjmroepuXJDERLDgcVNXEhNmwTTCenYmmASyx5ppgJp96LhHhmpqAScF+4Ka0jqGSaYHLnliVNMMGvI5pq4Rc0U1cAD44qaGABkoB8ECZzXvZBYLZLONMeJVSHK7ZthgPMI9iiqpX7kw2A4BBLbbe9f3Fqxahcvbi9LTZsWoG5duSPywhEGUj2BRX2b0L/wBvHU92Le+9Y3J9L2ZAlDpViUZb27yvTGqG3jyrP+lFzH3LpnS+ldH6db6Z0faW9h0618G2shgT+Oci8rk+MpElIuriVRE1QRJQIlAkCNO1AnQIqBIBQJAIIoBkUigToJLq5hAIJIAIB6oGgEDdAOgYQNAOgaAQNAwgbIGgkCoJQLFUfEvrR6fjsvVH+o2Yadt1m3+oLCg3NvwXhwr4Zd5Xq4u8x5+pnT5fdiYzIaqWDPPKuKgrJcMKPigrIGBxUU4xqxLAIHdnCzDViBgO1Qce9dlcmauSsWtRdt7AEaj2rcmM2rwD+5aZTFA5FeSBvWhUUwYx7XqUC1jI4IISvSYgB3zUFLXJ1lKrqqnG1lnkkhq4WwB2ohvbAUCnuTEUPLuRVB3NyT1oiK2nM1LKYHGEQPvKuCcYjJBIAVf2IJQLZYIK7+4kGANFBmOqZxoi6cYRxOKomSMzVsERWZYl0Cs25biRApaHxy5KxWi7OIAhGkI0CWpjPUsSXfAclzaWWYSkS1QtSJavcAt7VpEJAPTLNAUbi6upYiSBUZ49immK53I4+5S9NYib7HIlZ+yzlWb0lPs19SMiTQOVNMMRuZx9quVNhEEFjEOGNCgnCcmNy54YgFqY8kTTF7TECJ1ERhFm/DEY9iaquU7pyZS2rJECZss+VLxByceCCFf4IpEcRVQQIOVOxMNMbjcw+GVOdVZqLLfUboDTg/FPsYtj1O2fiiYj2p9k+qyG+28qPpHMK/aGLI3bc/haQOcU0wPGmJ5qaoMgKf4p9jEfMBGnAcFPsuByTx4q6YDKtE0BPJAn/wAFLVkGoqauAl88U1MDFqqaYK19iauE4TRJuCmqKoH4sEQGNWxKCOuGrSZxieEpAN7SmC7RbjESlMMchVQRO5twBFuDnic1RRO9cn8UieSGLNrtNxvN1b2m1tT3G7unTb21mErl2RP4bcBKR9iD6v6Q/wC3P1h1TRf9RXI+m9jQi1diL+/mMfDt4nTb7bsx/Si4+5ejvQnpP0btzb6DshDdzDX+q3yLu9uUw81h5cf5LYiO1FdyUkVWSgigRQRJQJAnQJAnQJAKAKgSBFFJAkCKBIJLq5m4QAQSQCAQNAIBAwgYQNAIGgAgEEkDCBoGEEgoPPfUT0+eu+j93atRMt7sf+u2YAcylaiRch/ntuPYuvp685/Ln7Z43+H5t3luI03IHVGQd+3BdnNzr0WJyZq9uagpJYYUyQIEuQW7VBKc7duB1B+AUHJ3N+5elTDkstJ2duIsTj7lZEtXtn7ltkwC7ZckDd88KKKBhQsAioE1zRDBYPkigkNh3oDIOKc0QtRBbjgilK4X+1RECZEqKNJZzUqoemgOAQBlEANmmqWo/uTRHVk9VA9RemSaFK6wbDkmrJqoSqSS6iWJa44DuVClIaeaqKZ3Q4csgdixd3c2+G1hK59yK3TlbtQjZtBoDABLT5ZDLVSpJWWsShAuHxSRLWgGIhT2LbKAk0iRkoFKXEsgrMjxWdVXJsTJslGkdMWx5KYup27XALU5T7LPJhEeIhsOauM2lK5CIGisjTBNEoiT1wOJ5KohfMYzhIVyIUqyJSrbL4EZYIIQfQzDGjnkFFpm2dODnNVIgYaQ+JUXVcmw9qios9SO9TF0aMgO9PqaRt0+9XE1DyuKYRE2gstImA/cs1UDGpUUhFi4LcGUFsdxeg3iccDVBL9d+KDniCmGpje7f5tUeFM0w1b5tkkeMB8jRRVlGoQeYKaAwkSxB5KgEJYkVKlDMJO4qgBbuHLDkgkLUm5lQGgglyAqoaDh5xB4OEAJ2nLTD4lkEDutuMJE9gQ0xurQB8JPIpiaUd9LWBCEQeLP9quJr9Bf9sPW7W8h1z011PabbdQnajvtrO7YszOjV5d+zLVE6ouYzD81m283x+W5Nn9nveu/Qn6T9WvTvz6H/p9+4dU7nTL9zaAn/wBIa7QflALX2/lPq8xf/wC176eyuE2eq9YsW3paE9tcp/VKy6bDG3Y/9uf0r2koyvWeo9RMcY7neGFuX9ULELR/8SmmPddE6J0D0/YlY9P9M2vSLU6XBs7Ubcp/13K3Jd8kXGmUkVCUkESUESgiUCKCJQCCKBIEgFAIEcFAkAUCKBFAkUkEl1czogYZAOgaAQMIAIAIGgEEkAgaAQCBoGCgboGCgkCgts3JQnGYNYkEOg/PX1O9Lx6F6m3VmyG2W8/6zYnIWr0jqt8vKuAjsZer7bNebMuPA7iBia8we5RWQmtRioqBkxoGAqEGe+ZXJEgnTkpRXbtRABxSQWHCmCqB1QtTUH8VNAXIciiAJpTjggTiuKAMkCEmzU0BlN2xdBEEsgZwY4hA40NQFBGUwM+wq6IGUplzJhyU1TDsAgfM4IIeYO0cVNXETdllTggj4aEl3yRdBnGoZs/YjPlVLcRGTc8k1cUyvxajlNWRbtNpc3Z1T8FgYz48gkmpbjp3J27Vny7Y0xAoB+9atGOcosH+I5LCi3g5YKpVoPEghVkrl4EmoPNL0sio3YAUNVPsuIGU5lh71LdWeB5RIqp9T7JRs8Kq/VPsnbhpq1VcNSkefcqivR4q0yUNWW7LyxFOKshq8vGBDCmKqMu6fSAVK1CtyeyQeFFBONyzFyQDLVlmABimliNy/Ahojt4p9jFcpuME0whAyJomGrI22GdM8lpnRKIHInJSiuUQFlpBuaKTLKxAx71FRNtzgyYajKJT6moF+CYaGg5omBSjboxYqYqF5teL0FSs1qIhQSjO5VpEDIOUEhcvD/iSbtKgl51963Je1UBuXyf7km7SgTTJ8VyR7SUB4B2oo8yrAMmJq4zEbNMSaoIagVUE7rDSMSqie3tyMw5Ko9j6X9W9S9L9X2XUek3PJ31nxGRrCduVDauR+aEx8QWOuPs3z3j9Z+iPXHSvWPRI9R2TWtzaIt9Q2L6pWLpDgPnCQrCWfasc2/F+XSyfM+HamtsqpIIEoIFBAoIlBFAigiSgSBUZBEoAoEgFKEoEUA4QD8UEXQCKEEUEl1czCAQNAIGgHQNAIBA0AgeSAQSQCBhA3CB4oGyBhBIFQeZ+pPpeXqH0zP8ATwM+p9N1bnZRjjOJH51r/NAOOYXX1dfi/lz9s/L817y28nB8Mqg4UXWuUc+58XYKoqqbuyiqzp1YZsw9yBAkYIIkDvzCBSJPYPYgQIfmoDURz5KGEJZij5oYDKPF0MD1dAwIt8XYECnOGWOaaYhK60XAphRNMRE5/KO4qaYDK4TXwp5XwTRFZl3yUCM7cQwxTVxE3pk1IZsE1MQM4ku6NGZwAZwmojqji+CCBuRGBQVm47kVPNBUTKRoMcgit+06Vq/M3NI4iGZ/gtTlm9Nd7ciIELbCAwAoO5X7JIyTnIh1m1qQohzi7qGrW0ivsyKBRjOZejfYrC4DEPpABkExNBgBIA97JhqYtkMRl9quJpVfB+KqJAkB8BkgjcJOCBjS4y4kpgmAMHDKiyAiHb35oFccvWiCi6AQcsgosZ7UiIzjwBWY1WiAcNpo7OcBQK4lPyIsQ1cgmJqAsl3bsVxNSECwDd+SYJSGQ9qCslzgpViEsA9VlUW/wRS0+JgmGmYAJhqJiHpjmmCJg5cpilK25wTER8kE8FMEZWtODGqmLqjeAi8AQ3hBZYsbip2BWV0olghqWsFMCNyqYaXmphoN0oiJmrgBNBbCRMAqJAyNIhBfZ2zlyO1TVxutwEAOCg1xsC9GFyIBMfDLjTBalZr1PpP1n1b0f1Pb9Z6WQZf2t5tJk+XuLJLytzA9sZYxKz3zv92+Os/s/V3Q+udN6/0XZ9a6bMz2W9ti5b1UlE4ShMfihIEFZ561vqY1SWkVSCCBQRQQJQJBAlAkCQIoEgToBAkAVAKCJ4oBAkAikUCZESXVgIGKoBAwgaAQAdA0AgYQNAOgaB5IBAIAIJoAIGgkEFtq5KExKJaUS4PMIPgP1h9GQ6J1o73Z29PSerGV2zHK1uH1XrPeTrjyPJemdfab+fy895y4+ZX4xqPaoRmIIrw9iKhIh6nuwQRIpjTKqBE9zqaiJNae1RSeIFPFwTREhizucyMHRSy48FAtRAozoFXFwQBlmoIGRJfjkgNLmmXFFToKHuQKVyMSNPDFNMVG4TxU0wSuR4VGDqaI+YHwFU1UZTHANxQR1j96oiZxriOBQRYSwcngkNTjtLki2khbnDP3abXTiZN7FqcRi9Wt1rbbfbnVpBllySivc7iWVOAWbW5GUyAjzyWdXCk5oEWpxgclYyJxk4FXOCpq8Q0xcCvFaZtQiAZF8AooqZFwiJMRUvXJAmLftiqGIh8KHAIEbYIbhmgBGJIPsREj8TDuRVkR4as+eSCBnCJcyAH9QU1VF65Y0n8yJ5AqWkjPZnASkA5MqRZZlb6bITuSBABIBzwwW2FkLcjU8KqyM6ekRIbEKorkXNMVLWpEZyGRqpVVlmYdyggIE1OChpi3KR+wBMT7H5eJZXDSECc6cUxdR+bsUxZRpoSRVDQRgTWjoaHg455qKqlGMgS9RkMSyKzdTjou2jpMRO2CAS5xNVz7jUYjI4LKipQB7UAyoGKBgBA9L0CCULR4KGNELBLIY1WtswBKaq8aIAqKj5gyRF22vaXILApErTd3YubejNGTDj2rpEr7f/21+rmO99J7qZIvE73pgOUwPz7Y/qHj9q49z69f3duP+3Ofw+5TWkUlBCSCBQQOKBFBEoEgRKCKBFAIDJAigFkIlAnQJAIBAiikyIkurAQMIB0AgboAIHRA0AgEDQNABA3QMIBAwgeaBoGgaCQQYfUPp/p/qPom46NvjotXwJWb4Dys3o/270RxjmMw63x39b/RnvnY/LHX+jb/AKR1bd9L6jb8nebK4bV+2KxcVEo8YyiQY8l2scI404EHCuLdmay0pLV7UETKjAiuX2JTC1ZHDNZMQcOXLvki4HxocPeEVAuwPJQDmgOdVBEVlUtzHNVcIl6DsA4qaYgcyAwUUtRLOXB4YoImT5omIuyikZNRkEXkRgUBpuyFIlakrNsSjtb0q4LU4qfeLIbCZxIWp62b7P4XQ2NofFX9slqcRm91fbhZEaQc/KQt/Caut2ZFyQABVlLVkSnft2wzsRiVzvTeMN3c6iwFfes3pZyqeZLAVKyqVvbykfFktTktXC0AWGC1jGpMxoHZAhH83XIsGQErkMDMAdqbDFfnWA4N2POtVPtGspS3e2jFpTBJwZzRT7w+tRl1PbxwBk2FFP8AZF+lVy6zbFRaJIwqE/2f0T/Wpn1q58tmI4OSVP8AZWvoql1ffypERgOUf3qfen0iv9V1Kb/mkdgATauQxt97N9V2ZfmUypq6HTbuMpmvEk/an1NWDY241lJXE1ZHbbQHH3q5Da1WbVnRIwhSMSdWa1yzUobuMIVH7MFfsn1RlvYkMp91+iJ3ALMMFPsv1R1kuMOaauJASmHAYDPMqxlYLenm2aqCQAARDEYhzgi4UtOksxREDAkljXgqAWwEwKUcOCikYPj9qCMbUDOpZTGtM27IfUWpRqkqeDa5nVQBLbERMXtl3Lg+LELn03GF2Ky0NTIG5QHiOCIYhI44qC2Fk5pq4uhY5KarRbsHFTVXCMIB80BK4S1aKhMS/BMQ9FFcDhEAMe9WRLVmk6WGC3GXc9NbzddP6jY3u1umxudvIXLN4YxnE0PZx5LHfO+Guesuv136W9R7f1L6d2XWrIjE7mDbi1HC3fh4bsOwSw5LlxfH9nbqfx+XQktsqyggUEDigiSgiUCKBOgiUAgECKAUC7VAiyBIBFCIRQKqKToJOurmaAQCAQNAxggaBhAIBA0AgYQCCQQCABQMFA0DCBoGCgnEoPB/Vr6dn1L08dW6XaM/UOwt6TYhju9tGvlD/wA225NvjWPBdvX1+P8Aw5ezn8x+b70RiHeoaruCxBfMHEKsxmlI/a78U1cVyaVTQDBZ1SLgh8SWU1cRctQNX7FNMIyiHckk5KGIkgx7wmoYwPH7U1YRjN2yYMEUjauH7SVcTS8mZzbir9U+0H6aZ5DkrOEvR/o3Wv8AXGfunHZW8z3FanrjP3qQ2UWd1fpE+1Tjt4Biz58FcTVgtRpSp/YKgFsg0IA4FNB5Y44oDyrbPIgDiVLVkRlu9jaBBuhx8sak/uXO+yNzisd3qeskR1QhwGJXK+x0nKg7mDF4k/vWfsv1H6uOVuvar9z6pDfTAOmAEsip9z6Inf7ss0hGuQT71fpEZbrdk/3CAU+9PrEJXb8i8rs/ayn2pkQlqIYyJHAlPKokR4qCJMQMFcC1Eq4haJnAYp9TVkdpcOS1iasjso/MQkiWro2bEQ7OrLIeUvNtjCIT7QwvPn8o72TTEhbvXMS3tSc2peo0W9kPmPatziJ96tG1tgFgHGa19YxelgtSNqcI+EEFpd1VcRRCG1q9SOfEOufhvyk20YMB2JsMqBNkAgBTYuVKBtAAn+K1sLKZvRyock+0T61H9RAmhqAp94v1quVypJLAZrP2X6qp7tywq1CVm9tTkheiHYueKfYwC62Bfin2PqZuUxaqfY+o8w8VPtV+sLzZEnGuKfamGLxBFM0+1PqDeFSxJqyn2WcsPV4z86xbJJFuzBg7gaiTREYhbkgl5RcBFTFnk6CyNrJlNFsbNVNXFkbYdNVYIiKiGblGjkioGaqCLvVUWwI4qokSTgqiUbRNSrEX24+9FbrExCB4kKK+x/8Ab56xhY3+69Mbuem3v5ed08nLcRDSh/8AuQDjmFx7/wCvW/iu3HnnH3KYqVtlUUECggggcUCKBIIoBAkAgSAU0IqBFFJAIgQLNAiUCRUl1cwgaAQCB80DKACBoB0DQCAQMIGyBoGEAEAgYQNBIIG9UEgUE4zIIINRgRQjsQeA+of0f6V6pne6p0q5b6X6iuB7xkG2m7kM70Yh7dw/82OPzA4rpPZ+L/5c7x+Y/PPqL031noHVJ9K6xtJ7HfxrGzcqLkfx2bg8F2B/FAlKSOX+nm1Ry4LOriMrZgNUpRjEUMjKIDniSVNXGy16d9QXdvHc2ulb+7tJB4biGz3Mrch/LONsxPcnkc+6I2jpvHypOxjd/Lk/Bp6SoYYtyIBh4gcwQfsQweXci4MD3uiYiJyDFmySVcHneKsaZsVZ0mD9QRWvbRa/2J9ANxXNP9tT/XB+qiMXBGFM0/3H+sHdvz4llf8Acf6i/XDA4HtT/cf6oX63GhfsyU/3U/1xD9fdZhHtU/21fpEBvr5Lvis3utTiIHc7j8bdifen1iuZmcSZHmVm3VR0DFRTESSqg080AIipxAQNg2CGmFQq1cMmIjI40Vw0iJHLsVwSG3mcQrgnHaxzRD8uxDGqamDzrQBaNMk+xiPnSlh7lnauJCEjxSclq2G3dbnCXpdb2kZUaq3OYzbV4sRDUFQ4WsYHm2reJD8FPtIslRlu4EUBZnKl7jX1Zb3VdvbfxglqRFVn7n1Zo7+V+JlK6dP4I0anBc73a39YlG5bJkHI0kN7AFNUSuREW1VU1rEY3pYYg4dyaYUbwjB8ScVERnfjGLymBwDorLd3UDg8jxwCsiapjdIyPtdUWSvkxaOoKYLbG7Hw3T2SI/cg06omsajiEAMCRg6imJ0VVOMxxRCEp0PDJEWarlyUbYaImcQz0UVl3b3N3dmS/iYf0x8IV1EdAxU0wjbw7QmmJiLlFWMKUwQCipamQ1EyKqIuHdAAEkk4KqmMaKspxIcsgtgCS/BVF9BH7iponHFXVWTJ0jgFYjX0jqe62HUNvvdrcla3W2uRuWLgxE4F4lTvnZi8dZdfsPoHWbfXOgbDrFsCI3tmNycRhGeE490gVx4ux26nlrktsqpIIoIFAiUESUCQJAIBBEoDFSgQIqBIAIEOCKEQigRRUl1cwgAgaAQCCSACBoBA0AgEDCAQN0DQNAIGEDCCQQCB5oJBQSBQUdS6b0zq2zOx6tstv1HYmv6bdW43YA8YvWJ5xIVlsSx5C/8AQz6R37nmT6BK0T/w7G83du33Q8wsmmO10H6bfTroV2N7pXprY2dxD4NzetndXgeIluZXWPYApq49fHfb0Gl+4Mg0pCnAMUU7lqxvRo3u3s7yMvl3Fq3ef/8AkjJNqZH5Y+s+96Pe+pPV9r0zY7Ta7Ppxt7OMdrZt24Tu24A3pyEBEatciO5d7PEcJfNrxBhACkWJyD/vWca1VckBJpQBDUUxVUvJJ+EB0wU3BAfI4ODFZsWVnnesgl4yHcpikb22/Gxy1AhTFDWDhciXwrVDRKzENUEdoQ0tFv8AFH2hQ1HyTl7q/YgDYlmEETaPBBHyiDggfl0wRS0FVD0ccUALdMaoDy+JoUQaA/JWINEe1aD022/empg1RGAdTWhKZA4HI8UtFUrkpYZZmizphC04JMn40VS0hc2sATI4YijrUxPJ293tDGRizjCLsUnUhiz/AFDaCspVNDFwr90vLYL9gaTFzqHhjT7Vr7RPqqlvpeWSIgT7ae5Zvsa+imW4uzjiKY4rP3rU5Yp74QmwOs4MMH7VhWXcXblyQMjTIRdlYiAtl5BkwAtua0KCyMJDCR9qKm1xvjLKA0T/ABSrigl5YMSCVREWId6Il5MAijy44IHoByUBpCBgAYUQSEpdyYJC4T2UTA9QKCcZCOM+wM5QS/UEA+WGkQxnmB/KMkVVRvsUDDIGA8gXwDoJCiKfFEIlAiUESTngqARJVRNzRBIVCC2Ea8VReAwpioJgEhWREo8kwS1EjHDJaiHB9YINUo/SX0B6tPdemd70yctR2F2N20MxC+CT/wCOJXnnjq/1ej55/s+kyW2VZQQKCJZBAoFRAigSAQJAigApQnQJQCAQBQRKBIoQMFdXM0AEDQCBoBAwgHQNA0AgEDdAIBBJAwUAgEDQSCBgoG6BgoJBBIIJBQSigugiuR689Zw9Gek9310Qje3sTGx0zbz+G5urtLepq6Y/HLkFvjnb/SM99ZH5J037l+7ut3cN3c35yv7i7LGd27Izme+Uiuzzq7pYEuwUqxmuA14qLrJMlRVcrpDA9yzViMmnlXBlGopuWI5qKzXNrXBEUy25AfJBVKwKP3KUVm3KNYkxPIkFAxud0D8T8CUxU473cPUs2df3qYal/qG5GPuJTDQOo7gf4/wVwWQ305YjuUFp3Umdu5BD9fIS8UXj3KiufUpZRI4CiCo9S3TEAAHiaoCHUtw/5jT7KKCY6iD8VuXKop7kxdQlvr3/AA/D21TDULm63Fw6pSqMGVRWTckXMiSUwB8xmMiY8HQR0IDQgeg8EGizvLlqAtmOqAwyITBK5vTINGPeUwUTleuUlKmQGCYFCBEhXTIYZe9BKEBGsfHMYAVHeUTWi3YOn3mXElanKapuRAumPBZsaWRjQJgkIsmGpaUw0aVfqmnoUxRpV+qaNNU+ppGKmLo00TDQQmBEcEwAHFMEgyYGCEwDcFA2UxdJkNO2Kk82UqxM8ECJRCLqmkgYD4YKiWbRxREoxOftVEwPYirYMiLQaVQTD9iqJUQAqqJ24ueaUfUfo36lt9E9X7e3uTo2fVLf6K9N6RnIvZkeWuh7Vw9s+K7+u/j+X6LuwIJBoRiqimSogUECgSCJQLJAkAgRQJQBUCZAkAgECQIopIA4IGy6uZoAIGgEAgEDCBoAIG6BoBAIGEAgaBoGgYZAIG6BhA0DBQTCBhBIKCcUF9sVRY+I/wDcR6q2u46n070zYkLh6S+735iX07i/HTbtFvmjb8Uhk67+uZz/AHcPZd6/s+QmZNTR6lbZUXmOGA+1QZJylXMKDNNySoM+4cSiDiFmtRDWQcaqWKPM4lTF09TjmoqJDlMEJW+OAwQUysgoKZWOSuJqHkSYlsKFDUDbLc8ipiomKYHbFUwaoxcBMUjbBxCYzqJsBkxUDtnyV+parltiEw1E2JcFMNMWSAVcDFuWQTDUvLLVFUw1IW8mqrhqRtcQmJpeVyTDUhZ5Jho/TjgrhoGzegpzKfVPst/08EkiTR+U8SMVfqn2P9AXYF1Pon3Xw2kAwMQ0Xwzc5rX1Ps0aJNWI05LUjFrlTD3pt+IuuNnl2nwnCNHIVkNWRgMwriaYtnDFXDQbRdMT7H5aYaXl+xMTR5VUw09B4Ji6XlOpig2mTDS8vkmLpStqYukIF2aimCXloDTVRQygCAApgYqHfB0wKNXTAEUTAgExTjF2QSIGAwVAIsCyCYCCQ4d6CQVRbAoicSXQSBVDD4oLLRMSDk6UdizImAMZNIMxGIOR7is3zGtfrD0z1U9X9L9K6nKWu5utrbldkP8AmAaZ9+qJXHi+Hbv5bZBbZQkUEDVBEoEUCQJAIE6BKAzQJ1AkAgEEUUigEQsUVJdXMOgboGCgEAgEAgaBoGgMmQNAIBA3QCCSAQNAIGEDCCSAQTQMIJhSicUGD1X6ks+l/S/UOvXWlPaW22ls/wDE3Nzw2Yf7Z9i36+dvlnvrOX5Huy3F/c3b+6uyvbq/OV7cXpVlO7cOqcieciu9uuMKYwD4IKpzZ3qsjJcMW48kGeToM1w6papHBZqxWXHeoqDJimJkKYJ6q8ExTrgcVAEIEYA0wQQFt3OOZVMVXLAeiYii5aYGiWLKgIsoq+0aVViVawLcUQaaKqYDIGGyRAIQ1YYqmF5donBBIW7b0FERLyrfCiJgjZtnFUS/TxKqH5AzoiH5IqyoBbDFkLTIBEYkeF2k2LGiIkbbEEDwkyY4Z8EwWQB7itSCYERlRBMmEqmLN7ERwYnVflXGRL964fl3/DTbtvlhmtyOdqzyyMBRaxNPSdWHYrhqegBTDS8sGjU4qGjy4kohmAVCMcBxUWIiIRrQYgmihpaaIukY54DioSgAtxUUGPh58lGkBFQPTRQRIorgUQdJHNMDiAxPDJRSkCVAxFA2TA9LIGEEgFVSAYohsHRE4u3JBMcQgkHVFkQ4QTiC1EHQ20/Bzf7FFfe/oL165u+idQ6LdL/6fMbja1qLV8+Md1we9cLM6z+Xeeef7PpcgtsqiEEDyQRQIoEUCQJ0CQCAUCUCQCBFFJAZIEgRQNdXM2CBoGgEAgEDogCgYQNABA0AgEAEDQN6IGEDQCBhAwgYQNBIIJBBOKlFsAg+M/8AcR6hMt50j01ak0LMJdQ3kRncl4LIPZHUe9ej1zOf7vP7LvX9nx8xaf2rRFc2Bc8MCiM0waqUZ5RcqKqnR65oM84Yn3KUipmDFRUDGvNRUT/igcSGqi6mTQJgRwUwMHjkgkGd+OSKNOD4qiFy0CTwRGadpi/uTDUYggpitAAIWsZ0zEgN71MNAiT9ymLp6farho8s4smGn5RTDR5cn5JlPsYBAQ0M1QKIicSRTPmqmLhKJCsQ9LlVDMBqpgc1cSkYuQI1eUaDtCqLbdoyL6SNYImT2lj7UBCHhBweoHatCzygQXZBCYFSJP7goOHYgJSJbEv71wk8u1boQESPeukjnVrROfctMnKAdBCQZFSZA5Rdi6YhaeClijRUA5qLEfLL/copaO9AtLU4qCMh7VK0iyin2BF0qsymGkYpikyAYOXGT+xAMFAEPggCCygkI+1FLSyAwQSajoiQCB1d1RMcCgl2IJBFWxDCiInzQXbe40vuQe3+nPqgemvUm06lfOnZSP6fft/yLrAzP/plpLl7ObfM+Y6+uyXL+X6ZuacYSE4FjGcS8SDUEHgQpLvmLZZ4qmSogUEUCKCJQCBUQJAIEoAqBIBAkUkAUCQJBJdXMAoGgAgHQNAIBA3QN0A6BoBA0AUAgaAQSQMIBAwgEEggYQMIJhBMKUSndlatG5G1K+R/w4mMKYkynLwxiAHMirzNpbkflf1N12/6o9VdT6/uIi2N1c8va2oy1xht7XgtxEiIvQPgvXn4/h5fnz/LlXhDUZZ5BFc+9LxsVKim5OLPwUVTKQNcHUxdVSIqCoimTk9qYquQqoqBD/cpgiYtXHmgTcUDw7OaYakxoi6YjQKYoAqyYmpxixPPBMXUgA9Q6BSsiZOSuozXNvKJP2rWJqDmKuC2ExiiVbEARfFMTUxAEUGKmKlo4e1MQaHw9quGjEK4aejD3hMTQImhb24KYuomyGJz4cFMa1Aahh3KC2F4vU14qypYsoQDic1uVlIAicRSLyFSiJxM4xlcoWiC7u8pPGD8HRTEfCIZjDuCqGKc2VFctTSMsgTy7FNHJ2dvUXegHtXGOtrfKy4BevNdHOkLJxeqqYnoJpwzQwaCz8EWQGDF0AYigCIDUIuB1mqjKhp2KKieKCMq/eoIVoUaDUw7VAaSA+SikRHPLBAGJQDABBExcx509qB+WBiFGg1WQFWd1AAFkw0NnigekqhgckDBRDAxUVIZKosApwKinGlcHRVgNFBZH4e1WIQo54ZoOptbonYY+IEaZg80iv0T9HfUP+q+jLW0vXNe96TI7W8D8RtgPZl3wp3LzyZbHe+ZK9pJbZVlBEoEUEUAgRQJAlA1BFWgUAgiighAkAgSD//Z"/>
          <p:cNvPicPr/>
          <p:nvPr/>
        </p:nvPicPr>
        <p:blipFill>
          <a:blip r:embed="rId6"/>
          <a:stretch/>
        </p:blipFill>
        <p:spPr>
          <a:xfrm>
            <a:off x="5151240" y="3861000"/>
            <a:ext cx="1326960" cy="16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19" descr="data:image/jpeg;base64,/9j/4AAQSkZJRgABAQAAlgCWAAD/4QOaRXhpZgAATU0AKgAAAAgACwEGAAMAAAABgCMAAAEOAAIAAAAgAAAAkgEPAAIAAAAFAAAAsgEQAAIAAAAJAAAAuAESAAMAAAABAAEAAAEaAAUAAAABAAAAwgEbAAUAAAABAAAAygEoAAMAAAABAAIAAAExAAIAAAAMAAAA0gEyAAIAAAAUAAAA3odpAAQAAAABAAAA8gAAAAAgICAgICAgICAgICAgICAgICAgICAgICAgICAgICAgAFNPTlkAAElMQ0UtN00zAAAAAACWAAAAAQAAAJYAAAABTHVtaW5hciBOZW8AMjAyNTowODoyOCAwODozNTowMgAAKYKaAAUAAAABAAAC5IKdAAUAAAABAAAC7IgiAAMAAAABAAMAAIgnAAMAAAABA+gAAIgwAAMAAAABAAIAAIgyAAQAAAABAAAD6JAAAAcAAAAEMDIzMZADAAIAAAAUAAAC9JAEAAIAAAAUAAADCJAQAAIAAAAHAAADHJARAAIAAAAHAAADJJASAAIAAAAHAAADLJEBAAcAAAAEAQIDAJECAAUAAAABAAADNJIDAAoAAAABAAADPJIEAAoAAAABAAADRJIFAAUAAAABAAADTJIHAAMAAAABAAUAAJIIAAMAAAABAAAAAJIJAAMAAAABABAAAJIKAAUAAAABAAADVJKQAAIAAAAEMDAwAJKRAAIAAAAEMDAwAJKSAAIAAAAEMDAwAKAAAAcAAAAEMDEwMKABAAMAAAABAAEAAKACAAQAAAABAAADVqADAAQAAAABAAADtaMAAAcAAAABAwAAAKMBAAcAAAABAQAAAKQBAAMAAAABAAAAAKQCAAMAAAABAAAAAKQDAAMAAAABAAAAAKQEAAUAAAABAAADXKQFAAMAAAABAFUAAKQGAAMAAAABAAAAAKQIAAMAAAABAAAAAKQJAAMAAAABAAAAAKQKAAMAAAABAAAAAKQyAAUAAAAEAAADZKQ0AAIAAAANAAADhAAAAAAAAAABAAAAfQAAAA4AAAAFMjAyNTowODoyOCAwODozNTowMgAyMDI1OjA4OjI4IDA4OjM1OjAyACswMTowMAAAKzAxOjAwAAArMDE6MDAAAAAAABAAAAABAAAJcQAABQD////9AAAACgAAANkAAACAAAAAVQAAAAEAAAABAAAAAQAAAFUAAAABAAAAVQAAAAEAAAAJAAAABQAAAAkAAAAFRkUgODVtbSBGMS44AAD/4QuGaHR0cDovL25zLmFkb2JlLmNvbS94YXAvMS4wLwA8P3hwYWNrZXQgYmVnaW49Iu+7vyIgaWQ9Ilc1TTBNcENlaGlIenJlU3pOVGN6a2M5ZCI/PiA8eDp4bXBtZXRhIHhtbG5zOng9ImFkb2JlOm5zOm1ldGEvIiB4OnhtcHRrPSJYTVAgQ29yZSA2LjAuMCI+IDxyZGY6UkRGIHhtbG5zOnJkZj0iaHR0cDovL3d3dy53My5vcmcvMTk5OS8wMi8yMi1yZGYtc3ludGF4LW5zIyI+IDxyZGY6RGVzY3JpcHRpb24gcmRmOmFib3V0PSIiIHhtbG5zOmF1eD0iaHR0cDovL25zLmFkb2JlLmNvbS9leGlmLzEuMC9hdXgvIiB4bWxuczp4bXA9Imh0dHA6Ly9ucy5hZG9iZS5jb20veGFwLzEuMC8iIHhtbG5zOnBob3Rvc2hvcD0iaHR0cDovL25zLmFkb2JlLmNvbS9waG90b3Nob3AvMS4wLyIgeG1sbnM6ZGM9Imh0dHA6Ly9wdXJsLm9yZy9kYy9lbGVtZW50cy8xLjEvIiBhdXg6TGVuc0luZm89Ijg1LzEgODUvMSA5LzUgOS81IiBhdXg6TGVuc0lEPSI2NTUzNSIgYXV4OkxlbnM9IkZFIDg1bW0gRjEuOCIgYXV4OkZsYXNoQ29tcGVuc2F0aW9uPSIwLzEiIHhtcDpDcmVhdG9yVG9vbD0iTHVtaW5hciBOZW8iIHhtcDpNb2RpZnlEYXRlPSIyMDI1LTA4LTI4VDA4OjM1OjAyLjAwMCIgeG1wOlJhdGluZz0iMCIgeG1wOkNyZWF0ZURhdGU9IjIwMjUtMDgtMjhUMDg6MzU6MDIuMDAwIiBwaG90b3Nob3A6RGF0ZUNyZWF0ZWQ9IjIwMjUtMDgtMjhUMDg6MzU6MDIuMDAwKzAxOjAwIj4gPGRjOmRlc2NyaXB0aW9uPiA8cmRmOkFsdD4gPHJkZjpsaSB4bWw6bGFuZz0ieC1kZWZhdWx0Ij4gICAgICAgICAgICAgICAgICAgICAgICAgICAgICAgPC9yZGY6bGk+IDwvcmRmOkFsdD4gPC9kYzpkZXNjcmlwdGlvbj4gPC9yZGY6RGVzY3JpcHRpb24+IDwvcmRmOlJERj4gPC94OnhtcG1ldGE+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PD94cGFja2V0IGVuZD0idyI/PgD/7QCgUGhvdG9zaG9wIDMuMAA4QklNBAQAAAAAAGgcAVoAAxslRxwCAAACAAIcAj8ABjA4MzUwMhwCPgAIMjAyNTA4MjgcAjcACDIwMjUwODI4HAJ4AB8gICAgICAgICAgICAgICAgICAgICAgICAgICAgICAgHAI8AAswODM1MDIrMDEwMDhCSU0EJQAAAAAAEN9j4i0aVqjIH/sqgsB+uXP/wAARCAO1A1Y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sAQwAGBgYGBgYKBgYKDgoKCg4SDg4ODhIXEhISEhIXHBcXFxcXFxwcHBwcHBwcIiIiIiIiJycnJycsLCwsLCwsLCws/9sAQwEHBwcLCgsTCgoTLh8aHy4uLi4uLi4uLi4uLi4uLi4uLi4uLi4uLi4uLi4uLi4uLi4uLi4uLi4uLi4uLi4uLi4u/90ABAA2/9oADAMBAAIRAxEAPwDt6KTmlqACiiigAxRilooAKM0uKMUAFFFLigBKXFGKWgApMUtFABRRRQAUUUYoAKMUYpaBiYoxS0uKBCUUuKSgYuKSloxQAlLijFLigBMUUuKSgAxS4oxS0ANxRilxSUAGKMUuKMUAJijFLikoAMUYpcUYoATFGKXFGKAExRilxRigBMUYpcUYoAKMUYpaAG4pcUtFADaKdRQA3FLTqSgBMUmKdSYoAbS4paMUAMxRT8UlADaTFLiigBtGKXFGKkBuKTFOoxTsA3FFOxTcUwCiiigBKMUtFADaKXFGKQCYpuKdRigBtIaXFJRYBKKXFGKQCGkpaMUANooxRQAmaMUYpaAG03FPxSYpjsJSUtJSAQ0tJRmgBtJilooAQiilpDVCGmilxRikA00lOxTaQBSGlpKAEppFPNJimA2ijFFMAoooosB//9Dt6KKMVABRijFOxQAYpKWjFABS4oxS0AJiloooAKKKKACiijFABRijFHNABilopcUAJS4oxRQAYooooGFGKXFGKBWDFJTqTFAwxS0UUAFFFFABRRRQAUUUUAFFFFABSYpaBQAUUUUAFFFFACUuKdS4oAjpeadiigBKMU8CjFADaXFOxRgDrQAylxQSAM1Cl1bucBx/hQBLilxShlJwCPzpeKAGUlSYoAHSiwEeKSpMUmKAIzRin4ptADTTcU8im0AJRSkUhFKwCYpKdSYpgJRilxSUANop1NxQAYopaTFABRRRUgNopcUYoATFNxTjSUwEooopAJikp1JigBMU3FOpKAEzRRiigApDS0lAxtJS0mKBAaSnU2gBMUlOxSYoASkpaTFMApM0tJikAlNxT8UlOwDaDRilosA2m55p2KTFFgEpKWkoAAKXFJmlzSGf/9Ht8UtFFQAUtGKXFACUUUuKAFooooAKKKKACjFGKWgBMUtFLigAxRRRQMMUUUuKBCUuKMUtA0JijFLRQAUUUUAFFFFABRijFLQAlGKMUtACYoxS0uKAG4oxS0UAJikp1FACYpaKTNABijFKKdigBmKdzS4ooAMUUdqd9aACjjGary3MUBHmMACDzmuYvvGGlWgkiMoMikHA9/8ADvQCOudlj+8fpXJ634ss9IUhxvbPAHeuB1vx210E+xBoyOua83vb17qQyTMzMeuTSuUkewj4laernch2t3rPPxQibcrJtz0PWvF3Cu3p+NMCLk7VwDTHc9B1L4gapPlbd/KGMcda5uLX9YWQyJM4JOTzWGoCfNnJ9qY1yy8g45oC52sXi/XoXV0uCWBzjsfrWpJ8R9ckCqQikdxXnazZHBppkJBz1qbBc7+P4h+JIwB5qHHqv/166Gx+Klyvy6lbBv8AajOf5145uJIqXdu7809QPorTviPod7KIZN0DH+/wK7qC4guoxJA4dTzkHIxXx7hiuOuK0bDWtW0xxJYXToB/Dnj8qYrH1sCpz7UmPSvEdM+KFwrImqRhl/iZev1xXr+l6rYavCJ7GQOpx9fpQKxeIpuKmI7GmYoER0mKcaKAI8UYp+KTFADaTFLRSAbRilxSUAGKSlNGKYDcUUtJSsAUUUUWATFIadTTSAbiinYpuKdgCijFFIdhMUmKdTaBCUmKdikNACUUUUAJTadikxQAlJS0mKACm06kxQOwhpKWjFAhtFGKKdh2CmmnU2mISkzTsU3FIAptOopgNxTcU802lYBtFOoosB//0u5xRiiioAKdSYpaAExS0UUAFFAooAKMUYpaACilxRigAxRRRQAUuKMUtAWExS0UUBYKKKKBhRRiigAoxRiloATFAFLRQAUuKMUUAJS4pcUlABiilxSUAGKMUUUAJS4oxRQAYptOpcUAIBTqQUuKAAUtKKa7hBk0ABIHB/Gue1zX7bSbcyytyMfL3PrWd4j8Qw6ZEEB3PIpAAP5GvItT1WfUmWS5PCjAFK5cY9y/q/iq6v5WkLeSn8K9zXFXF0PvRKWJ7mnSPApZidx7mqUkpcZVcClYb8ivcXUx5GR9KiimkkO2QZ9z2qwI5JevAAzmniFFwMZyck1WhJAYxyTjn/PFJsTHzGrrqoTCjkd6zWjcnpSCw7YmOGxQQm3kZpBHnpip1Cbc9KYiBQh4xin7Dn1FSgqT0H1o37T0oHYacAccioWGGJU9KsLtY9cVIY17j8qVxlRZADUwbdyfzpkkO36GoAWQ47elMZMwPQ81q6Lr+oaFc+dasQucsvY/WssMH9jUTrzzQTsfTHhjxrY68ghc+XP/AHT3+ldqrKwyDmvjW3ubizlW4tXKMvp1r2/wb48huwljqrhJM/Kx4B+tAM9cI4plPUq6hlOQRkH1oIoJI6SpKbSAjxRTsU3FIApMUuKQ0AJSZpTRimAlJinYoxTAbijFOxSUh2EpMUtFIQ2kp2KTFMBKSnYpuKQxKSnZooENoxS4pKB2G0UYooEFNp1JigBpopcUlACUUUUDExSU6m0CE70mKWincYlJilNFAWG0lOxTaQgpKWkxVAIaTFKaMUAJijFFFFgP/9PusUYpaKgAooooAKKKMUALSYpaKACiilxQAUUUUAFLijFLQAUCiigYUUYoxQAYoxTsUYoASkxS0uKAEopcUtADaXFLikoAKXFGKWgApMUtFABSYpaKAExRilooAbS4oxS0AJilooFADsUuKTmgsByTx60ABYJ944FcNr/iy0sW+zk7mzzjtTvFviCGwt/LiYM7ggDPI968Lu7l7lmmdssx5NS2XGPcu6pqEuo3LXEzcZwPYViT3RfOw4HrTbh2wqgcY/OqagycAYz3+nU0kU32G7j+B/zzSByzBQSasiFnwzDC9uevvTAoV9xGSPyqhDlWcrsjXg9cd/8A61SCKd3G4naowSemfanJdNECsXfqajluSEYk80gHPIpXyl+9VZ4Sr4YjHtRAhYFx781WkkCn5fWmhMazbjxzUY3kE4JFOhBJytW5mCRhMZJ+Y0xJFVBIeg4/Snhzjnp61IjMqH0xUeP4RyKQDtqvyp5p4aSM4Oaj2946mjkJGxuQOoNNgSI6yAq3eo3iOefz7UskJxuSmpKeUbtU2KK5Ur+FOD5HzVZZdwyKqyIVOadxCHGdwpA+1w3Q0uOMr0phXcCR17imSe0eDPG0sfl6bqTEjgJIfT0Nexi5RwCvOa+OreZ4XDjIK8g+9eraN47ljRIrkeg3Z7etIe57nuGcd6UisfR76K7j8xWznpW0aEKwym4p+KaaLCG02n4puKQCYoxS0UANooopgFGKBS4pDGEUUppKBBTadSYoASkpaMUDG4opaQigApMUtFADDSEU/FNoEJRRiigBMUmKU5pKB2G0GnU2gLBTadRQIbijFLikNAxtFGKKACkpcUUANxSU7FJimIbRRikNACUUv1pMCi4H/9Tu6KKKgAooxRigAxS0UUAFFLijFABilxRiloATFGKWigYUUUUCCjFFLQFgopcUYoGFFFLigBMUUUuKAEpcUtFABSYpaKACiiigAooooAKKKKACiiigAoFFFABTqbinUAN8xQxUnkdvWvO/FviaXTWMERHKnv8AlXR6xM6xNLbn54+ceorw7xNqZv5/3nVT2FK5SRhXV/c3oaaViewFVlyQFH1NQESMmE7MM1bcqqZXvxUstEMmwnocng1CwjQhevrUruExkg4Hbk5qEBiTJIcgD8zQhWJJp5C4iXChRj6CmO7ABQvHYd/xpg67mGWbt/jRtyCCee59MdaYWGooRW5zxVXB2nPI5q1lEQ7e9Vos5we3rQhMvQti0ZcYYVjtyePSr8UhPmIerCqbKVYA8dfyqkJk0Iy3zHHtUsgMjDnGcn8BVKF/nz3xVgHCl2PXAH0FAEhBWNpT0BC/nVbcVzinGbIVT0Ocj61GeVIPBFOwi4HU4J/ip+3PTr61QifjB7CpoZCV5pMaLkUpQ7WHB6iiWMfeXkHpULEt0+8Ofwp0TkYU9D0oGORgowfWnMokQgdahf5WxTonxkGkFymd0bFT0qQ88jhqtsglXgdaoOGRsHjHWgTHbsr3zToZWQ5biog/NTJIjLsI5qhHoPh/xNe299DCg3A/KBnFfQdpLJNCGYAE9cc18i2V49jP50fLL0PvXsfhbxbfSqIr0hVY8E9aTQ2exY4qMimQSiWMOvORUhpCsMoxS4pDSENooxRQAmKMUtFADaXNJRQMQ0mKdijFADaKKMUBYTFGKKM0AJikNLRigBtFFFAgpuKWkoAMUmKWigoaaTFOIpKBCYpKdTaAEzSU7FNoEFJmjFJQMSkpxpuKBCmkpaQ0DEzSUuKMU7CG02nUlIBKMUE460m4U7Af/9Xu6KKMVABmlpMUtABS4pKWgApcUYpaACiiigAooooAKMUYpaAEAp2KSloGFFLijFABiloooATFLRRQAUUUUAGKKWkoAKKKKACiijFABRRijFABRRRQAUUUUAKKRgSMCnYpemaAOD8Uh44GlSQowGRivB9QuGmczvw5ODj1HWvWviDqUEcYt5ctnupwR9a8SEvmHAz1qWXEtR4A4/vZ/Kmzn5Qq+tNUELx16VdhtTKwGCfYdahuxokUGjBYdzU7xnGByO1b8OlvkHblfpV46JKFLKP9oe1TzotQZxgQn1A702U4BVRx/KujmsJI8Pt+UgH/AOsay7i0aMbhTUiXGxjsCCMdBSKuSzHt0qx5L4K45FIiEAkjpx9Sa0uRYrcCXdUc+Cq9zT3U004YZHSmS0VU4binO2Qo7CkK85FBFUSJ1xinrz19MUiqamVcGi4EQULkk/lUi/lQQuSR0FRgbjQBadtoV8fWh/lw3qeKjJyQCeKJPuonc80rDJpDlQ3cVFu430Bspj1FRgFhsHU0WAvwN8rHtUUqgrg8kDmmK+07fTrUzkEgmkgZRaMgfXpTUfacnrVk/cyOQelRNGDluxFMkeAj4xV231CS2nViSQprKGYyQaC4Limxn0t4Q8Qw6haqilt46gjgfjXfJkjJGK8f8AXVs8YRGVWH8J4NewqTgVICGkxTjTTSENpKWkNABRRRQAmKSnUmKdhhim5pxpMUgG4paU0lACGkxS0UANpcUYpaAG03FPxTaAEzRRiigQmKSnUmKBjaSnGm0AFJiiloEJikp1NoHYbiilpKAsJikxTqbQFhKQ07FJQISiiiqASm5p9NxUgNpOKdijFMdj//1u7paTFLUAFLijFFABiiilxQAtFFFABRRRQAUUUAUALRRS4oCwYopcUYoCwZpaTFLQMKKKKACjFGKM0AFGKMUZoAWkxS0UAJRijFLQAmKWiigAooooASiiigAoxRRmgB1I2dhxRmlbhSetAHz549lkF4YmIx1IPWvOUHzZH5V3/xBYy6mWcgdgB1NcJbxkvgnknrUs0RoWFpJPKFAJr1LRvDzzKvmp8uORjmm+FtBR4VldCrHvXqNpaCNRtrgq1neyPQo0dLszbbQolUDAOKml0W3JGBjIwRXSoiIvApHAzkmsuZm7iuh57e+HlbJhI3N1965e68Pu4MW3a47EYzXr5XJyQOmagnRG5IGR61SqMzdJM8El0B0Qgocn/PHrWHLpEqcbcgHg17/dWsG3lBzWE+m2zsTIorVVzJ4c8FubSSMYI4zjPpWaY2H0NeyaroUXLwjeDwy1ws+mgOYx29eK6IVEzmqUWjkChBxSFDjmujfT8cAc+hpqaa+dygitOdGfIzn1Qg1ZCFxmulj0nd94VdXSFA6UnND9mziXiI6VCFINdu+kjuKptpe3t0601UQnTZym0mlIJwO+MV0L6c2OBUQsHPQY9zT5w5GYwicDoacqmEEt95ug9K2XtNnYnis6W1bJJ696OYXKZ471YDA9e9RtGVJo6EH0qlqSORgAVP4UHghfTFI45Uj8aaDuYv6cfU0WEyOU/Oc96g71LJy/NRFeaoR3Xg/U10+8VxEXJI719M2lwtzbrKnQgYr4/0mcw3iOvr0r6t8P3D3NgkjDAx0qGM2yKYakxTDRYLDcU2n4pmKQgooooAKKKKoYlJRSZqQFpKWkoATHNBpTSUAFFFBoAKZT6SgBtJinYpKAEooooENpMUtHXpQMQ0lLSYoAKQ0pFIaAG0UuKSgBDSYpaKAG0YpcUlAhtFGKKYBTadSGkMTmjmlop2A//X7yiilxUAFFFFABTqTFLQAUUUUAFFGKMUAGKdikpaADFFFLigYtFFFABRRRQIKMUYpaAsFJinYpKBhSYpaKAClxSUtACUUUuKAEopOaM0ALSZpaTFABRRRQAUCiigB2KbJ/q27cU6mTnET4IGAetAHzX4vAk1h/LbftPJNYulWpu7+KFRn5qua1J5mpT4IYbzyK3vA9oJNXjdhwOawquyOmkrtHuGnWi21uiIMYWteJR0xSpEAoFTINteaeroSlRjFQuWYYx/9arHAGc1C4GOlUSU2DYqnIxyQR1rRZcnGaz5o3HHUe1KwzOlG4ck1U8vdkE4zV6TLD8KrgAMdw6UDsZU8D4IY5Fc/d6Yk5JkQfUfLXXOAzbTWdcZU7eo9aqM2iJU0zim00KxU8gd+9IlmkfPauil2joKy25PtWqmzJ0kioIgoBxxSlF6CrBIAwKhJG7im2JIryotVGRe4q+43DNVShx81JMHEqeQM5qExDOT1q5zj3pjKGOapMixTMCnpVKW1UknHWtYgU1sMapTZLiclPZHJrOktiPau0eJTkY5qjNaBhyK0jUMpU+xyLxsoquSAOfwrcu7dUyMc1iOvPPat4yuYSjYgye/WmZpx4Jpg5rQgntmaOVXTqDX0/4GvZbrS1Ewwy18uwkqwde1fS3w8vnvdMIfGVPPGKlgehmmGnmmGgLiZptKaSpEJRRiinYYUmaWkxRcBKMUUUhBSUtGKBhim06kxQOwmKWikzQIKKKKAG0YpTSUANooxRQITFJTqKBjcUlLRigBDTadSYoAbSU4ikxQA3FJTqKBDaMUuaKB2G4puKeabTsITFIacabRYYYoxRmjNAj/0O8paSlqAClxSU6gAooooAKKKMUALRRS4oAMUUUUAFOpMUtABRRRigLBRRijFAWFpcUlLQMTNLijFFACUuKMUUAGKKKKADFFJmloATNJinYpKACiiigBMUGlpKACjmilzQA7FUNVlEOnzSkdENX81ieI22aJdEf88zQB80yFXuHYDALZr0bwRAovPMbt0HrXncUZeVa9X8JRBbhH9K5az0Oyjuj2ADK0o9qbGCVGaceCTXCeiSHlelRFs9DxRu9KruTn5eKLjsMkdee2KoSSlxg1NIerdapHrk0DsQuSOT1pqlXjbjkCopmGQabC7Ef0pDsKy/IG71l3Gc+1bRZfuHrWNeOvmbQD0FCFYwrhvesxnOMVeuThttZMgJbcOlaxMpDy+KYGBOMioDkE0IAKogtgCoJfmPy09XGCKic4oQMqMCpyKiJ4qVzkVAaoiw4mkHWk6jNL0OaAExx701kyKf70duaEyWjFvYVAziuVuEwTiuxveUNcrOuTxXRRehzVV2MhgM0wkf8A6qsSL+FQkceldKOcEI37a+h/hj5QsX2NyTyK+eB94HtX0N8Ll/4l0rYP3uDSkCPUzTSKcaaaQWGmm0402kITNFGKKdxhRRSGkAlFFLigBKKXFJQAUmaWkoAKTFLRQAlFGKKAEoxS0maAExRgUUlAhMUUppKBiYoxRS0ANxSUtGKAGGjFFLQA3FJTsU2gBKKMUUAIaTFKabmmIKSlpKYCYoxS0UrAf//R73FFFFQAuKWiigAooooAKWkxS0ALiiiigBcUYpaKACiiigApaTFLQMKXFGKKADFFFLigVhKKXFGKBiUUuKMUAJRS4pKADFFLTc0AGaKXFIaACiiigAooNFACUtJS0AKK5/xU2zQrk8/d7V0ArC8TQG50S5jA52mgaPnq2XdMoNer+GI9lwpPpXmtpHj5u9eueFrYlg7dh17Vx1nodtFanoSA7AOlDkL70gIB5qCRsZA4rjZ6CQ8HioXOTUJnC4zjmo/NBOcilYY6RcGqE4x079K0N4bFMkjGDjmqsFzElU4xUYYKcjrWhJGDnisudGU8CpsUOZ93z1SuefmoLHpSHlcGmibnO3f3t1Zkg9K07zIfNVima1iZSKJSm7duc1eMdQyrgnmncmxTzUZbqD1qcrxUJHamIhPJprYwal2DHWmbe1MlkYOKYzDnPHFSshFMZQRhqQrACCMg5pp6URxhFC+lP6imJmZdAkcVz00ZycV086YFY065JxW8DmmYEqZqg4INbEw7is6VfauhMwaIFGSK+jPhdvOkSAjjfXzsoJYYr6W+G0Pl6AHIxvYmmyTvzTaeaYaQDTTacaTFIQYppp1JQMSkpcUUAJiloooAKbTqTFABim0402gApOaWjNABSYp2KSgdhKQilooENpDTsUYoAaaQ0tFACZooooAbRS4pKAG4opaSgBDTacaTAoAQ0lOIptACUmKdSYoENpKdim0wE5o5paKYH//S72iiioAdRRRQAUUUYoAWiilxQAUUUuKAFooooAKKKMUALS4pKWgYmaWjFFAC4paTNLQAUUUUAFJmjNJQAuaSig0AJRRRQAZooNFABRRRQAUUmaWgBMUtFFADhWbrPOl3OOP3ZrSrH16QRaTcsefkIFIaPELG3MkgCjgd/wCte46HAkFiGU9a8W08sGyW2juT0A6/yru7W5m1qaOxkZorRF3CNTtLAd3I6A9l4rjqo76LS3Osudd0q0kMctwpcfwL87fkua5/UPEqOMW8MxX+8UK5/PFKyW0AaKxiWGMEcqAv69aqPp010pZiTnlcDAA/rWUYLqbSqvoZZ1+ZD80Ehz05Hbr3qwmvlV3PbT47nAP8iazL/T5bddxRmB4BGMD9c1zdxqUsYEZUqwJzn/CrUEZusz0OHxVp+P3pkj/3kYD88EVrW+v6fdDEEyMfQNz+VeSQ67cQ5DlcepPFSvqEN4fnhhk98AfqKfsxquewDUIWHzEDPTPf6VVmnR1ypyT1ry6OVVH+hTyREn7ud65HUYbn8jR/a+oWkgNx9zON6n5c+46jNS4Gqqo71mwwzVjG5Pr1rlrXUlcgHiuhhmygHc9aixpczbqIGQmqfqK0LpwcgVlq4ZuKEyZEzBQtZs2ATTp7kI5U8D1rHk1FAeuT6DmrUSXJLcuHIPNJtz14rIk1R8bVj59ziqT6tKvXy/pk1fs2YuojoTtztqIsoOM81zZ1WRj1Ufg1MN++cMwB9cH/AAqvZEuqdKZFxzTTg9KwhPJIvBU/RqlhuZY+HHHrUumCqmtjuaTvTI5kkXcPx9qlIycipaHe4x1Gw5rn7tdrZFdBJkxEDrWJcI3lbiPWrgZTRizAdqznBNaLg96oSAmuqJzSIVGWFfUHgJdvhqDOec9a+ZYx8wr6j8FxtF4dtlb0zz71RJ05phpxpppXAaaSlNJSEJmilNJTGJmijFFIBDRmijFABmjNGKSgBabT6SmA2ilxRikAmaKKKAEooxQaYCc0GlpDSAbQaXFBoAbRRQaACkNLSUANpMUtFADTSYp1NoEJSU7FNxTsMKKKKQhtNxT8UmKdgG0UUUwP/9PvMUtFFQA6iiigApaSloAKWjFLigAxS0UUAFFFFABS0mKWgApaMUUAFFLijFABiloooAKKKKAsJikp1NoGLSUYooAMUlLQaAEoopDQAtJmjNAFABiloooAKKKKAFFYniC2mvNMlggRpHIBwoJAHTLEdBnvW3WVq+nx39qwbcHUHBBI/PHX8aTHHc8ut9FuoriC2uFBEzc4OeFGSK6HRFZ7iVuclTwPc9a53w9BfJqTSpGJpYhKEXeRuAVR3zjrXaeF0mllulaMx7cIQex9K5qmzOqD95I3rLT4f9Zc8nPyg9vwrbLRqhRUUccHAx+VZos97ZJIIqSR0tYy8pHHftXNzHU4mZf20cv3oVB9cf4Vw2oaBY3LEzR7cf3TW/d66h+WAFx69F+mTXI3viNVPzNGp9N2f5UlJt6CcI21Zm3HhyJcmElh6N0/nWK+lm3J2R7T/nvV2XxKh+bCt9DihPEVueJQyA/3hkfpWqnLqiOSL2ZWjhlXJA+U+vUH1rQWMDOSGHRgfT09xWtDdWF1GNm05/I1oJpkchDxEdKn2g/Zs562sWSRraMfKB5kRP8AdPBH/AT/ADres5WAKvwf89q0YrW1gkt0eIyXJ8wIS5RQnG4MB15x3qncyzxTmKG3gH/ASf5k0OxpGTSK9zIM5BFZJlCfX0p979sJ3lYx7bRisCWVxJ+9TYDn94nzAHHdTzj8aaiDn3G3Er3ExXPyKcH3P/1qryHY2xAAParCJ8o9h+tRmMEncea2Ryybe5jzhmXOePWszy3Zu9dZ9njc89avwafCSGOMVXtEiVTbOLS3lbhULH17VMmm3jcrHt+vNejw2kKAbcCpZIowuOKn23Qr2J5sttcW7jcv580pLq25T+I4rtZYUz0rPkt0bk9afP3B0+xjwyIzAyE59ejD8a1InIIRzkdm7fQ/T/69UZdPGcxtkirNpGXUwMCC3T2NDSYldF3GCO9V7iMFCAOKlRuB6/pxwc+nNPblaz1uaPVHG3K/MQKzXHOa174bZDmsl+uK6onLISHlx9RX1loMQi0e2RTkeWK+TYf9YK+sdAwdFtSDn92Ksg1DTTTzTDUiG0lOptABSUppKYCZoxRRmkAUUU3mgB1Np1JigAzS0mKM0wEooopAJRS4pKACiikzTuAUlLRSAbRS4pDQAmaQ0tJQAUUGigBuKQ07FJigBtIaXFJQFhKTinYowKYWGYopaQ0hBTM0+m4qgG4oxS5FGRQB/9TvaKKBUAOooooAKWkxS0ALS5pKKAHUUUUAFGKKM0ALSmkooAWiiigBc0tNp1AWCikzRmgLC0UnNLQMKTFGaM0AJRSZozQAZopcUlABSUtJQAYpaTNGaAFopM0tABRRRQAtUry4kiiOxd31q4ThSx7Csu2v7XVHmtBgSR849RXJiKzj7qO/CYZTXO9jlPD7o+rl9uwFZePptrtNBj/czzn+OUkfhXndjdf2f4gZiP3a+av5gH+leo6OoXT0Yfx7nH0JyKylUdrMtUldNEtxIERnY4ABrxzxFr7yzOQf3MRwBnHmP2A9vWvVtSieaNok/i9K5O38KWqXH2q5UO3IXPIUH29a509dToa00OB0PQ77xVcK+oXZgtyf9Wg+YIOvHb2ql4s8N6DpF3cxWk5JU4RCSx9+3GK9MufD4tZDc6fIUPUYbB/nXD63p811MZrxi0uApYHkgdAeK7YVIo4atGT2PJbWNZbjy1JK+vPFa0Vm5h81DnaTx6itOXTvKLbSwzxxgf0qsVkWMRJwo7VTmmTCk4jNPJEoMBw2fmX/AAr13QoZ5Iw+SR+leVWmmXEkyvETuB4OOleyWDOYEETCJ3wrMRwvq2K5a1nsdtLTcjmmQa4sYOTBbnjPTzCP8Kt29v8Aap3k24xwc9jXMadcz3GtzTsjPHI4xKRx5cZ7f7wBP416mlutvamRxtaUlyPr0rLW5cNbnnWrQLGTkVxs5jS7jVujAj9DXYa9KN55rzzUZCdpzytbUyaumxG03ynHr/SqJmYHk1Mim4hkZSAY1EmD1Ixzj6VTJAG5q6rHE5E/9oOoxGpZqnTUpFGZ5gn+yo5rE3vIdqDaK6GwtrI2zKu1pSOp9afKiedorN4igjGFeQ4zg8Y4oXxSWOAwI/2hWPq1zHcwRxrbqsqKEcrgbmHcistLd/LDsNu/7o65qvZRsL28juI9dilwJFx7jmrwmEgzG2RXBTwG22vG+GxkirllesjDnvytZyp22LjVvudeGIPPNTQgGUMOSCM/nVGKVXwRV62IEq4HUioTZbNCbVGeWVTbw+UGIC7fTNRxXdg1uYrmAq2778e0Nj1xzxVAEOzkd2Y/mxpNvBp8wrGbf6ZBdyH+z7uN2/55yfu3/Xg1y95Y3lm+25ieMnpkcH6EZBq5qiZkYYqgl3dwxqvmM0SnOwnK/ka6InNLcS1UPMqd2IH619b6ZCsGnQRDosY/lXzXo9pBqOrwfZRlHZSRjp619RImyNU5+UYqyWRmm4p5FMpEjaTFLiigY2kpaMUWCw3FFLSUgCiiigApM0tJigBaTFGaM0AJS4pKXNA7CGkoooEFJS0mKB2Cig0UCE+tGKKWgBuKKDSZoGFJS0lAgpMUZozQAw0UtJTAKTNLTaLAJRRQaLCEptOpDTHcaaTNLSYoEf/V7wGlpKWoAdRRRQAZpaSloAWiiigB1FFFABRiijNAC0UUUDFopM0tAgpc0lFAwpcUlLmgBaTNGabmgAzRmlxSUALikozRQAtJxRmkNAC0lGaKACiiigAozRRigBaKKKAKt9L5NrI57CvOfC0rS6/I2Tkg13mtMF0yYmuN8D2hNxNqDfd5A+teViHeofSYJKOGv3F1C1c297fOvMN0mf8AdPysfw3Zr0rT08qzhi67UUfpVGOwt5ba5tpBuS5J3g99wwaqeHLqRI5NGvDi5svkOf40/gf8R+R4ok+Y5bcpvMRls/hVNpAo5q5IvOT+VZdypVS3SszSxSu7oAYO3p6Vyd7MpG4mtK8I7isKVkZsH8qE7g1ZHN3cYZjtFZn2KWRsKtdsLVWI4z6YrUtdNiUh2GfrWvPYzcbmBo2lSq6u/AHWtnVZTb27JbjDyHYmOpZ+p/4COfwrd2KAFQD6dyTWFvW5uGuvvJHmOEf3mzh2H4jA9hWbd9SrW0NvSLeGY29lCP3dugLHthe3410+quPK/CotIsRYWgLD94/LGqmrSERE015mkIpHl+svuck9K4i8G5SO9dXq8/7xga5Wf5mremjGsZMIBUnoUyPwbt+dCt3YZp+BFcjPCPwT6Z6VZEPUY6HFbOVjj5SESp3q1GqP2Bqs1swPFORXX/VmjmBR7liS1VyPkBJ9eahWyAXOFU1YSWVfvCpRcOcZH6UuZj9mik9pvXD1SbTV3bk4rZLFu1P2kcsPl9RzRzg4Iz7cSRnYRW5avsk8xvuoCx/4CM1EqDr1qd022xP/AD2YRj6D5m/QfrUX1CxHbZEYB64/WrIHFQplTmrAp3HY5LVABKazYojIcAda1dXXbN9aSxRdgbFb3tE5+W8i9pN1caNIJbTCuOjEZxmuvsvHGsRS7p281e4IxXGyOq/erMkvWDfKtRzs3jSVj6b0rVrfV7VbiA+zD0NaRrxDwHrHl6iLZj8s/H417ecYraDuctWPLKw00006m1RmJSZpaSmIKTFGaWpGIaKKKACiiimA2lpDS0gEooooAMUlLRigBKKKKBhSUHjpRQIKKKTNACGkpaMUAJTadSGgBMUlOppoEJSGnYptO4wpppTSUCDFJS0lACUhpaSmA04FJkU40lAH/9bvKWkpagB1FFFABS0lLQAtFJmloAdRRRQAUUUUBYWiiigYUZpcUYoFYKKTNLQMKKTNGaAFpKWkoAM0UUUAFFFFACZooooAKKKKACiiigAoFFFAC0maM0UAZOuZbT3QdyBU+k2cek6Ugcc4LH6mpLqPzgkZ6FxWfq+oBG8kdAMV5dde+2fQ4V3oqJ0VnJ58KyjjdzVPVtIN86XllL9nvYR+7lxkEHqrjup/P3qXRWD2EJ9RW7t4zUR0M57nGL4h+xYi8RwNZuP+Wwy0Le+/HH/AsVpNJb3aebbSpKhGQUINbxVSu1wCD2Irkr7wro0rtNFB9nkJyWgZoiT6naRn8c1bSZKbRUu4QpbcK56a3TdvAGa0LjQtQiQ/ZtRuBjoHCuP5A1gzWWsDhrxT9Yhn/wBCqOVItSZqQvsbnpV43QSPzHYKvqen51y6WOpyD571h/uIo/nmpRoUckoa5Lzse8rFv/Hfu/pTsuoa9CxPqX9oAwWhK25H7yboWHdY88nPdunpXSaDYLPKtwyBYogAi9hjpiq9npUTSIG+bH5CupR0t18pBjFS32KjEvSseg6CuV1WdQhHWtWWdzXL6pI4U4xSNoo8/wBVIaQkCuacYNdNfqWya52VMV0w2OSstSlPGJVwasWrmZfmH7xAA307MPY1G/AqNRltyNtdehFWcr3NgIAuagMAY56UyO9ZOLuMj/aQbl/EfeH5GrcUtvcf6l0f2B5/Kpsy1Yr+SR1FSeXjtV7yz6GlEZHUUrsqyK6xcdKkCbelWAkncEfUY/nioWmt4TiaRQ390Hc3/fIzRqS7DVgaRwsWMngDt/kd/So5JEllzGcxxrsQ/wB7+8/4nj6U4zPIrRopijf7xb77j0wOi/r70BR24xTZO4gGTU68Cocc1MmaEJnN62h8xGx1qCBvLt+O9dBfxpIuGwcVhLLFv8r0rRy0sZxjrcFUMOTms26iCP7VtbU2/LVC9T5QfShHTEdok5t76GRTjZICPzr6jjbfGrD+IA/pXylYg/aFx6r/ADr6oteLaL12D+Va0zlxS2ZPimmlJpK0OQbRiiiqENpKXFFSMKKKQUALRRRTuOwmKMUtFILDaKKKBBSZpaMU7AJSZpaTFIAooxRQOwUmKWigQ2kzTsU2gApDRmigAptOpMUANzSUtJigBKMUpooEN5pKdSYoHYbRRRTCw2jFFFMR/9fvcUUUVADqKKKAClpKWgApaMUUAOooooCwUUlLigYtFFFAC0UUmaACloxRQAYoxSZpaACkozRQAUpoxRQAlJmlpKACiiigAopKWgAooooAKKKKACiiigCCQ4ZW9M159qVwWujvPGa9DmGE3dh1rgtb0u5ZzJbjdkZxXmV/jZ9DgtaR6VpkSxWsSJyAoxWuCNorkvCktzLpii8BV0JXB9B0ro55CmxR/E2PwrNGclqT1XlXKmrQ6c1HIRtOa1sSjFuIwB/vVzd2EyeeRyPpXTXTfKRXJ3jnf+NZyRrC4z5UyelU5LsJkn8Khu7gIDk81klmnbg8VLRSO60MtOkkrjkniugS3DPlq53w/J5f7luT1ArduNRWMFeB/Wgq3YvfZbRkZpJdpHQYrhNZhQZ8v5q0RqcU8nkRuNx6DIyfbrWVqXyozE9KbkNJrqcNdlcENXOyuobFaWpXCq5Pv0rmpZgWyTj61tA5qr6Fx1VuRUE8ewblpsbHqORU0kiuhHtVnO0Ot5N4watNZwzf6xA31GazLZuRityJs0MpJMpfYY04Tcp/2WYfyNTC1GP9ZL/38b/GtJV3mlKY7UXHyoy/scJ6ru9dxLfzJqwqJEu2NQo9AAP5VYbBwR1FQMc9KLicURhwzFe61Kpz1qDYBIX7kYqVaTJaJMccc0qHPSkHtSfdBNNEMbOA1cjcW7RTHPrxXVzN3rLu1EkYf8KbHDzM2KXAxmrMoDxYrOb5Xq4hLKapGj8ix4ftTc6lDCOd0gH5V9NKu1Ao7V4b4AtBPrAkI4jUsa90Na09jkxLu0NNJRmkNaHKJRRSZp3AKSlpDSAKSlooAKKKKdhhRSE0tIBtFBooCwUmaWjFMQlJml4pMUgDNFFFAwpM0tNoELmmmnYpCKAG0UUYoAKKKKAGGinYptACGiiigBtFLim5oASiiinYBhNGaXFJigR//9DvRRQKKgB1FFGKAsFLSUtAWFoopcUBYWkFLSUDHDmkzS0mKAFooooAWkpaSgBaTNGaXFABikzRmigApcUlGaADNGaKKACkpaSgAooooAWkpKWgAoopM0ALRRRQAUUUUAHBBU9DWTZpOl29vKMxdQfStWrKMncfWuLEU/tHq4Cs+VxEsozC0gB6tmtHhhz2qqgCy/L3qftxXKdL1Y/eMVE7DGP71RZ7UZq7isULtsk1yd5gqT3yea6u5GVzXLXaFmKqM81nJlxOTmDySbRk5roLDTsKN45q1a6flg5GSDW55RQYA6daS1KTMnypIWEkRwwORWZrFreasNkB8tmPz84xXRsAx3dAKqlo9+B271XIXzpHIad8PLGC5W+vrppGQ5wpOc/XrXU6vZQNaNJZyHK84bnIq488WBuH41zuq33lLti6enam02ZqaTPN9SVdhYj5geRmuNuLJ7k5Zj+BrvrtPthLPgc1gz2+wnjiumDsjjrO7MO0he0PLkj0JzV5pGl+WPoe9O8kFuatxxqn3cfhVMiLFt48cVqwLgjNVAOeKswuNwU1mzWJrBMcinMOM9qbGxyBT3NTcsouwFVs9ferc2B71SJqkZtkZbNKh4zUWfSlSmQ2WlbHFPbkVAp5qfqKaIZUu2CpWNLcZGO1W9UMrKqx1StYHbHnCm1qOJn5Mj8DNXc7I8dzUkoS3PAp1nbTXcyxKMs5woFM0ueq/DmwMdvNesPvYUfh1r0s1l6LYLpmnRWo6qPm+prTNdEVZHn1JczuNNJSmimZjabmnU3FABmijFFA7BSZoxRigkWiiimUNpc0lFILC4pDS5pKAEzRmlxSUBYSjNGKMUBYKKKKACkxS0UBYQ0lLTc0xCYo5paTNIAooooAQmmGnGkIoASkNLSUALTe9OptADcUhp1NNMdhM0ZooosSf//R72lxSUoqAFozRRQMMU7FJS0AFOptOoABRRRQAZpaTFLQAUUUUALRikzS0AGKKKKADFJS0tADaKXFFADeaWloxQAlJS0mKADFFGaKACiiigAptOpMUALRRSZoAWiiikAUBsdaKSpnHmVjWjVcJcyLidsHmpicDFZyMVYAetXXLZXivPnBxdmerGqp6oZjinKMfL3pxXBpgLeYRt4wOf51lc0IJwSpArIe32MW61uv0JxWTcEl+OMc49qEricrCRIqNgDr0qGSYxruY96RZgMDPJz+FDlWyCAcmtlFGLn2KTytsbA79Pp1qm3yYTpx3rSMJbKDOByaa9oCCAATTdgi2zFuQdm7oMVyF5K7MYy3IrvbiAJAythsDivPpoiJCzDvQmOUWPihjdQo61m3tsAOe9b1tEX5Izis3UWj8/Z0ppkOFzlzF82ccUmQucVdkADVAQud2K1MHFoar4GDSpMofAOTTHXvVcKFbKihoam0dJby7x71f6jmsG0kKNuYVqmXcuRWMkbxldEc2O1ZzkZx0q7IciqLj1oTFIgHfFSZwKaOWqQ1VyBAeKsq42gjmqecCrCfLHx2qkRJlS4+Zx7VEpyeai89Wlb0BxTmPOR0psqOw9o1dwrcmvUPB3h4QD+0rkcn7gPauK8NabLqeqIpX92nzP8A4V7wiiNQicAdBWtOJjWnbRDjimE0tIa1OUSmk06m0AJmikpaACkozRQMKKKKAsFJmg0lAhcUYpaKBjaKKKACkpaMUAJRRSZoAKKKKBBRRRQMbSUtJTuFhM0UYoxSEFBoooAbTc0403FABRRRQAhpKWkoASmmnU2gBKKKKdxH/9LvaWkp1QAUYopaBhS0lLQAUooxRQAtGKKM0ALS4pKM0ALijFFFABiiiigAooooAKKKKACiiigAooooAQ0UuKSgBMUUZooAKSlpKAFooooAKbTqTFABmlptOpWAKKKKLAJ0q1PIyhXXkZHSqtW0O6Lb0xXLiI7M7MLKzaHK3Z+/SpQV27h0qsM8g+lP3HGMcVyM7kyCWUqT6Ac1g3E5CuTwWPB9q1bt3CNtHSuM1OeUZx1NSnYqWq0Gy6pHakiXoxyTW7ZXsFzbiVDx2NecDTbnV5wjkqma3YfCracvnRSSMuPmBYjP4VoTGNzq59TiiBO4dPxrOfUjJjZ+tUo9Ms3UAI2Secsf8aq3uh20iMyAjnsx4q1HudCjYsz3rouX6HqawrkwsN4POenTFUJtLltgfKlcf8CJ/nWLPBdru2zMCcdh/hT5BS2NiXUAnyxHlawLm8Mp801HLYTfxXDEkdayprBz8pkJ/GtFBHPJsstdjNAuU75rMFgsZ5Zj+JqF7Q5+8fzq+VGMrmw06mpI2V+FxmudNnMTwxq1CsluR8xahxRnc6iNDjcTVlWyvFZVrK8uFIx71rQxn8KxkXEjc4FUn461buCBlKzWfJwaUUEpEqnBpzmolOOKYTg5PeqsRcVSea2tMtWvLuG2H8bgf41iL29+td/4HtPP1H7Q3Kwpn8W4FaRWpnN6C+J/Ak5uDf6GoYN96Hoc+q1zth4N165kCTQ+QueS5r3w1GT3rV00ZKq7GPo+j2mj2wggGX/ibuTWqTSk02rSsjNu+rEzSE0UlAhM0UGkzQAZoopM0AGKKWkoGFFFFACUYpaKBBSZpaTFAxKKKKACkzRmigBM0UYooEFFFFABSZpabQMKSjNFABRSZpaBCUUUU7AJikxS5pKQDaOvSjFFABTTSmkpgIaSlpKLANooopiP/9PvadSYpagApaSloGFLRiigB1FFFABRRRigBaKKXFACZozRS4oAKKOaXFACUUUuKADFGKWigBtFOptABRRRQAUlLSUAJiilNJQAUUUUgCiiimAUUUUANp1JiloAKKKKACpIj1HqKjpVOGrKpG6sa0ZWdyzjkmgnA9aYScgUOMA4/SvOPTK02WRveuVuLbe5GM11snPB49qzBCS+R0qGaLYrWNgiDdgE10SRhl8vj6VXiT5Bj5SetWN4TB71SKKE9kqsTGAKwr2Iwglep610s1wBGSBzXO3s8bdRzzxWtxqb6nMXeepOKwZERiSx/Cti/mXcc8DGK55ZMHcRVq5M65TvUKyBRwCOlUmgO3B6npWnLIskpkb9aa7oFIx9KpXMXVMQwHPApht8elaTygHlaqFiTwKfMS5EIgFP+zqx2kCplyc1KvoRUNkiwxbD7Vpw52+1UU61M02ASDxUXHaxUu3ySBWfjn8alkcs2aavBrRGUtWKx2rjFV2b1qSVtw54qtuFWiWTxHc1ezeBLcR6dLOR998fgBXjkI5yK918Jps0OH3JNaQWpjUeh0ZphpxphrUyENNpTSUCCkzRmkoAQmilxRigBKTFLRQAmaKKKACiiigYhpaSloEFFFFAxtFFFABijFFJmgBM0UYooCwUUUUCCkxS0UDsNxSGlpKBCUtJijNABRRRTATFNzT6bikOwlJSmkoEJSd6U0lUAlJS0lACYoxS0UhH/9Tv6KKKgApaSloGGaWjFLigBaKKKAClFJilFABS0lLQAYooooAWjNJRQAuKWiigAooooAKTFLRQAmKSlzSUAFGKKKAEpCKWg0AJRRRSsAUUUUAFFFFMApM0tNoAdRRRQAUlLRSaHclU5XHelYFeRzUYO1qkLbhzyvrXBXhyu56FGpdDDtY8jmmgANnp60vs35091yBniuY6kQM2KR5ONxFEmRjAqJ1Z1wOOKaNEV3kA43daxZ0DIWPWr8zMJQx/hFRSR+Ypzx9KaYNHI3USspJ+6O5rKljiVWBIyK7KS0UIFfBJ71gXluqliByTWkZGMonKyDPAHfvTeg55xV+aNVT1NZkrADaK1TuZNDJFXOajAxzijfjqKlBBGKlsditna1PDZNIwwcmot2BQIn3Y5qORwOKj3jbUBbnmhIiUgJz9KcWA/DrUWec1GzDFUQDMDimKN1IeadGpAFaJENl6BecV754fTZo9sP8AY/nXg1vyC/r0r6C0tSum2yn/AJ5r/KtKe5nU2LpNMNPNMNamIlNNOptIAxSU6m0AFJmloxQOwYpKWkoCwmKMUtFAWEooooAKKKKBBRRRQA05opabmgdgzS4pKM0BYKSlpKACiiigLBRRRQA2k4oJpKBC0lLSUAFFFFOwBTadTaQxDSUvFJQITrSUtJTuAhpKU9KSgGITSZooosFj/9Xv6KKKgLBS0mKWgYtKDSUUAOooooAWiiigBcUmaWjFABRS4pKAClFGKKAFooooAKKKKACiikzQAYpKXNJQAUUuKSgAxRiiigBuKMUtFACUUUYpWAKDRQaYBSYpaKACiiigAooooAM0qnmkpKznBSRpTm4vQkDA/KRTiy9GNMOQAfWoZGB5HWvNcbM9OMrlhjlc01IyvU5FVUuMNtJyPWrQmVkLJjFFhqZnTQbnb0B6/wCNVWKhSccZ61fmcZXB4P3gOtVCQoLEfK351SiNzMuctn5RnjI+tYMz7o2z69a17z5ScHgVjM4zk4+Y0JA2c5eqYzle/WseRsngcjrXQXmIwWeucmYnBB+taRMZMYOmCalRx3qkzjNIJRg1bRPMWpZBkr+tViRUDSYbrmozIAKFElzJd47VGxB4qDzASKeGHenYm9xxOOlMbFBb0qMmmkS2PXk1KuehqNfWp4x3NMC7GdoAr6GsOLGEf7A/lXzunLAe9fRNiB9ih/3B/KtKZnU2JzTTTyKZWpiNpKcaaaQBTTTqbQAUUUUxhSUtBpAJRRRQAlFGKKACiiigLBRRSZoELTcUuaSgYlLikozQA2lxS0maAsFFFFABRSZpaAG4puKdSUBYTNHFBpKBC0UUUwCm06m0gGkUUtJQAhNNzTsU2gYUlKaSnYQmKMUZozTC5//W7+iiioGLRRS4oAKXFJTqACjFFGaAFoFJmlFAC0UCigBc0YpBTqACiiigAooooAKKKKACkxS0UAJikp1JigBabTqbQAUUuKMUANopcUYoAbijNLSYoAMUUtJQAUUUUAFFFFABQKKKACiiigCZAWTaO1V2XPNTxMQeKSRNr5HSvNrK0menRd4JmLdRuuWTg+tVILgQEhx859eK2pow/wAvSucvbfHCdPXvWaZbLE10q429/TtVQXmEyTnnrWNK9xCu1F3gfn+Vc5c6k0KmME9eQ3FarUi50GoXJLOVPAGKwjfBevQda52bV5DnA3Z61kyXc0z5XIq1AhzOou7jzoztrCmdsDb2q1FIZI/Kfk+1VJ0dEO7g9quKIkyk0uTtPBqu82xcg1BMxLZGar/MOGrSxFy0JSTQZSeAarKCxx2qwseDk9KCdSQD1qfpUY56048iszRAWANA560AbjUirjg8mmJjlQkYqyMKtRrxTvvGpbKSJ4vvgmvorTjmxhI/uD+VfOqda+g9EbfpVsw/uCtKTMqqNE02nkU0itjAYaSnGkNADcUUtJQAmKMUtFUA2lxSU6pAbijFLikoAQ0mKdikoGJRRRQAUmKWigLCYpKdTTQFgxSUZooAKTFLRQAlFFFACYozQTSUCCkpaQ0DENFLSUCCiiinYAptOptIBDTTTqbQAZptOxTadgEzRRRTEN5o5oNJSA//1+/ooFGKgLDsUUmaWgYU6m06gAooooAMU7FJS0ALijFLSZoASnU2l+lAC0UUUAFFFFABRRRQAUUUUAFFFFABSYpaTmgAzRmjFGKAEpcUlLmgBMUYoooASkxS0uKAG4opaTFABRRRQAUUUUAFFFFADkIDirUg3LxVOrx5UEVw4ha3PQwsrxsUmG7is6SIPywz9a1yM89KZJEr8N6Vzo6GcpPAhyhXA9a5u9sEkOGUMAK7+a33DGKxJ4QrYHNOMjNo87l0S2/u7eKpf2TEqlhyR7V3d3tBCkbT61izmEpiPtWikyHFHJvarFlgMCs64LN1P51r3LMCVHy1iynjnmtUZMoSRHNVfJHU5q87An/Cq568Vd2SNCgdKcBzmgKDUgXrik2NBz260uCAMU4IRwKlwByaVx2GqBipQABQEzyKeq8c1Nx2ADPSg4BwKfgCozwaQ0TKa948JzCbRIMfwDafwrwZM9a9H8E6ytvL/Z85+SX7pP8Ae9K0pPUiotD1QimEVKxVRliAPeuY1jxXo+jpuuJQzf3VOSa6TlOgxTMV51b/ABO0SaYRyI8ak/ePSu+s760v4RcWkiyIe4P86LAncmxSYqXFNNIZHiin4puKdxDKdS0mKACm040mKQCUhp2KQigBtFGKKB2CiiigAptOppoASiiigQUUUUDEooooEIaSlpKB2CkNLSUCCkxS0maACiiimAU2nU00ANNFFFFgENNNOpMUwG0UYpDQIQ0lLRilYD//0O/paSjNQMdiikzS0AKKWkFLQAUYoozQAtLSU7FABmkoooAKWjFJQIdRRRQMKKKKACiiigAooooAKKKKAEFLSUtABRRRQAUmKWigBMUYpaTNACYooopIBKKKKYCUUUUAGKMUtFACcUUtJigAq5G2VB96p4qxF93HpXLiFeKOvCPVolPHXkVG4OM1Iw5pCeRxnNcR3ldxlS2OlYl1HuXJHFbcvO4qOvasy4kWIfOeCKES0c/cR7hnbn2Nc/dRoMpnnqR7Vv3bsPl25PrWFcyZQlh+VVFkSicleL5ZO05rAkUHv+ddBeuids1z8rgvyK6IswkioVBOBQq+lTNjsMUqoSM9Kq5NiAJxkVIFz0NSKhwcc1OsIHNS2OxAFwMdTUqoTzU4iYDAFO8ojvU3KsRBDinYxUgDY6UxmHQdaCkhjcdajC5PNThD3pD1zSCw0jHSlSd4nDRtgqcj60jcCqDP8xqk+xLWhf1XXNblAkF05XGCAa4u6upZeJGLE9c1qX10EjKjq3SueIPU9676LbjdnDWjaWgoYjoa6bQPE2paHOJbZ8p/Gh6GuYpw45FaszufWnh7xLYeILYS27BZABvQ9Qa6HFfHumapd6Zcpc2khjYHPHQ/Wvobwt45s9bCWl2RFdY6Ho30rKUbFxl3O6IpuKlI4z6+9NxUjI8UU/FNxTAZRTjSYqQEptOxSYoAbSYp+KTFMY3FFLSEUgCkxS0UBYbikpaMUCEooooASiiigAptOptMYUlLSUhCZooooAKKKKdgCmmlpKYDTRQaQ0CAmm5p2KTFAxuaSlxRQITFGKCaTNAH/9Hv6MUUtQAoopKUUDFpaQUtABRRijFAC07NJiigApcUlOoFYKbTqTFAWFooooGFFFFABRRRQAUgpaSgBaKKKACiiigAooooAKKKKACm06kxQAlFFLigBtFFFACYopaTFAC0nNOFKKAExSU7FJikAlSwn58DvXPa1r9hosO+4Ybz91e5rlfB3i6bXtanglwEVMoPbNZ14+7c3w7tM9VI5NR4xxmpQ1IVx0rzj07FVm2tuNZk8e9CSB+PFa5XIINUJsjI9Ovv9KBHJ3asACfm9R6Vyd6+GZA3TFdxeoNzOvGetcLqYJPyiqSJkcxdOxY46VRkUMeRV90dmJPrTTFmtkc7M4YLkYzUkcTck81fSBV4HWrSQ9sdRQwsZqxbef5VaSMDmrqwEtjGBVgQqg6ZqWylEzvIHWoZNkIy35VpujH2qo8MbHc/JpXKsUizSfdGKURhanPHApjUwsREVCRzipj61E9AiCZvlNZUkgXLHoOtXrmQKlc3cTGQ4HStqULmNSaiV5pTM+88DtUBNSEevakI5rvUbbHA5N6shxRzT8ZOBTdvpTEHIOKswzPE4aMlSDkEcHNQD3p4PNFh3PavCnxFZdthrZyOizf417Bb3Nvdxia2dZFbptOa+OguRkV1PhfxRP4dvhM5d4CMNGDUyj2BSPqPFNIrzKH4p6S5/eW8qr68Gta1+Ifhy6kETSNGW/vDgfjUWZdztTSYoilhnjWWFw6t0KnINPIqBkVFSEU2mBHSVJimmmAmKbT6bipAbiinYpuKBiYpKU0lMQlFLijFIdhtFGKKAsFNp1NNO4gpKM0UgEooop2AKKKKYCU3NPplACUlLRQAU2lzSUANNIacRTaAuJRiiigR/9Lv6M0UVAC0tJS0DFFLSUtABmlpKWgAzS0lLQAUuaSlxQAtFNp1ABRRRQAUUUCgAooooAKKQ0tABRRRQAUfSim9KAHUUUUAFFFFABSGlpKAEpSaMUlACUUuKMUAGKMUuKSgBcUuKKdz1pANNcX4l8W22kI0EP7yU9h2qLxd4qGlRG0tDuncYOP4a8BvruW4dpZWLMe5rWMNLslvsGr6rc6hM8szli3rW78N7pofFMSLj94jA1wjsSetdL4Hd08VWewc7zn6Y5rOv8LNaOk0fXi4IBpcHPtTIuUp/IPPIryT2BCuRxVOdATnp7VeqFlDe9AmcxeQ5yM8HtXH39oxPXmvQLi3yTmsC6tlbjvRezBq5wD2eM461EloDwa6yS0AHtVcW69Rj1/CtOYz5DC+zLyQPlHepY4WZvkXNaZhTOFGc9atIpxhRilcOVGcLQj79ROiKT0NarqzcHrVCYBVwOtK5VjLm+lZ77m4q9IW5wP8KqP1Oaogqng0hTPNSlcmmn1qiSuVx1qlNIq5Jq5K3B9K5+6kDfLnAq6dJyMqk1FXKN3cGT5FPA61msMc9vX1q4wypJGAKqt8py/JA4/+tXpQgorQ8+c3J6kf8XTP0/nTCT1NScFuvH603B7j3/CrJGH2pMEU/HYdBR/D05pWAZjmkzUnBGByaQqBz2osAAsG46UPKrgBucUyQ7RzxVQk0gsTvKSKRZWFQ07ae1A7HbeHvHeqeH/3UREsJ6o5OPwPavadI+Ivh/UwqzSfZpD1D9Pzr5iEbdCcYqdEY/cBb6c1LjcaZ9lw3VrcjdBKkg/2WB/lUxGOK+Q7W7vbJg0M7Q47qSP5V1Np8QdetPlS4aZfSQZ/wqXTHzn0limkV4jYfFS9VwL+3WRPVCQf612tl8RPD10wSdntj6yLgfn0pcrHzI7nFNpltdWt5H5trKkq+qsDipipqBkZFNIqXFMIoGMNNxUmKTFUIZikpaMVIxtJS0mKACm06m0xBikpaSgBKKMUUwCiiigBM02nYptAXEooooC42kzS0hoC4hNFFFAhtFFFAH//0++FLSUtQAtLRiigB1FFFABS0lLQAuKKKKBiilpKM0AGKWikzQAmTThSUtABRRRQAUlLSd6ACloooAKKKKACkxS0UAFFFFABRRRQAUmKDS0AFNp1JigAxRiiloAQU7ApQKXFIBBzXLeJ/EUOi221fmmccD09zW3qd/Dplm91McBRke59K+ctZ1WfVL17mYnkkAe1aQj1Jk7GZqF5JdTNcysWZzkmsGU55q9MTtz71nye/wClaSJjuVH9a634eQiXxTCT/ArGuSk6V23w6xHrglPptrmrP3GdNBe+j6ogOVAqwOlVbc5QH2q11FeWesNyc01xxxQ2QaTJIpg0UphwaxJ1Gc1uSHAI71lTLmkxIwpo/Xms2UbchOa2Zxg8fpWcY8j5RSuNorxpkYbmraxcZ6UsUZ9c/wAhVryhgEjim2FjMmRtu4fwiseUdycit+dSeB17iueuSFLChCaMpzzx0qMpk9OPU1aAH3scUwknnvWiMWU2G3iq78Z9KsSMF+Y9B1rnr2/GWRDwO/r9K2pUXNmVSqoRuMvrsIpVOecE1iSfexnJGM0+SQZBJ/Cqszckr37+ntXpwpqCPOnUcndg53lkY4weT7VWJU4ZugyKGZjuAOM/5zUWVOR2FMkUYGe5pAWHQ4yMU3lsnqadnjI6CgBw6bcc0fxY60tAG1cd6AG4wMLSdzTiCeagmcIvHJNICCVt7betNxmmqKuQ20k33Bx69qQyFVA61ajgkkGQMD1PSriwwQ8t85+nFTKss+Qg6c5JwAPr0q0u4mVVEMY5O9v0pDLLKdkY49F/+tVl4reEfvT5pznA6VH9tf7kQCA5xgc0CIxaTnmQhB/tU9YYF+/Jk/7NKIZDiS4baCep5J/CoXuI4hshHPqeTQBdWOMYKo3PQsQB+VDywKeSn5k1gS3Du2WOaiMhJ460nIpROot9VazbdbXBhP8AsEj9Ola8HjbW4GzHqD9c4bBH61wQSV+RUgtLhutS0B7RpnxQu4zjVYlnXPLx8MPwr1TRtf0rXofO06UPj7yHhl+o/wA/WvkYWsyY2np6VdtJtQsZluLaVopB0ZTj/wDX+NS4LoUmfYZ9qaRXCeDvGlvrVvHZagwivkXB3cCT3X39q74j17cVm1YZEaSpCKYRUjGYpKfSYpjI6SnmkpiG0lLRigBKSlpKACiikNABmm0ppKBCGkNLSUAJSUtJQAmKSlpDzQAlFFFAH//U7+iiioAXNLSUtADqKKKAClpKWgBaKKKAClxSU6gApMUZozQMWikzS0AFFFFABSUtFABRRRQAUUUUAFFFFABRSCloABRRRigBDS0uKdigBlLinYoxQAmKUClpegz2oAMUhIUZbge9YuqeILDS4yZHBYdhXkOo+M9R1OeRIWMcI9KtRbE3YveOdca9u/scDfuouuOjGvOGyPxq3LI8jlmOc1WI5Ppit1GyMr3KEgHXsOazX9q15B82O3FZ7x4z3qJGkTOlHFdR4Rl8i6WToc1zcq8GtnQ22OprlrfCzoo7o+s9JmE1qjg9q1hXn3hPUleIQseR0r0BSD9K82x6UXcawqI9MCp3BAqDFTcopyjtVCQDHatKQc5FUZFyPlFOwGRLHz/hUIi4FarQnpSpb5PNKw7lKG2A6DipniAAA5xWmkYUYHNQXOFHb60DRyOpLOUZIyFOa5mOJ1X96d57+9dTesMc1zszt2zVRQpFWQhD2/CqFxOkQ3Mcf1pt5e29upYsCw6KOprjLu8kuWDMcLnp6V2UaDlqzhrV1HRFy/v2lyqngdvr0rGllYpgdRzSSORuzy3t1qDOMDr6kevrXpQiorlR50pOTuwaTDbvUcD3/wDrVV3kxndkc1Lg7c9+g9RUL52cc8/z/wAKGSMwScj8v6UNjt9Pxp5XHfvUR546c0ikOGO3FPXJGccGgKSMD86kxwDjAH+cUAGBtJH+c9Kb1BB9e1OHQnt/nmm55wKAEPyqc1mu5kf5R+FXrlwT5cfVqmtbcIQWHze9G4r2EtbPpLNwo6A96vljJ+7QYB6Af1q1GhmPzj5f4j0xUU13Fbrsgx1yzdzVJWFcQRQQYe4+YnjaOxqnPdu2Y0O0DoB0qpLMXYn+dWLS1e5fafuj77f3al6jI4YJbh8RjqckngCrpe3sl3RjfJg/MafdzxW0Zt7fCpnJ7ljWBJLnrT2GiWW5aX7xqozljgdaFUyNtFbdrpuF3S9+mKlXYMy4rOSQ5YYFasVkiDLD8TWlmOEbV7Dn1qvJICDnPzHpVJWFciIjAAA6VC79+3tSZJBOahJ3Hrii4hzPim+bUROTTeM8Uii4lwVYMDgg5BHBH0r1bwt8QJrcrZawzSx/dWU/eX2I7143n1qQNt9qlq+40z7GimiuIlmgcOjDIZeQaeRXzP4c8YajoMoVWMluT80TdPqPQ19A6Lr2n69bfaLF8kcOh4ZT71k42LTuahzTTUhFMIqRkZpKcRTTTC4mKQ06m0AJSUtJQAUlLRQFxtJS0lAhtLRmigBtJS0lACUUUUAJRSGkoA//1e/oxRS1ABS0YoosA6iiiiwwpaTFLRYQZozRRQAtOptLmgaDFJzS5pKAFxS0UUCsFFFFAwooooAKKKKACiiigAopcUtIBuKXFOxS4pgMxS4p+KU4A5IHvQAzFOAqjdapYWgJnlUH0zWDN410SHpLu+lOzC51uKazKgy5wPWvN7z4jWigraoWNcFq3jHUr3IL7FPYGnGLZPMj2HUvFelacCHcMw7DmvPdT8fXN2THZKUU/wAVeWS3TyyEsxJPrUkTgsMVqoJEuTNi9upZ18yZixbufWoYoxFCFxgnk04xGRlXsOTU0pwa2SsRcpsMn0B6VEwBBHpUrjcCPbrRjaMMM5HOKARVdD06jFUZkwSMcVruvOF9Kh8jeM9gMH8qiSLTsc9KuQataa2xsVPcxW9vt85iSf4QOantbSFVMxfGB0Pc1z1Kba0NqcrPU7rRNRNvKrA8V7VpWpJcIvNfM9vqXlSfPGQBj7vP4YrvdE8QRcPC+dvVT1HvXBVpSj0O6lVUtj3zcCOKqu201hWWsRTxBs02bUUDY3Vz2Oq5sMymqrYz6Vg3mt2NjA11dShI06k/yFec6h8UF3GLTYgAc/PIfyIUf41tCk5bGM60Y7nsapuPf8sio/tlhHhZJ40JJADMBnH418zav4v169Uq9zID6RnYq/THP61xMlxPM2ZnaQ+rkt/6Fmt/qj6s55Yzsj7WN7YRoGaeIBunzjH51yer+JtCsiUmuVY8/KnzEfgOa+VlmA6gkDseRVyK5R8JKeFGABwKawa6sX11rZHsN54z0yTd5SuxHIyMcVyN94lurjKRDy1PfvXJi3ZeUO8lsAAfj/KrBjYMA/ylc5H0/wAa6KeGhE56mKnInedixcktnk/59qh8wqh/PP8AT8aRT8pxjn/OKlMZ2qvJ3DJx1rpsuhzb6saBlw2fmamNGuSCOB2/p+FWApBAAAYDP5dfyoZN25gck4C/U9/xoApHLfKeD3NMK9COBjFWNuBuJBA4PoT6VCTuPPT0pAREc0Dr6/WlwDgE9/8AIpDgj8cf/X+lIocpP8P0x7UvOACf8+tNHOcetGBnk9P84oAUdQO1LgBcr696QZ79ev4VXkZmby09c/QUgHQoTLu9+Patm3gAXz5lIQfmT6UlrbJGnmzkhe3H3qrXd48h4OOo/DtVrQklu70yARL8q/3R2rGY5OO1HzN0PFXbSzknkwoyOMn0HrS3KQ60tHuHGeFHJJ9K0r24jtohbwfKFHX+8PepLuaK2hWCHA9T0zjrmuYuLgsxxn2oemwrXGSzZ5GDmnW9nLOdzfKKmsrPzW8yWtpcKCq8AelJRG2JHBBartxz7Us0sjgcYIOeOmPT6005Y8Dgd6csanOTwPmqyfUiwWYY79DTJAc57n+dWSnQLxjjHv8AWnLbNn5+NvPNIRRZBnaO9QOo3Adq0GESAAckHmqkjoOABn17UMorlTn0phAxuqRmzwaiJqBjDz0pOnApxpmaQDwxxWxpWsXuj3SXdi5R0/Ij0I71iZpykigLn1X4c8RWviKy+0Q/LKhxJH3U/wCFdAa+V/DeuT6FqUd3ESUyA6joyHt+FfUlvcRXdvHdQENHKoZSPes5RsWmKaaakNRmpGNNNNPIpuKB3GmkxTiKSgLiUUUUCGmkpxppoASig0hoAaTRSkUlACUUGigBKTAoxRigD//W7+lpKWosAtL16UlLQAtFFFMAzRmijFAC0uKSjNIBaKKKAClxSU6gAooooGFFFFABRRRQAUUUUCsGKdSCnAZoGFKSFGTTXdIwWkIUe9cL4s8VWlpp8kVm4eRhjjtTSuDdi1qXjfRtNmMMj5IPOKpRfEfQZDgsRXzhd3Mk0rO7Ek1HbsWlUH1rTkRHMz6RvPiDp0cebVS+enpXAan4+1K6JWNxGvtzXFzuQmztisRmbOTVcqRN2zpJtQnuTumdm+pqm84xwazI5WPBNSlgBVIRZEvGe9VpJskVHu5xTCV7UXAdvz0FXLXO8A9c1RBI6c1p6ZGWuF3dBzTQHURxgKAeCep7VDKuCyntVwghearPlj71oSUj0wee1NCk9Dye3tU5wGC9+vsKxNQ1iK3fZCdzdyKTdgsy/cTRQsDIccE4965y61rgR2/PqaxLi6muZC7sTVfmspT7Gih3LbXElxJulaun02KTVZ4rNiduck+wrjcGu38DSg65HbTH5ZFbB98ZqOZqI7G74k0NtOsVv7DlEIEqnnBPQ1zFldmQrLE2yRR1/wAfWvVvEJCaFqaMuA0QUD/bznNeH2TkXPyjgmppSclZlSVnoesaVrU0qFTlHT7w+vQitCXVZFBeQ8L1J4rgwZoJUuIRkj5WHqDVXxBqjFxawN8uOSO9YTwvvX6HXHFe6Ude1y71W4MTMSit8qj/AA7mmm2g0m1/0tS15KNyrjiMdiw7k1iRSSRSCWM4ZeQfQ1JNLNO++Zi7HqT1re1tjl5r6vcR5C/X8fekUbjntQkZY4FLIPL4FWiBGZe1QfSnkDr3oxS3GCSyx42MRitRdVmA+cAsRhj61nBCaesOTjFNXE0jcW/sp41UqYpFHLYzlfT61diEDqWikywYbAOpHv6CudMaKQuOadDExbPIPTI44q1ImyN+SF12iNfMOFLEdvbFVjIQ3TaBnk9vX8asQPLZIHaQjjIB9aqNfWuwwzLsO7O4c4qhDeFXDAkDsPfpTGbgKOvr/WrywQXGyW3bcGxu54B9MZzVGdWjyBh8cEr0+maTAhJ4AJwDzTGOTgemKTO7Jx16ZpxABz69KkoQZHSnZJ78EY59KjzzzxTs7iCRSuArtsTNW7C0BU3NweDyAepptpbfaHMsv+riIJHXcfQVNdXWVwnT+H2ql5i9CO9uy5AB49O1ZjEt9Ka5LNmpoYjI2BU3uMsWtu00ihR97gD3rpZPK063+zof3jcEj0Hai3t0sofMY/O3T2965u/vXkG0npn9a0+FEvVlS5uN2SDgGorWMyNvfkVAoMj81twQnGRx61mtWU9CaLgYxjH86nRQCcDO71p6R7R82ORUy4PzgEA+vStUiGxGUKodeT0zUiQMx9utWFhjRBJcHj+7iqF5qJ2+UoAUDGKA1ZNLLbw8j5m9exrMnvGfdk9aoyTPJ1JquWLZqHIaROZd33jmot2aQLTwmDUsob170mOOtTBQKQk5oAj6Gm4FPx3FNwR1pANxzxSikOc0UWAeh5zXuPwx17zIH0S4blBviz6HqPw614Xn0rW0fUZtKv4b+I4MTBuO47/mKGroadj64NRmmWtxFe2sV3CcpKoYfjUhFYljCKaaeaYaAGmkp2KbQAlFFFACU2lNJQAlIaWkoAbRS4pKAENFB96KAG0UhNGaAP/X7+jNFGKkB1LmkopWAdRSZpaYBS0lLQAUuKSjNIBaKKKACnU2lzQAtAoooGFHFFJQAtGKSnCgAxTsUUo9KAAYHJrndc8SWOjRHewaTsveqPifxNHpUXk2x3TN6dvrXgmqahPeTGadi7Hua0hAmUjc1nxhqWpuU8wpHnhQa5m8nbytmcsRzWdDKXmVcc5pb5iJD27cVr0M7GSx5qa2/wBap96rk81YgzvX60luUzobkALkc8VhSH5q6G5XEII6kVz0inJqpCQikDmpN+agJ7U4e1QmNk2aXYSM1GPepQTs4qhDR14rc0cEyn6VhrgHmuk0NSZWOO1VHcTOjYAAZqhI6R5eU7VXqf6VeuZI4o90p2gc59q801bVnu3aOM4jz09aqbsTFXJ9S1t5S0VuSExj3rnWLMdzHJpAO1WFhZugrBybNUkiDFOANW1t2OKsC0bbSsDZm7TWjYPLa3MdzAdrxsGB+lS/Z1Q4arMUaq/49KpR6MVzuNU1mXW9MFqqmMHl898dh7VyVrpQikEpPynpW3ZIDEVHQd6dZ4aPaedua0hSUdieYa7JboZcdOAfc9M1wszGSVnPr+ldhq8vlwiD1AJ+p6VygTrnt1pTYRINmOP1p4WpdhwfSp4o9zhR3OKixVxYoisRk9elZ7jLkGt2/wBsCCFOijn61jEbRg9TTkCIcZOKtRQNjOKdbQGR+K21jULtXkYoUQuZgtiTx6VKUAOMVpGMpt2jFUZFYkKp/H+tXZE3KqRF29T/AIda2oYY4h5reox70+0gSIFpBk4z+NVry47L07D0p2sIpXlwzsSee/4ViSMWOe9WJZGZs1EEORWUnctKwyMsjB4zhhyCOufWt+0vy4MdyNykYJA/zxWVHCT0HbpWnDB83PUDAxVRBhJaswWSHLBuOB0P9KouGVirdR/nFaLXEkEhYHlSD+VSTJHeIZFBEwA4x1ptdiUzHzirVtA9zKIlOAeWJ4wKqKju+xAWJJAx3ro9kVhb7NwyR87ep9KlLuO5Vu7lIlEEI2qvyjHWsZ35xmiSUu+7tTAuTSbuGw+NCzYrptLs1+aWQZVRz/hWXZ2xdtoHLV0d66Wlr9nU4I5OOpP0rSMRNmbq15u3KDgk9PQelclI5karN3OZZM9Sahij3HAqJO7sUlYtW0W4gDrXQRwiFQz5Ptio7S3CLuxjjqau/vJBx/D1arjEhu5GsfmfcUt1xxUzTRWwJT5nHQduvrUU1ykKCOMkA9TWDNc7iS3boPSm5JAlct3N45ySck1mGVyTk1Czkn3p6oSRms7lpCcmpUjNSpDk+9XEt2Cktx9aaQimqYz3qXyzjJ6+lWGaJFwfXBx1xVeWYA7ew6UAR4Gaacdqbv5pvJ5HSpGKeaj6UvPajHrSAb7U2n/ypDQA2nq2OlR5oBoA+hvhlqwvNKfTZDl7U5X/AHG5H5YNekmvnD4eaibLxFFEfuXAMR+p5FfSBFZzWpomRGmkU8imGpAaaTFKaaTQAlFGKQ0AIabmnU0igApM0tNoAKSjNNNACmiikzQA00lLSYoA/9Dv6M0UVIC5paSjNAC06m06gAozRRigBaKKKVgFooooAKKKKAHUUUUDCiiigQtKBQKWiwx2O1cr4m8RW+j2pRTmVhwO9X9e1iDRbB7iQ/N2Hqa+a9T1efU7x7idiSTxnt9K1hHqTJ2NC5uZr2Rp5SWY+tYFxuUnNaludy8GqN4jDnrXR0MrmVC2LhPqKkv8hzUKYE6nrhhVvUxhifWo6FLcxM81Zh++Kq1ZiODUIbOruVzBG3tXOS5ya6aTH2ONjz8tc3cDDnHFaTJiUzUg461GKd1rIomXk5qTmo16VLVoTERSTXY6HGwVpOwOBXLwpuPHtXV3FxHpWmZJwSMfU1pEjc5zxNqjSP8AZYmwFPNcaMk1YlaS4mZ87i1XLexkIDsOM9O9Yu8maJWGWdo0xyOlba2QC8c1etYo4QEAqyxOBt6+9aRhYlsyRCuOeD1x7UxvmZSO9XHwy9Mn1qvsxn2/zxTfkK5DtV/m+tNYkrgepqReu7pxUb5bpjnp9akZv6XkxlRzUlkOZl4xuPel0lSIGI6eoqrbT7Yp2XnBIHrmtCTL1OVpbog9v5/0qh5YH1qSQ7iWGcscj6dP50FCMkdff36Vm9WUiIIdxbtjP9P51radANzTyfdQZ/PpVCNGIyOV9fatybbbacAhwZPmPPT0FCQ2zCvX826ZRzzk1mNktirTEgMe5598Uy3j8yTioluNGvZQ4UOeMfrV5yoHQHPSniPy41J79vSq82PlGd2R2rVLQhsrkkk5ycdKuW1uu/c/Cgd/5UyKPeVUZyRV6Z1RAq5wp5+tMGVby4Aj5IzznmucnlZj1qxdzs7bewqjjJrOTKSGAHirccWQKRIixGK0kiUKcn0zRFXBsSG2UHkZ7ZqxIoRcjqPSnj5AQScVDMS529SPToavYRVRdzhmII6/hU+0KysCTg5PbjtUqKBgOcc1ZtoUaQNIDtGSfw6UhEvyQxC4YDcMkH0B6Vz11cGVy2e/+RWhqN2GO0jbjisBzk1MnYa8wGSc1bhj3dagjXPArZtbcsyqOc/qfSiKuU2bWnQiKNpm4wMqT0JrE1O6AJVf7vX3rb1CZbeFYV5C8fiOtcTdSmV6qbtoRHuQD5mzWzYwM3OPzrNhQMRjua7GytgkYLZHHcVMI9SmSRRAoST0HX2qpcXaKn7k7V6Y96fd3AjGxTtIrlp59zcVUmSldk091uYsOpqnkuc0KC59KvwW7HjH0PrUWbKehDHETwa07e0eQ5xgDqe1XI7WOBd8vfoKgmvCAVAwD2qrCuSExW/ES7iT1rNmuCzEE8ZNQyTu/GaiAJNJy7DsOLZOec0nXmnqp55oCg5FSxjQARScYxUhIA4pg5pBYTFLjJ9KUg57UnuaYCc4xTDTzntTO1IBpNAFL1zSUAX9OuWs7yG5Q8xur8exr67hmW4gSdejqGH4ivjheTzX1b4Vuftnh2xn7mJQT7gVMkVE3SKjIqQ1GazKGGkxTjTaAEppp1NNACUlGaKAEpMUGjNADTTTTjSZoAKaadTaAG5ozRRQI//R7+iiipAM07FNxS5oAWnU2nUAFGaKBQAtFJmloAM0tJS0rAFFFFFgHUUmaM0ALRiilFFgHCnD3porH13U49K09534bGFHqaa1Hc8c8f6o91qZtlPyRDGO2a8zdwG4rd1id5rh5nOSxzXMOxLdK6bWRg9Tesnzz2qzdIXHy1m2bAVsbgVANXHYRzqxky4XjBqTVMByCasfZy1wM8DOc+1Rapnzjg1LWjKW5g8Z5qaM+lQd6mTqKzKZ2D8WMI6fJXOTsa6Scf6JF6hRXMTEbua0mRErd6d64phPNPX+dZFky1OAeM0kQq1Gm58VaJZcsI1aZAw4zkk1R1i6k1S+FrATsTIHpWog24pYolTMijBatHsStzNhsY4IwAMsOpqUA5HHFXplYqccg1XCsMhuBRZDbJ4gMDd1/rViQqCGcZFQHGCSMHGKkZicIaYivIoOc1CU+TJ5zyMelWmGWIIqIEY25wP89KQFAj5sDn19BUBxkAYOTgc96tEEH/d5x7U2NVZwRxg+lTYo6OzUx2LIv3mH3fesCZnjsdnQyPu9vyroUKxWbu5wowc+1cbeXhuZ/wB3wq8KPU/zqpOyJQ5Bktg/Sn9WUHqMhfb0pEjaOPzJFKqOhYEZ/MVYWIvhgev6A8/yqCixaQLJKquCQfmqO/l86cRLwBgewrWA+yWxmbB3nArAb5YmZ/vOc59h0z9ab0QjLlJ34PBrU023Od36d6z40Mkgz3Pf0rqbVWiTYDgY/D/GlFajkwlBBITgDn8KpKGdsHp0zUsh3sEPc81ctINq/wCeaskMLBFk9T0Pesm5nwCueR3q5eygPtweOlYc7hsA/jSbKKzHLHHPqadEvPrzxQcngcD2rQtocdvzrNIolhjCJuY/ePGathe3U5zinCN2HI79PelHGG9R2rQhjJSQoZjjn8fyqqMsSxHHQ89amlLsQp5AOfwpCpVVVjzk5xQwHqpdSgPVsY9Kt3TrDD5KnnGSfelthsU3LkDIwBjofWsa/uC+T1HT8aHogRm3Eu4k9iMVVHJpWbJ9afGMmsty0WYV6ZFdVpq7Eadhjb936+tYNtESwHWukuJEtbYQLwwU5+prWJEjnNVuGdiAcVgKCzZqxcyF2bJzzUcUZchV6k4FZN3ZcVoa+lWpmkLnlU610sd2hWR85C/Lg+tZewW1utlCf30vDf4/Sql7N9mt1t0OSeTj1rTZEvUzby5MkhI5zVWNCzCkRGmfjv0roLOy2nLDA9TUWbY9ivbWrNxjOa1sw2i5TBbHXsDUMs6QoRHwDx7k+9Y81wzHaDwavbYW5amusk85Has4sW6UAFiM9ulWIoif0qdWPYgVCetThMc9an8oL19cfhSPtP3Bj2oERHAzTSQO3FGTkAc0+K3aRulIZDyeafsB5xxV1oUjUc/hVWV1z8vSiwrjGUDrUfGM0Fj3pD1zSKEpD7UCikAmKSnHI6U39aAHLkGvpP4dTeb4ZjTOfLd1/XivmvvxX0J8LpN2izp/dm/mAaUtionpBqM1IajNZFDKbTjTTQAlNoNGaAExSU6mGgBKSnU2gBDSGlppoATNJmiigBOKOKMUYosI/9LvgaUU2nVIBmlpKM0ALmnZptLQA6iiigApaSjNAC0ZoooAWiiigApcUlKKQCgU4CkFOApgLnAJPQda8J8ba/8Ab7/7LCT5cJx+Nes+JNR/szSJp88lcD618yTTPLMZHOSxya1pR6kSfRFm+UuqsOmK5yYMrZzXV7fNtwR2rn7hApNbSRCILZ8Nya3EkGfwrmdxU1rW02RyKmLG0aaZdwmMZOTVHVVHnkCrFvIfMGedx4qHV1w5qpbCjuc2eTU8f3gKjKjNSRf6wfWskWztLw7LdMjHyiuTl5JNdZqJzGgJ/hH4cVyM7ckCrmTEr9alUVCtWUXpWcRl6Bdw4rRRNigDk1FboAuas4x061skSODYOaeG5pmOMDp607kY4yD39KYhspBOGPXpUZbPGc8etEvyk8UhJwGbkGgByNknt/nrT1l3cnkZxUaEjP8Au4/CkPJI7AUAWCDnr0pCCBuP4UmVIVuw64oLcbTzj0oYFRkQHIG0nmkhBViw9c4FSSEFuewIpke5gNg/GkMZqk7JYiNM/Od2Pf0rptM0lNOi4QtOFBldV3OWbGFX0A71ymtKQsYTg4/Wu6t72y1S2E0ExjZgu9d210YdRn096569y4JdS0r2c1xLYzBpFjwJNwyMnjAJ7g9q4C5g/szWHsrdt6ZJVfQHkf8A1q7O4vtN0xpLqaXc8nJQNuLEeg5xXK6b5l9qkurXYwOWA9P7v5VFFO5U3oWNSzHDHbY5I2/jWDeMANo6qQD9BWtcTGWdm52r69c1z8775CDXVIyRZsY98nP4VuyL5a7M5zx9KoWEWxVc4zjP4VqN82TgA+p604gytHESQR7mrDyMiZXjb0pQm1B6e1UrqUoDu9dvPFNiKN1MXcuerAdPass8ue9Tu3zZZulNSP59oPLYrN6lbEkEZd8kfSteNAgGDyT+WfWoEjwFA/h6n8atNgfL1HXPf8qtIGGRgknpxTGJUD6fp7UmSWPHDE0x2GTjOR0B9KCSPOZc9snFWUjM0uAcdOfp1qFVGeO/5ZrRULDDlurgHjsBTQEV5cADYmMIMDNcpLKWbdnnOa0b2Ut15zWMTk1nJlxQo9asxDPQVAoya0Ilz8oGDUob0N7SYlMhmYfKvWquqT72znBOQa2Y0+y2CxtjLDd/9auO1CbJINay0RC1ZmPyxrb0eFTI07/djA/OsIV0+lIDFhh8udzf0rKC1NJbFwv9nDXsp/eNkKPRa5mRnu7jjnJ4FX9RnM85Re56Vo2FmtvGJZfvNz9K0epCEtbOK3TfJyT2pJ7tSCg4Apt1dMpOO3SstY3nbPakwGvIz+tOjt2fDGr8VoVXPQ/yqdcKgBHQ9R60KPcbfYreQEG48n0PGKe5jHy42jrmpHwEwTt9+uargjaT1Yce9MlkbMwG49B1pAGL/LnPrVtLR3ALnamOWP8AhUktxBboEhGT60DQLaLGA9wee696gmvF27YhhfSqclwz9TVYtUuXYZK8zFjnqahLZpp5pVXIqbjFznrzS8gUv0o7UgEFKfak5zQemKAE5pKDRQA4YzXvHwpfOn3if9NVP/jteDAc17p8Kcm2vh23px+FKWw47nrBqM1IaiNZFjTTCacaaaAEptLSUAJSdaU0lABTTS5ppNABTTS5pKAA02iigBM0ZoooEf/T72nU2lzUgLRRRQAtLSUZoAdmlptOoAKMUUZoAWiiigAzS03NLmgBaUUClApWAcBTxTRVLUb+HTLR7qc4C00B5r8SNQI8qxU/7RFeKsw3812OtX76tcNdSfxHAHoK425jMZ9a6lGyMW7s2LKUNlO1UbyIoxGM1Ttbho5ACa3bpBLBvWq3Qtjj5BtPIqeCbZTpoyWOe1UiQpxWT0Ze5swOfMQqe9XNYXEnrxWLbzEMPrW1qqsSCeMgVad0TsznG44p8P8ArBUZPJ9qmhX5hWaLZ1+pF9ikjqorj5R8xOeK67VSNqA9kArkpMBjitJkRGIPWrkQ56VUTrWnboPWoiimacanYOOtSsfnyKYoBC44wKXIY8GtSBCcjaO9SbgpxyAOophYFwRgFvWnN3IHXNAiFiScjmiToNo4pApalY7urUAOGQPXigfLnPpil6DFMYFeD170DJl6YUng80hwGIAwaVTg5HfrUUzEk7Tk4oAY5BGRyfQ8U+1QHGeh5H1FUizN8owxxnOfar9ltkcEZCg9foOf1pARaqA8ijtg/iexrNjgERG8cj07VduWaSbeR904XPHFNwN+VPHf+X86TVx3YipGr52jHb15rcR/s9m8mMH29KxVQM2xl29P16Vd1OVo4EhBwSAD9aaSsBlNJkDJ+/kge2cdazo13XBHUZxUt24GIxwAMD6Yxim2ClpQV61I0dIihUXA4AqRVBAyMg9c048AL14H5VLEmfm6j0PFaJE3IZmCjZ6elYlzKGOd3tk+talzIFDNg9PSsORieW5OOamTGkQvgnaOcHrVuCMHG7oenrmq8a7m9j6VqRoCnPpjNJDZLGQAeAc9s9aRm5yTnilJAf5O3T3pqooxnoOfwqrCDgDpx1+hphYbhnk9Qff1p6DaRuO4HPSmH5n55bsfp1osIt2sBaTHoeR6etMvp1LbegwRV9D9mtwx+8wyR7D/ABrl72Ybz3HUChuyBalG4bc/B4FVu9KxOcUIORWLNETRrzW5psBmuFGMgcn6VlRDmup0uPyrd5z1PAq4ImTHajKcYXG0E81wtw5ZutdFqcuWOCRk1zEhy9Kb1sOCFXqBXUowtrALn5mAJrmoRmVR2JrpIka6kCnIVcc49O1KA5CadajH2q46ds1Le3R5KE1JcyBfljG0DgD3qnFBvcuckk/hVkFaKBp+fQc5rVhhWNcnr0/GpRGseFXBPemDIAb8MU7DFKsSSDkNUHUbenH61KACN78AnA9qgeSOMY+8fWi4hixsw/2emT61KDb2ysx+ZuxPA/KqMt5nPftVBpXY53E1NyrFye7aU5JJqm7lj1qEls4pQKhsY4Hmk6mn7MU8AY3UAN20vFITSYpALR34popRweRQAH1zTeadjjpRigBtFOpo6YpgPWvcvhSMWl6efvrz/wABrw1ete7/AApU/wBn3pJ481f/AEEVL2Y4nqbVEakaozWRYw00040mKAGk02lpuaAEJooooATFNNOzTaAEoopuTQAhpM0ppD0oATFGKWigR//U7zNOptLipAdRSZpaAEp1JRmgB1OpmadmgBaKKKADNGaKKAClpBTsUALThTRThQA8D1rxD4heIRPdjTLdvlj+8PU17Bqd0tjp81yxwEU//Wr5Mu7tru/edzy7Z961pq7Ik+iOhgYGP0JrNv4wvIFXLdgoG6pbhBKnFdNtDJHGOdsoY9a6SxmDoY3PB6VgXUTIxJFPs59rfjWa0di2i/dQbSx9ayJI88Dv0rq7gLNEsqdAOfrXMTuFkwKUkCKQLI/0rrNRAaNGbPKg4/CuXdMjNdVecwRnvtFEdglucqQc81ZtvvD61FKBnHcHkVaswPMzSW42dRqa5UHHOB/KuSlC88d663UACwBBzgda5aVeSBzVzJiV0+9jvWvbgEDPWsyMZeta2xnIINKI5GiFOzIOT0xUbAAlcYOad1I7ZpxG0nHbrV2IIyqvJ6ZpzDGFH5mouVbLfwmpGJ6df8+lICMAj5vXpTFJIYAcnkVPxyo6VGMDB5zn8qAGhRjnjPSlf5lKjt1peAAPu5qINuBCn5SMYoAsA5TjvVeRgFLdGBH5VIGG09fSqUsg5J5zQMgll3LkcHPatWxdYrZ5T16c1z7P+8IPbpWxGSmnrnB8w55qVuUyNhnk5BT+E8k0AHACjkf/AKv50A/OXQhsAZ5z+VKYinGfugZ9zQIvWIZ5wcZAO7n0FVL2UPeb2+6nzEHj6VoWwVLeSccFuE9KwZXLLIe5IBJ9Kb2AzJ2y3H5VpaSuZax5OXwenpW1p2Eb6daiG5UtjfI+fg55qxI3lIOdpx1602FM/McBc9feobqTBJznnGPatjMzbyQEELWa/ODjFWbg9SM/lUHUAdf89KzZaJbePsM9x071oAZAU8Y9OevSoIkITHdh+p9KmzkAdjnn0qkhMXaAxlz0IAHoKUMI2ZUHX9KYzZ4A54z/ACz+dMJ+6ue/FAh25Sp5+UA8d6s2MW+YFui/N/8Arqplj8uPY1tqot7bexw0gzz6U0BnahdAqzhipBwB2wOv/wBauVnfc1al5N7nOTWGTzmspsuKGgHNTJUYqwgyahalF62jaQhQOvauqnxbwrEpxgc/WsnSoMybyOEHWrV9IMZPpW6VkZvU5u+kIbaOAB+dY/Wrl05Ldc4qkDxWEtzWOxcs1Z5lUDkmuufFrEI4zyMZ+tZOiQqFe6k/3V/DrWj80xBA6VpFaESI1iMh3vnP071dG6NCg+6cH6GpvLCDnrVSWdeQOK0IAKu75mxmoZpljye38PtVSS6HIU9OprNmmMhwORUSkUkWpLzDZH41TaZ2+YNzSCJmAJqwtsMdMVLGUcOetPEZHtWl5GSegphXBG35sUrBcphKk2njAqYEA4PrTfm27gelIY0nHXmoz+lIScCl5zjtQA0+lIMk8VKkTkHipTEE5osBXCnFOxg1I5UDio8847U7AIcAUcHGaTrTSakBT0pppueaKAHivoL4XRqui3Dj+Ob/ANlFfPq89a+i/hou3w6zY+9M5+tKWw4nfN1pjVIaiNZFjaaTTjwKaaAGk02lNJQAlFB6UUAMzRQaQ0AFJQaM0ANpppc0lAgzRmkooA//1e8ozTadUgLTqbTqACiiigBaM0maWgB2aWm0oNAC0UUUAFOptOoAWngU0U8UAcX4+uPI8OSgHlyBXzAXxLvNfSvxHRjoBwOjivmWcEOTW0dIkS3OpgcNEGq7G4Gc9DWJpcwcbDWo2AeOa2izIr6jbBuVHauWcGJ8+9d2QJIjnk1zF9bEAsBRUjfUcWWdOugwMLnhuPxrJ1GF0lJHYCqyO0T+grbMiX0Q7OOvvUX0K22MaGRWG1q6ydd1pC2cHb0NclNA8T7lGMdRXUo/m6VAzctgiiHUJHOSj1/yavWQw3vmqU/DEHrV7TjmYH3oW4M6nUF5DHqQOK5e4TBIxnPSus1H5kXb97aK5qTO/nsOK0mTEpRphueBWrDlRhqoqAjY9atxsAMVCBl5SAML1GPpSkYJ3ZH4UxMEegqVASzbh0HHNWIhwJASTg8mkfgj0PH405dx+8e1IAdmeOnekFh4z82eCO1Nx375qVQRkMPTimYCn1GadgIzgNgHt+WOtU8kkY98j+VXJXXJIPPcf57Vn8h9v8XXNJgiwWby9w6dazZSRye3GatvIFG8duuelUZdxXBPy1DZZTc8/wAq3bhgsFugJO1e3U8elYABZ9g6mta/k2ThRgBQAo/Dp35NCY2iREDJ8zcAgAgY71aHLnP3eOfzxTbC1vbwO1rBLLEnzMyxs6jHbKgjP8qtQhcEnGMng8c8cfh3x0qkSWJlKaeAuOhP+FcxO+2BUPUjcfXnoK6LUyTEka8ZCrXNagw3ZH0z9KUmCM0HJrc08ZcfrWGpro9Ij3zBR3qYblS2OnGFTkcmsiZxzxnPH41qXLgDj8qxJmzz1xitmQZ8vzNkcGnxgE5YYx0H9ajx5j7R3FWoztw6+lZlFlevHOcke4FKQMbvXp70hwo3dQ3X196Cw+Y9c/d9qokaxXHTnIH1FMA6Dk9+nT2pXyVweMHj8KfHgsMjORnJ7n3oAtWtuJXAIxgkmp9Sk8oMOyjiprYeRbGboW4Ga52+uCCRnqP0pydkCMmeXd8o+v41Tp7saYK53qaokUVdiXkVVXtWpZRb3AqooTOhtF8m2yD97rWVfOdhBPOK1J3wmFPArnb2QkEHrWsnZEJGJM27rUQ6Ush5qa0t5LmUJGCe59hWG5qjorM/ult07YP+Na0alBknJqOGCKBNqnnHWldgoz+tbrYxbIppimSTWTLLliKtTHjK9fSoI4GZselSykVVieXI+6Ktw2uPvDn0rQRFUbAMe5qN3wMD2xTSFchKICfSglTgKfrmkY5bI6VCw3HnigAZgvC8Gock5NSmOVznBPrjmni2Z+GIT+f5VNhlQ5wQBTFWQ8DkntV7NpGPm+dvyoa/dAFiXaB6YpWGRpZOTlzsX/a4pwFtEowd5qpJcO53M2T6moQ+faloItvccbQMVXZy3eoi5NN3UrlEucdabn1puc9aQA0ALkkcUmaUcUYpAIBS8HpTqSgCVBkivpjwHF5Xha14+/ub8zmvmZOCT2Wvq7w3AbbQLKLoVhXj8KUthxNgmozTyaYaysWMNNzTjTDRYBKbmlzSYosIDSZoNIaBjT1opaSiwCGkpTTc0WAQiijNFFhCfWjikNJRYD//1u7ozRQKkBc07NNpaAHUUmaWgAozRRQAuaWm5pc0APopM0tABS5pKUUAPFPFMFPFAHM+MrVrvw/cKoyVG78q+WLyIjI/H8K+udeuorXS5nm+6VI+ua+ZL+2BkJA4remrxIm7M5a1nMMnWunSUSKNtczNbshyoqa3uimFbiqi7bkSV9jq7dyrYpLmEOPrWZHcAjg81eW4D1ruidjn7q0IJxWcskkDBlJBFdVKAeCKy7izyCR19KzlEtO5Ek6TptcYf1rcs0xp7KedrH8q5F4mjOccV0GjTtPFPE5yVAYfSiMtbCkuplXWRKVPbrVvTfllGeeagvUKt8x5zTbGQrIMHvSW5T2O5uv9XGx64FYE6jcQe3I+np9a6I4a2iY+lY8yLt3Y6dc1q1cyTMoj5tvfHpUyjsPXNI6g/MefWmgg45qCzSjfGdp5xSnoSOmMVAgK5K1OcYATjjP4elNEisFY/L261DnJ2/8A6qkyTls9qACVLYHHOB1x9KdhkwU8ljn1qJw5JJHH8jUuACCKjYENk5x1PPagRV4xz/FnnuAKpSEHlhtGDx7c1c75PIXOR6is1woJx2J49uallWHGQbRu5HIx71VkDYAHNSKw4UnnHBqBz3J6elQ2NCWgBuk5A+Yc9eldX4e0b/hIfEi2Uufs6K0023r5SdRn1JIFcrafLcIegyOvHevVfhrPbW/i6eynZY/tls8MbHhfMDKwH/AjxRL4dClvqe7WWp6LpEtnoUC7p5JRB5NvgLbkKX+YDjAHU9ya8l+LuiW2ma/ZarZIIze7kmVcAM685x05Gc+tevX3hq31bUDe37FIFVGWKPMTrMh3M7OpG4EBRz2rxb4h67B4k8Tw2tkwe10wENIDlXlYjIH0Axn6+lYwbuaStY4PUGHnR4/g+Y1yF7/rTj7uc4rq9QYPOwwRgFfzrjrk5kPOea3mYRI0Bziuw0GPG6QjkDrXIR5yK7jRl/0diB1zSp73KlsT3Tbm6Af/AKqx5TldvGRWpOcMe2P0rHncMxCjHPXpzWsiEQxYBLA4OPzFWlXcQBx/9fpUUQO4KSOv6elWFI3EHr3zxUobHoxyVJ5HSgsqrgDrUe0/hx/9apHwH2dxTERnBPIPsD61bjTcwAG5TwKrKpOCx9/pWtaoEQzHgjkGmgFvJVijVY+iDmuMuZN5I9e9b2oTKYyGPWuWdj61nUZUURGgdaQU9ayLJogeK6PTYQq7zWHAu44ro0xHCFA7VtAiRHcSgqcfiK5y6Yc4GfetO4kyMnj3FYc5Zid3JFTNjiiq/Wuq0lVhtt4++9ZWnaJqesPtsYGkHcgfKPqf/wBdd1b+Er+yiDX0iRgdgdxrFVYRfvM39jOS91GdghQcZPX8Kj2vKxSNCzNwAOTn8K9a0TwZYSRpPdo0gbkbuB+Qr0Oy0bTrFALaBIz6gUTxcVsjSOCl9pny1PBNDJtmRkbP8QxSoVJBU8e1ei/EG0jknmLLjrzXk1gZDk/3fyp0MQqivYzxGGdNqz3NaQg4A/WquCWPp0z71NwRuY8elS+bsOVULnvXQc1iBYHbg/KBzk+lKzRRZ2DP1qvNcHAyelZ0szZ4NJsaRfe9woUcAdhVBp3xjNVCWPJpQrEVF2VYkeXnIqPead5ZPbNOETEDilYZFkml5qdYiaUxEHmiwiEA0v1qfYBjmk+UE0WAj245o2mpMUo5OKLAN7UmOOKccAUwtxxSACRSdqaacAMUAW7SPzZo4+zsq/mQK+voEENvHEP4VA4r5b8LWX27W7O3I+UyAn6L83+FfU5AAwOlKexURjVGTT2qM1mMaTTTTjTTQA2kzS0lACH3pDSmkpWAbmigiimAykzS0mKACiikzQA0mkzSkjvSZFAH/9fu6KTNLUgGaXNJRmgB1Lmm5paAHUU2nUAFLSUZoAXNOzTaWgB1LSUtADhUoFRCorydbW1kuG6IpJoA8p+IGs+ZdJpsTfKnzMK4AbZF2nqKoX9693qMtzMTl2JH4dKlilBNdcFZGEndkU1sCDxWPPZEjIGM11O4OCKqSRkvwKpxTBM5MpLEeOaljuinB61uTQF+orMlshyBUcrWw9HuPS7BHJqx5iPkjrWI9vJGePWmrK6cUcz6hy9jUljWUFOKj0g/Z9RVT0cFarx3AUcipDIA4lXgqcilp0B7E+qRgMwxzn8RWNC21xXS6mBKolT+MZJ9q5Xo9E9yo6o9HtW82xQgdjVOZTvxjIxmp9KfzdMUA8g4p0q4jODzWy1RlsYbLxtHJFKORtPUCpSuSSoPzU0ZABA5J59s9Kkq48D5eO/60oyG69M/jSIy4A75/SpM8+4/SkIGZdwOMg9alQM2BjHP6YqAEglT/k1NG2QAwwR/npTAfuIAUdjzUMg4AB7ECpWPOBzzzVeUNgADPoKYylKDzu5KjJxxxVFmDdeAehq1ITu39T/LPSqkjNnHb0rNlDRnpngVC33Tnge3U1IwBUZ5POff0ppGMZqBoZEcMD1NdE6sZxMCQSAQRwcjofwrnY8hjxjPFdk8ZQqrkA7Ofr7VcVcmT1NabxF4guLNrO71G4khZdoTfjj6jDH8TVS1RYVCRqAoAwB6D/OarEbjsHQHH4cVYjZkEh9BVKKWwuZmFdOwVpehLDj6CuUk5cmuluv+Pdsj7pJwfyrmWPOazmVAfGRuFd7pi7bUN2rg4AS4r0K3xHYrnuKdMJlG7ldy23t05rIcH5u2B+Zq7OwHXr3AqiWJODzgZFWxIkiCnGB2B/GrQAXBboRnH16VBGADkc5/yKsDOc9ecUIQhwRuIpjEnjHHOKsK21AuAT71CSQVHrnmgCW3OSCy8Z49/rWlP+7hCnuc1Wso1cg9ADz9aTUJ12uPyqulwMC/kJJXPFYzHJxVu5cuxJqlXPLVmqFAqROtRip0BzUoDRs1y4J7da0pnIU44qpb8KCeMf559K6XSfDWr+IJgtpGVj7yNwo/xrWUlFXYoxcnocfKJJmWCNWdmOFVRkn2wK9O8L/DGWcpe+IBtUnKwA/Mf989vpXqfhzwPpehgTY824I5kYfovpXaskcS7vSvMr4tvSGx6dDDKOs9Wc2ljbWkIt7WNYkQYAUYxWLfWkc6GNgPwro551cnHFZkiMwLKK8576norRaBp73MMKowDBRgVbudR8lN0sgUDsKxbiecLtBrjdTe5aRYmy4Y/StOdvRE2RieL9ah1GYxW/zY6+tcfBpt7INsMEmP9lTXs+kaNBAqySRICevGT+tdjF5cSjaoGPau6jVVKOiOKtQdR6s+YZoZLYmO4UxsPWqU8yqAqnkV6h4zsFmmmBXgnII7V4qd6uVc8g110sRzrY4cRhnTejLbM7kZpRAxxSQrKxwBketascRTG41so3OdlOOzJbafSrRtI0XL4p8kiq3y1SeYueaegrskJjQ/JUW4HgVX3DFIW9OKlsaRZ3DJIqEtnrTNxpM0hj800ZPWjvxSYOOaAFzzSZFIB2pcCgBOvJpven4wKYevFIAwaUY3UmeKcnUGnYD1b4YaeZtVkvmGUgjIz/tN0/SvdWrzz4aWXk6I94R81xIefZeK9Daomy1sRHmmGnE0w1ACGmGnE000AJSUtNxQAGkpaaTQAGm5pSab2oASkzS0lABTTTqaaAEopPrRkUCsf//Q7mnUzNOzUisLRSZpaBi0ZpM0tAC06mZp2aAFooooAWlpuacKAFFPFMp4oAcK5vxjObfQbgqcErj866QCuZ8Y27T6DPgZ2YNXBa6iZ80TOQ+4VZt5P4utQXKEMRUEUhibNdGxi9ToI5AGzVlnEjF+ATWVHMHXgVYVxmrJJwu7cAaqTxkKRj8auQuN+VGaLkfKQelNoVznnU8k85/SqckYLe1W7liMjkA9RVNmwcA1kzRFZkK9KYJDjFWXBIyOarOvFZ2LNe2m820MTHJX+VYU67ZCAc81PbSGKbnoeKZcjDlgMe1Nu6ElZnaeHmB06T2ar0oxkgd6yfC7D7POh55BrZcDbn/Oa3hrEzluZpHDdievvVc4Y+mc/j6Zq6UAzk5OM1EyqfmXpgHn1oaAqIB93vzUvUHbyT1P4UgUIeepyRT1IB+YdRyKVgsMKtgtngDBP4VKrHy+e1R4IbpwR07VKAOR09vr0oAHHVv7o/Kq0xbG5up60pIywxzyMetROx2deCDzSbCxSkIxgfj+lVJCM4bk+/tVrzFbaCOQAc9qqON2cDdzkGoZaFHPOO/FRsR+GetSKSRjuPTmoyPlAPHP60h3LOnxiS7jQrlcnIP0rpCxZifRuD271h6USt5Hk4zntnitJMGRhjuQcc9+3rVwIkXmJBBAwe1WIApRwT3zk1QGC20nJ74OfyqxA2QyE4Bz/k+lWIwL/GME5GO3SuabrXV3wIgJPC8j64rlG61jUNIFm1BMqqO5FegzKIYEjA5ArhtMQy3Uaj1rstRcDoTnHFVDYmZkSMVB3HLdqrIrd/vVJJnAPoOlJGSzBSMUwLCp8pKjAxz7VLypIPY9PWmkngZ7du1SNwpzyM8Y/lTEN2grlD0HHvUa5ZwF6e/Sh2woA7elTRFXk+boeMfTqaYGrBiOAuR2/OuevpcDkdenvXQ3TCOBV56D8K468cHg0puyHFXZnSMCahzTm5NNFc5qPHvV+2heaRY4huZiAoHUn2qmgzXrvwq0JdQ1d9QmXdHZgYB7u3T8hz+NE58keYunT55WOs8M/Du3to1udYAlkIBEX8K+xPc16laWsdtEIowFRegAwBV2TZFy3Ssqa7kJCRDAz3ryKlaU3dnrwpxirRRoPOsQwDyKzZ5Xl5HApqAkbjyfWl7VkzRIrCIBs9frSlSFY4qYkDrVO7ulVMA1LRSdzMuNuTXMagiuMjqvStae53ZGcViuGnfZCpc+1KCdymi7p97cDhlJNb/nXDLlgEX3qvp2jzYzM2zjtyap+Jl+zRoICQrKR+NdLbsR1sct4w1O2EPlIcue9eNi3JkaWXv2rY1V5kuD5zFt3TNYzXAODXoYWkoxuzysZWcnyF5WCfKvT2pjMcdc+1VRMDgilLYye9dd+xxDWYsT2qMYB9aUkd6SobGhmBmgqfrT8UvWkAzBzSbTUuBmggYoAZwKQc0489qMYoAaCM5FGTnNKQaU4PSmA0nNNpelITxmkA2rMIydoquBVlW8qN5f7o/XFUB9X6BaCx0S0tlGNsa9PUjmtM1m6DI8uh2Tv95oEJ+uBWiTWMtWWMNMNPNRk0gENNpxptACU006mmgBKSjNJmgAppp1NoAbmiiigApppTTSaAGmilNJigD/0e4paaKdUgFOptLmgBaM0UUALS03NLmgB2aWm06gApQaSlFADhTxTBTxQA8VV1KNZdPniboyHNWwK5bxdqg0/TjChxJMNoqobiZ863ybZWX3NZL5LfKK27wFnYmsxlIYAdc10sxRLD8owDVpGwfWqZQxrz3pys2Bjr7Uwsa8XHJ79KW4bKnFV0JC80xpBtOT06CqvoSZN1uO45+729azCcHmtC5O4nPUdMVnd+axluaImRgelRy8Dimqeae4yKkaKm4Z44qzcEOgfFVHHPFToxaDB5xSH1Ok8Jn55lz2FdPKuAQOa5Lwr/x9yqO612EpPO7muinsZT3M5kPpyfm+lREMTuH1q23yv8o6j86gcnjFUxFQrjk9T3NIy+Xx3/x6VIyjIJ54prKWOKVhkTNgdc4p7H5C3U+voaiYlSccCkbABjU9u3PNIViJyxcAdCD09e9VZHIwp4AHOe1PJ+fkbSeKqsV+Yt0wfqallDMsBj+VRscnrxjj3pMkUwA5wOtQWP8A9o8CgKQMntxShgMkjPtTlx1bp7UgJLdmikWVRyhyB6/jWvMSkxYsAr5bd2z/AHR6VmwqzsGbk+3atlIlxsKgqx6VrFaENlVZ4/KD4wcdem3PSrdqHn3MBhAMZP8ASpI7eBTvRAAM4/pVqZ1ij44A449aqwHN6w+0GMcgcCuaOCa1NSlDy4ByOKyu9c9R6msdjpPDcYa6ZiM7VrYvG5ZnGMc//WqroCeXayTEfe+UH2FS3DDeQTgHp9a2j8JnLcz3B3c/5FTwx7z8x6CqrHk7/U9KtIp445wOB6Hr+VICYDKB1HHTHselDNj8eKcSeqk4AqCRtoJPI9aYkhjMrcOevf6dq1LJAzDeOeP/AK9ZcS4PByD/ADretMIhkPOOtNAytqkhBK+3SuMnk3tmug1CUkblPzda5hz196yqM0gR0opop6g1mUWIVJ4Az1/AYzX1Z8NdIOleHEklGJLsmVvp/D/47Xz74P0f+2tYhssZRzlz6Ipy359K+tF2QxraxDAUAceg7Vx4up9k78JT05mMuMyAt2rLEZLH2rYlXjisO5uFgY57157O9K5cBWNeearTXCpWJcaqittTk+1Mt7S9vjuk/dJ6nrSuPlJprwyHbF8x9qrmynmBaY7B6d66GCzhtVxGOfU9ap3DDp3qWVFdjAubOFYWKjJ96saSlsluHyN/celRXEuAazYEUy71bbnrWlOVmTJs6l7kL3rJ1ALfQ7G42nIJqyslhBEXlbccd64TXPEYUssZwO2OlazlfRDj3Z554sVYpCFPIOBXHIav6retfXBIORnNU44ycL3PNejQTUUmeNipJzbROg5A7AU7kgH+9TMHYzj+LgVKABIB/dFdCOYaygswH8PWm4bHPU9KTcSnHVjzTy/zHnhRikxXG7h0pwOehpmRhQe/WgBTyPWkMkbjiio+QTu6UueeOaAH8gH6UlAOBQCKAG5Ofeg+tLSc1QAaZ3pTSE1ICgfNVnyHuXisYsl53Cjj+9wP8fwqGIZcfWvS/hxof9o63Jq86/ubPhM/xSEf0HNMFue72sAtrSG3HAjRV/KntxUjGomNYljDTTTiaYTQAUlGaZmgAzSEGlpKAG0lGaKAENJS0hoAbRRRQAhppp1NoASiiigD/9Lt6XNJRmpAXNLSUtAC5pabS5oAWlpKM0AOp1MBp9ABinYpuadQAoqQUwU8UAPyBknoM5rwfxTq7ajq0mxsxxZVR2NemeLtZXStNZUP72X5QO/1rwLzt7lmOM1vSj1ZnN9ERXB+Y571nv255zVuVgzYqswDMD0rVmaFALYH86mhVc7s1Eh4BPXtTi55QDBpoGLPIcFRxiqqvkgnimyvvYjpjg/WoGPy88mpbHYWTnJzVCQEGri4PX8agmGTkVEiolYZBp27iikNQURt1oQ/eX1oao1OGzQFjf8ADR/09u3ymu3dgSQMA1wnh8hdQI9Qa7ducM3pW9LYynuVpCeQRjHSoWJYYxx+tSsBuyfmFQsRkEdK0JI8/L6Z4FIehA/OnHKr8wz0NRK3Hz85pFFZgUYgYI4qKQnBxxluB71M2ACwHJPQ8YqrM3PP3ewqGBHjnIGc8e/HWqrD5T7Z/Hmp8kscnr0NNIBUc9iR9allFNxgBj+ApBkH3/nVpk2Z34z2+lROAo3H8ulSURggpnv3pFJ8wAU1ycj29OaiUkGkM6fT4wTuPAxWnIvzHHIz345rP0iTnGetbDD5+eR710R2MWQIBGoyQaz7yUlSiHB/lV+Z9nTGP5461z15P8hwOfX2qZOw0Ydy2W4qovUVJISST60+2iMsyRr/ABHaK592bbI7e1U22mRJjlgW/Os2Riz4X8DWxdBVVVUcKoXHuBWEceZx+XpzW70RkhvDfXPOen4VdAx26VWHJGO3arCt6g5z07mkgHFsZUkDAOarMTnI6c81N0UnJzUB+YgZABpjJYQQV9D3rZI8u256n0rMhAJHcmr96+yJY16jueKa0FuczfPjGeKxXPrWleOGbaecVlHrXNN6m0UOFTRqSRUIre0TTbjVtQhsLdSXkYDjsO5+g60m7JtjjFt2R7X8LtIS10+bVZR+8uPkT12j/E167DC33j1qhpOnw2NpFaQrsSJQgHritpv3cZJrx5zcpNs9mMVFKJm31wsKE5rj5Le81SX5DsjB5Y/0rqJIftB8yTkDtSbQHCDoKz5bs2UuVFKz0i0s1DBd7/3j1rRUMee1WNoKfNWbPcbM4OKdkibuRc3DJ3Vzt9JiTPQUyfUHVuOcmmRafdX7h5jsj/WlyuWxpHRXZkXkoClu3f2rl59U2ZVGr1S9tLRdPktIlHzKeTXztrcV1BJmMkc960VOzsyHK6ubGo66sUfzyfhXA3t9PesQpKrjvWlaaDc37hpZCfwrrLbwcjD94WI9cV1U3Th8TOKbqz0ijzVIMBR3bn8KkBwrPjr8q16l/wAIbaqDyeKzbnwmAAI5OhzXSsVT7nI8LU3aOA+XcsfZOTURP7tn7uePpXUXXh26QsUAbNY82m3ETBXU4XrWqqRezMZUpLdGefvgDooqL+H3JqVlZSxx97gCosYZQewq2RYcTySOwo6YH40zB24/vGlJJz+QoAlV9wAPelIGNyevSo+hz6ClU4x+dIBc9zTyc9KQEEY74ppBVsGnYB+cjikORS8YphNMApD2ooHWpA09Ms5b68itIBmSVgF+pr6m0TSLbQ9OjsLcZ24Lt3Zj1JrxH4a2X2jXxOw+WCMt+PQV9CMxpTfQqKIzUZpxphNQMaaaacabSAYTSU7FNoAKTNLTaAExSUpNJRYAptLmmk0AJRRSGgBKaaXNIaACiiigD//T7eiiipAWjNJmjNADqKTNLQA6iiigB2KUU0GnUALThTQKeKAFAqO6uobK3a5mbCqP1qUcfrXjfjTxIbq5NhbN+7i4bHc1cI3Jk7HLeItZm1m/edjhBkKD0xXOEFQCe9OdsnB5zUQbJwa6UraGN9RpfIOeDTAN33hzTmK9znPakThMEnnpQA4rjHqRxUchfb755p+5SdufpTOuRnnFAFcqC3X8ahcd+lWMqBnj6VHIOqjnFQyiJRx16VGxB4NS4wDxxVfhiT0qWNER5phNSsD2qFqRQwnNRmnmoialjRraK2L9SfSu8ZhuyeeOlecac+y7Rs9678v0IH41vSehlPccWzkkVAWA+UjvxTS4PykVCW+bDGtGybDy7HJFMGOR19KQuuTjNMVwGyDx/OgqwxyV46g9qozZJPHXrnvWhIwYAYwQelZ85JOScjORioYIhBzj1wDn+lPAG045wOn86gVjye3Ax3x6U55QAxXgipKEYruBHHHeo3I4GeKrNNyB3qzGocc88Hmp3GVHzn1qPvxU0gIyR6ioaQG5pc22UfUV1UgAAPqDzXEWrfOvf9K7FZS6jcccdO1bQehEijdkoNwwcdK5e6kY/LnjOa2r+Q5yDgc5rlpZC5JqJsqKImNbnh+ESXm9uiKX/GsL+IV12jRbLaSXoW4HsB1qILUcnoXLmT5T7Hk9/rWMH+dlHX1Per07g5ReOg+vrWSx5PoDWkmSi1uwyiPnnk9qthyXIY7WJyTWemG2jrk1bztXsc9fWhAyV2DcLwT69BVXqdoHbvSu+QADnNRxEl8A7vftQBsWZ+faADkkZ9qbqUnzFVHNS2Y2jdxgc1kX0uGLY78VTegluYlw+5yap5zUsp5zUIrle5utixGCTgDJzj/P48V9JfD7wi+kWn2+8ULdXAB290T0+p71578L/DKatqZ1S8QG3s+RnvKeV/75HP1NfSqKFPFcOLq/8u0ejhaOnOySFSox6dKq3ku4iEHk8n6Vd3BFLGsc5eTfmuHodi1ZawBHiqoPzAtVhyAvJ6VmyM80ixw8/wBKGykrlx5GI2x81myxYOZK3Ug8qPaOTjrWTennbjmh+YIwLlfmEkYwFPStq3uXePai4FZUqkNk1Bcaj9nj2qcCqhU5dhNXJtQnMX33/AV5P4muIpiEhHzE8DvW5fahPcuUiBdj0Ap2maEvnfar4hm7L6VDk+a7NGtLIseGNHZYVlnGOO9dXIqINijAqFbkRjy14AqCW7U81m5NsErEM3FZs8ncU+e4BHJrLklpxREmJI2TzVKWNHGGANOaQMah3c1rFtGclcyLnSLabOFwa5m80aWIsUG4V3RYdaiYBuDzXRDESic88PFnlzRPGwDDG3rmos4wPfNeh3enRTAgrg+1ctdaTLCdy8gV3wrqSOGpQcdUY2d2T6mgnr+VKyFDg8betMHb862Oew/JP8qlVg4wagz/AJ96BxwKYExyDSk4600HdxTee9AC05RzxSACpol3MAOSePxoEe3/AAstQtveXeOrLGD9Bk16u1c/4U0v+x9DgtmAEjLvf/ePWt81EndmiGGmGnE001IDKKaaCaVgCm0UUWATNNJpabmgAzRRSGmAhpuaWkNIApKWkxQA2kNLSUAITSZooxQB/9TtgaWm0uakQtFFFAxaM0maWgB9FIDS0AKKfTBThRYBwpwpopwIHX35osBzXizVxpOluyn95L8qfWvnySUtIWc5yc5Ndf4811L7Uvs9u25IRj2z6ivPWcng10wVkZS1J3kUnI6j/wDX/Kq/mNjdj8Pc9BTCdw29zx/31z/Kgvxu+r/0FVcmwuXLhVPOdv5daQFnwoP32+X/AHR1pu4qGPdEx/wJqaxwG2/8skCj6tRcY/5icqeZDhfoOtN3ERlx/e8tf8aa2Yyef9VHgf7xoX5GjQ/8s1LNRcLBNI0jMXPCALxxyKYWZT5ZIzjJ9qTOUjQ8F2Lmo3fdG792bH4VLGL5jHHbjNR+YCOaezgF/ZQKYB90ei5P1qWUhm4EVGcU/Awv+1UJBI4qRiNzURpSSKaTSBD7c4nU+9d75oMS4PNcBGGLBlBOPau0srC/nVWjjZlPfFVCajuKUG3oLJIVYHnJOKaN7fMFJGe4rstI8Iz3jsZkKDGNxPArvLXwlp0EWyTMpJ6Hpn6VlUxcYuyOmnhJSPFxDccsEJ6ZHpStDcRqH25B/SvbW0i0iwiRjOfmA6Gs+bTLZsgAde3IrD6/5G31HzPIhFcNlCmQCOnOaoXEMiZyhBr1p9OiVdqoM5z71iXumE5KnmqWMTIlg2jy1nKnJzj1qlJMSSBXb3emXK/eUMOuDxxXN3mnhTu24B61qq6kYug4mHuy2a0reUYwelVXtuMjOfSmBXQ+tWpIzcGX5SCCRyM1XK8Ak0wyHHApA2Tn0q7k2aLkDfOoroVmIh5NcxGxz6VaN0VTFXCWhEkxb2cMMCsV25zUsspaq2azm9TSKJU+8DXZxEW9pHFjqMke5rk7OPzJlB6DrW7cTYOQauntcie5FLISCT0B4rPZ8Oc8+3alkk6LVXcOlKTGkaCPg4H3qsK+evJOTisuN/8APerIfAyOtCYNFkOcnnr6VJHngAVW5zhatxRybx1/nRzIag3sasRAiJrCvWdug6d66GGxu512RRsauDwlqM4BZQg96zq4iCW5rTw829jzdw3pU1paXF3OkEKFnc4AHfPSvTofBPH75wfpWtp3h1NMuVuoiN6HIJ7VxyxUVsdUcK76nqvg/RV8O6DBYSY8z70h9XY5NdOsyZJBFeVve6i5B8zAFVnvtQQ/6yvOlJybbPR5Ukkj1Ka+SRig/H2phlt0TO6vJjqV+hJBOT196hk1m+J5JpWYM9R897l/LjHHrWtbJHABg9ep715Vb+JvKQJggjvV7/hK/kHrVxQmz1CWdY1IJFc9c3CDLFutcMPEks7gKCTUhuJbjLSnNKZUUy9dXzOSqDPvWXLE85zO3HoKk3kcUx2zWRpsOjS3hH7pQKa8zAe1VnkxxUDy9s8U7XFcnNyc1C85xjNUnk55NQl+eaaiS2TSSEcVWZtwJpC+7ioGbBINUkQ2IW5qPc2aY7elMzV2M3InLetRkk1DuNKCcU7CbJ2OaidFYYIoB5zTwaa0E9dDAv8ASFlBdOCa5KeB4W2uMV6W3IrIv7JLhCAPmrro12tzmrUE9jhBzz70uasXFu8D7Gqtn0ruTurnA1Z2HA4p+c896gqSM80CsSrzXovgDw+NY1L7TOMwW21m9C3Yf1Nef28TySCKMbixwAO/p+dfUnhTRRoejRWzACVxvkPqx7fh2p7K40dGcdqjNONMJrJlCE1GTTjTTQA2kozRQAlIaU000AJmkpaSlYBDSGlNJRYBKSlpKAENGaKSiwCUlLSUWATijik+tLxQKx//1e0BpabmlBqbCH0UUUwClpKWkMWlFJS0AOpwpgp4pgOFcd411o6VphiiOJZ8hfYd67Ee9eCePtT+16u0KH5IRt/GrgrsmTscFK7sxLHOe9V+CQMYz1/H/wCtUgVn4Hr37VNBZXNycRI7nn7oJ74/lWsmkQk3sVeTyOvYe7f/AFqMAuF7FwPwTr+tdND4T1yc7ltZBls84H071aHgfXduPJ/hK/eHVu9R7WPc09jPscWrbyuf42Ln/dHSgHfsU9ZX3H6DpXXN4I15M5hHCbBhgfxrMuPDes27Lut3+WPaMDPNCqxfUHSkuhg7jImD1lk/QUkj7llkHdtlX/7Mv4jHvhcbF/unrVAwyxCJZVK/OWOeKfMu4nBroDEKzntGm0fU1CVwIkPcbj9KDuKHI++/NJI3zSP/AHRgUr3JsIDlR/ttSMchj+AoJwwH9wfrUeSdo/E0XGhxPJPoMCozwB7D9aXPH1NRtzk+/wClSyrDSamtreS6mWCNWZmOBiosbjhfXivcPAvh+OztRq1wB5h+5kZIz3rKrV5Ea0qXPIseHfAtjpcK3mqjzJm5CE/KgPQfWu0isGnw7/JGvRBgL+gzV1LZ7lhLJ0H+ela6W74wOgry51ZSPWjSjEqALENoAAFISxHCn0q6YVGcdf8APrUL8jG4msjS/YoygqTvVjjr0H8qzyYweSQPcYrSk4OSQPxxVR8rwOn4/wAzSuUUJDCc7T+nNUJEUrkID79a1xGW+7jPsKVocE4AJA4zxQFjlXs0c5IHHUVQksYXyQOPoDXYNEBjOMn05J/Cq7W7FucAdMe9WptEOCZxMmg20qndCPr61lz+G7R/uAp+PWvS/sZPy4zjoOmKje0AG58ewxxVKs0TKimeUP4ZTG6Nifr/APqqpL4emUfKf0r1V7YNyQQBUDWAbgCtFipGbwsTxyTR71D9zIrOls7leGRh9RivcG0wAcdapHSoujAua0WMa6GLwafU8Qa2cfeGKhNu9e3PoVu4+ZFA+nNVW8L2eOYxWqxi6mbwj6M8ptVaLcTRIXJ716cPCls3AQj8acvg61Jq/rkbGf1JtnlGyQ54zTltZGGQOfSvZIfCdlHyyZA9+tbEHh6wiAKRKCeeRnis5Y1LY1jgm9zxO20i8nwVQn8K6iz8I3cvLgIPevXINPSPhFC/hV+G1VfmPX1rCeOk9jeGCgtzz2z8FQJhrhix9hXTWvh+xtsBIhn1NdT5fHrU6Qrj61zTrzl1OiNKMdkZsNjGg4UD8Kl+zKxxjitNoxgU0oBWbLMo2xHaoGtx3FbB+aoHQ4obsCMiSFfuCqr264zitkoG6Co5IsL70XGc5JbgcHrVV7NeuK6Foh3FUZFxTUmDRz72oJ/xqAWa1uSIPSo0jycEVSkybFSBESQYGMVoqQc4qMxBW5py/JSbbGtAd8NtIqMyd6ZJJuOarluaaE2PZvWqzt6U5n5qs700TcRxgc1T3bs4qdm9ar8CrSJbAnbyetRyNubjvSsc9KiJp2IbGtTCaVmqMnPSqSJH/LinZFR8UZFOwiQHFLnio84ozzTsBNnjmmk5603dmigDJ1CyW4QkDkelcVKjRsVYYI7V6Q2T9K5nV7QHMyda66FS2jOSvTT1RzGaeMU3FSKORXacZ6f8N9HXUdXN5Mu6K2Xdz03np+VfQTVxHw7sFs/DcMxGGuf3vvg9P0rtTUy3KQhNMJpTTTUANJpppSaaTQAlJmjNFABTTS5ptABSGl70lADTTcU6koATNFFFKwCGkPpSmmk0wEzSZpabQAYpMUtHNIR//9bsxS0lGaQh+aWm06gAozRRSsMXNPplOzRYQtOFNpQaLAUtUvFsNOnum/5Zpmvnm003UPEWoMtsu4sSXY/dXPrXrXj+4kTSY7SHO+5kWMY681r6DpFvpGnx20YAbAZz3Ld81FbEeyjob0KHtJamDo3gLTLAiW+/0mT/AGuFH4V20VlaWkey3iWMeigCpwwHTpTGYE815M605bs9WFGMdkBIUZqo8mD1p0zlTz0qjLKORWTZqoiSS5PWqEjDvg1HJLz1qk82QcUXfQTRYkMe3tWZNbWcxw0ak+4FI0nXmoHlHXNXGcl1IcIvdGZc6FpchIaFcn04rBuPCNi24RlkGcgZrp3mIOD270hf0NbRxE11M5YeD6Hm194Wu4dzQsHB/A1z1xZ3UBbzYyOODXsUkmRxVKaOOQfMoNdMMY+qOeWDj0PHjxx/dHNRnjH0/Wu71HRbaQFo12n2rjJrVkmMeeT0rrhVUjknRcDS0DTH1HUIos4XOScdh1r6WsbfZGkcYwigAfhXn3gfw41vCLudcM+CB7V69aQANt7CvPxNTmlZHoYWnyxuyzBDtTPUnvVnCrwvWnD5m2ryB+QpzbFBP51ibtlVl55x7/57VWl2qecj0GOv0q0XAPyjk9qiJUH5s5/X+tJjM6SN2b5EKgdS2M/lUbw5GcZPvyP1q679sA47f/Xqu/I55PpSsNMo4Yp8/LHpjj9aXCIuSBn61OVjHIGTSSIW/h68jHYetFiiltaQlVYDPUgfp9amEQj4Tk/r+VSLGUADfh7VJglDjgHoaQEBCp8vUnrVWRFLDIyfStFUAUsRzUDRnBz/APrqGFzMeMhhu6elN2Enn5a0GiyMqPfPtSCLgnt/Oi4GcI9w+X8z3qRYBwWOWNXPLCcngelSICeB1pXGZxg+bC8kdaX7OCelaCx8ZHBqYJg0CuZgtQvQUrQqowo71qS7EAzVRcKPmNIEVxCCwGOFqzFHkZNIgOf96pkUgEe9CRVx+wdMc1IIxinBMjrU6qAc9qdhXGqny5NPjU/e7UHoAKkj9O1FiWxCMkHrRsAGSKeFA4BpWxjFUK5WKCo3TPSrC4702ROOKTQXKLpsIxUDYzV1uarMuaC0zNnyOlU9nrWlImW5qGSPAzU2Az3jFQ4CnBq04OKhb3qhFORstVdpOR71PIvSqr8HFUhDJfl4qAttHNSTZbk1WZvlqkiGKxXPNQuR0FJuBNMZucd6oREWqFqe3WomJpohiFgBUOeaUntUeeTVJCYjcdaTpSdTzQaolgWpO1IPal4HFMB2c0ueabnHSkzQIkHWg5xTRnrTiadgDPFUruPfGQRV3io5lypqouxnLVHnki7ZSvoavafZvfXsNnH96Vwv51WucC6k7816b8M9KW51Y3coyIF3fQnp+lelB6XZ57XvHu9pbR2VpFaRDCxIFH4VIaeajJqb6gMNNNKaaTSAQ02lNJQAlJmlptABikozSZoAM0UUhNACHjpSUZpM0ABooooASm0ppuaACmmnUmKBDaXNJRQB/9fs6KKKmwhQadmmA06mA6ikzS0AKKWkoBoAcKcKbSg0BY57WLJ7rULKVxmOFixHv2rZQEryeaZcZL05OteXip3lY9bCxtG5LgbRzUEzjHFTNjbxVViO/wDCM1ynWitMSyn1rJuJCqECr87Hkj8qw7l+o3ZPpU2C5l3N4Y8k9Ky/7QXJVmwanucYOTXP3EQYkjitFAzcjoFuVYY/XNRPL27VyDedCSYmP0PSpotWwdkw2H3q+QXOdE0h9c1EJcDBqolwjjKmmvKMUrDTLDyY4qFpeKqtISME1XeXimkFx1xKADVLQNMTU9ZDOMonWq13PhTXU+BVXLTt3Y1trGLaMZWlJI9egjSGNUQY4wK2YRtUDGT196yLbD5ft2rWDmNfl5Y4Fc0e51PRWLYbIAI+lQSOCcswUf561Gzv5eyD7x6n/GojBLgq7Fj3wK0MhhuELfIOvc8Uw5LcH5R1wcZ+lJIiogMqhD/tcn69aiEqf8s2zjpxx/8AXpFIdI4U7BjgdKhAbg9zyfXHrUwRiQpJJPU45+n0qeNFYlhgLjrRYVyGNRtLYxnseKmEYMeQO+acvJ46DjJ7mrDrhVHTNMaZm+WTkk9eKeqbsIvRalIB6dOc1LEPlZsdqQNld1GNi8dvxqMoBVjGW6dh+dNKhVLEfSpaC5SZTjZjmotrHGOg6VeWJiTmkaPqKXKNMqCMqM9TRjZ9T0rQC5qu6biWpWHcrqpPX1qXpnFKFKJ79aaoOcH1pWAqTZIy1Rom4A9s1PJGXl2npUqrtGPQ0rDIIh8/sOKtRLuPNKsfHvmrkadulNIVyEIAB71Iy96eUJKgdqeBwaqxNyLHFIFOcCpAMGpAu05NFguV3yOlBYDFObl+ajYfNxRYBjOM1EWO3OaWUYIqJuRtFABvGyoS4BwaYMjioJH7nrSKQ9hk5qGQ5+WlVyRmopGC9amxVyvJgVVYcZq3L8/SqzggY70xMpzHIwKz5G5q/IpXk1nTYOSKpENkMjHFVG6c08vzg1FnjmtEiGyMDDGnN70baUjNAETCqz5BxV1hxmqcpG7NNEsqscdKjzg80pNM69atENi5JFL1FN6UoPY1QDsUmKXmlxQAhHrR9acBxk0mc8CixIZGMU5cGmquetSADtVAOAx05qC7kWC2eV+AtXUQ9hXJ+IbsSn7HEfkX7xrWnC5jVlZHOw5mleVuhOTX0b8OLIQaGbxhhrhjz6qOlfPFpC00sdpF1dgv4k4r6502zXTtPgs0AHlIAa7nojhXcuk1ETTyajNQMaTSUE0maAG0maWmmgBabRSZoATNFBooAKaadTaAEpMUtIaACiikzQA2kpaSgApM0tNoEJRSZozQB//Q7OikzS0hBS5pKM0AOp1MzTs0AKKWkozQA8GlpooZto3GhjWpVYEytuPQ0R8nmoVYs5zxmpwNp/I/hXi1neTZ7VJWikLIdi4681Uc5798mrTncT2qnKn8IPOOazNTOuJSzfL19qypVLAgZrYaIkDaOTUJiB4xn1NIZzb2pI5XNZ8licHIrsHgHpVZ4ECkt3/ziqU2S0cRLp3G49KzZdN3qQcYruZbXPLcewqq1qm4sByOpPatFOxDgeetpd5bHdbuD7E08G5jH71CK7RrUHI/pWfNbnaSBwfWq57k8jWxzBn4/wAaglkK89K35bFSuWXNZM+nY5B21SsJ3ObvJyFPNdp4Rl2xKucZridQs7hBkr8vqK09Nvfsu3HAB69q2krxsYp2mfRllMrRIB36+1aBcMQTzg15Zo3iBMhWbvXf2dwLpgUII4NcrjY7FK50EAZzs6joT05qaS1VAWUls+5FQqxWTP51ZlmcLjBOPTBouQ12MplnV9uVJ9PUe3FBEqpvcEY9MHNJJKCMCN/q3/1qqSRM7DEr5HGPf9KLlD/NYgrtPPUk4z+NTqeB5hGem1emKppDs+dnBbOPX/61XPJ3MN3Mh6+gx1z2pgXIF3tv7DvQW3MzP0pp+WIJnLMeaYAWLUCsIFyqjoKsAcBegxTdn8R6YFSyfdUj8BQDIsArxnOaUr0yOKeq7eO46/WnsoGF70ySuqFcE/xUwRlm/wB7n8KtKp25PbFIVO6lYLkWz58dh1qMoGJ9Ktlc/jRt7+lDQ0yhIucYqsI2BI9K0Cp3hvSmFMP+FTYdyqsYzk0jRk8j1q3sycjpS7fmo5R3IMbDlqmX7ozSmMFcmgjjFCRLZKMZzUDnBOKXkUx1J5osMkBBGfSh3HJquxKuPQ09yKYxjkZ3UhYYFRO+BUHm881IExILc0hx070xsH5xTC3WkFiOTAOao3B71dbpVSRQRSKRSDn8KidufWrDYUdKquMc0gsSAhqVlAGardKk3lhhuKCinOwNULhVx8vetCReKqOoIwBVoloxjGS9K0VaBQDioZIzn2qrkWK2zNMk2hcjrUrMV4qjNJhqCR7His6c5PFTh/Wq8nXIqkQyvyKTrTqFHNaWJDmnLjqaCMCmjOKYh2RQOOtAFKRRYAPPSgDNKBxxTlXmnYQBeKnjQnpSquKfJKlrCZ5eAKuKuTJlLU71bC1Zs/vG+6K85llaaQux5NW9Sv2vbgsenas9eW9a7aUOU4Kk+Y7XwLpp1DxDboB8sR8xvoP/AK9fTx4ryj4WaUIrGfVX+9K3lqPQKf8AGvViatkIYTTDTiaYTUjGmkpTTc0AJmkpaaaACm5pc0hoAKKKTNArBmm5paSgBM0UUUAJmkopM0DCmmnU2gAzzTc07FJigQ3FGKM0ZoA//9HsaXNNzS0hDqKKKAFpaSjNAD6KQGloAWgjcD9KKZKSsbYqZuyKjuVgvr1B5qX1P0pkH3ctUhGCa8eWrPbjoiPDZJIqFk3E1e2H5i35VEyjd6CpsO5UK+npTBH8pxirJGCB1FIOAMDr1FKxRSki4znoP1qqYRzjt0rUkX5j71XJAGDSsBkTRbjnpjrVfygVyeg6ZrYZN2SPXmomiACjrn/OaQGM64U54NZjICc4yc/hW/LH8vPNVGgP3pBnnr7/AEppgzDktzkFqpSWwI3EYJ6CukeMdANw71XMS5BA5q1ITRyksCqcY59OorIn0ZJDuVdje1dw0CBmYDr0xS/Z1PGB9apVLEummeZNa31k25QWA7iut8O+KHtpgtwcD/PrW09kOcdB1PeqM2mQuOUDZ6VTqRe6IVO2x6taaraXkf7uQEn0qw9wqcMQfqK8P+zXVlIDYSsjeg6CtO38VX9ouy+h80f3kOT+VZ8vYvmtueqfaAScn8BxUgEMyjefzrirLXbC9IaCT5iMFG4Nbi3JOBuA+vWjVAnc2tkSlcYwOQOn51agyWLZyT+VYkU0QcsSpXAwOa0I5gQo6A00x2NEbd2W7c01uuF9Khjkztz16GnKTx/u/rVAWWyWx2xSO4VST17U4HKqSKrygls9j0osSW1B4x+NDHJJ9qijk3x+hPH401zgke1MGWw3BoY5BPsKgRtyD6Upb5R79aVySwuABmoWIzz60zfx9Ki3HIzTHYtMBwo9aaUGcmovM+UZp+cqKAHEcjFRbR1p+SKQ8LSAQ/cwaiYYYfSpewFMIzzQAjJjFR4w+DU7kHaBTAhLmgZUl65FHXr1qVh8tRSZC/LU2KKpb5jmq3BJqwRg5qo4IOaTKSLCkAYNNOR0FNG7FP8AmwKVgsREE1E4C9auEYXkVUdSSaRRSPJNVGBzzV5hg1CyZNIZUZSTmo2681YPWoic/LimIgI45qqzKMmrEh28VRdSTkU0JjSM/N2qKSQBeamJCrWTcScmqRDI5ZPmqnI+7nNRyPUO6tEjJsfkHpTGJqPOTxTic1SRDYClpq9aUmqAceRSbeKVfU1JiixIwCnFc0qpinfSnYBoX5akRadg4wKsRxk9KqwhUUKpZjgDua4LXtWN1MYIj8ifrWr4g1ZUH2K3PThiPWuGbk5rqpQ6s46tS7sg5NWreJpZFRBlmO0D3PSq6133gHSjqOvw7wfLh/eNx6cDP1NdSOc9/wBA09dK0a2sQACiDd7k9a0zUjY7dqiJrNvUoSmE0pNNNIAphpc000ABptOptACZooooATNJRRQAUlGaQ0CCkzS02gAoxRSZoAKSjNJmgAJpuaKKAEooooA//9LsKWm5pc0hDs0tNp1ABmlFJRmgB1KKbmnUALmorhtsZz3NS1WuT8gBqKvws0pL3kLEMKKshehJqtGTirKAEHHT3ryD2R7dfWoWUknNT7Cx+XimOh5+lOwkyBV46fSowpDFuuOPxq0AeT69KjUjlu3alYdyILwSarsuSQRznP59KuMQM+lVmRjweSaVguViMDkfeNRuME5HSrDrtB79hVd9gw2eBU2KIWjHrVNxk56VZZwDzzVV2GeelSMqykKvHOKhYADmpZDkZbnFVmz9KYERJXjvjrTC6r83Y9BTZXwSveoNx6Dn09qAJSy4wTVcyAnH3RUTHJPYCqxYEnBJHtT5Sbkk0qrlfXrWa7xMSSARSysmenTrURkJXOP0qkhXM6WAv86qQfpio01rVLDH7zcv91uanluMgrgnH61lyJJMfu/nWsHfcynpsdnp3jRAQLuPaD/EMV6Bp2pWt9AskDq4HXB5H1FeDfYpGPyjmtHTxqGnzC4tm2kdcfxUpwXQcZvqfQkM8ZbgckZFShgMr/dFcRoviC3v/wDRrr91MvOD/Q+ldMjndtJyQO3cVCZoazM2N2egpx+aMg+vFUkkOzAOakjkwMN7GrESLuTnqDSliTnr2oJ/hX6/hUbAhsrSAlRgAKViTkCoQQ2e39KiDOCTnikOxPv70gck1CGJUnHSkJwvWlcZbBOfbFP3AjAqqXymR1qNJCvU0XA0A+MVCZM8Hv0qIyDGRTHcZouKxcTJHNPYgiqKS44NSNIO1O4WJVGcEdqmB+aqkUgPAp6sC3BpgEgIzkVCPmGDVhzkYzVc/eHtSsA1k+YCqkkRLn0rUOCmag2k0MaZRKECnKMDmpzGelOVKmxRC/TFVWGORV6SMgZqnj5cUmikZ8nXmjZngU6RSXpRwOaLAU5I8darvkcitOVc8ms6bCikhXMqVietUZJMcVamcLmsWaT5jirSJbJJJ+OKy5XyaHl7VVds1aRnJjXOajzzS4NJirMmw+lOUelLinAZqhMFFOIz0pCKcAaLAO20vOeaQZp6jvTEJzmn4J6UY5qdFyaYhUjJIB4zWXrmppYQmCI/vG4OOwq/qF7Fp1sZGPzt90V5ZdXUl1M0rnOTmuilC7uznrVLaISRi2GJyTUXWpOqD60wCuzyOO5IgycV9F/DXSVstHa/YfvLk5H+6OleAafbvc3McCdZHCj8TivrmwtksbCGzjG1YkVcUS2BFk1GaeTUZNZlDSaSg00mgBDSGlpKBCUlGaTNAxKWkpaAG0maWkoEFJRmigAptOptABTc0uaSgAppp1NoASkzS0lABRRRQB//0+vpaSjNIQuadmm0ZoAfRSZpaAFpRTc0tAD6p3By6r7VbzVSUEyA1liPgZvh9ZochyKtxCq6ggc1ZTgACvJR61idjznrxTGPBIpcjO0U4KMEmrIIio6DtUY78cCpVJz9c1GflUnv1/CkURkDJPYdKgbO44PWpieOKhbPpSYFWQlj8w/wqNjj73A61NJuJGOlQyfKdo7cCpZSKDDPI7cn6VVcfLu6c8CtPbxjHI60xoQSMjk0h3MoRNkr14yajYDPzdK1GULgDrnJqBoRwcZJ4x7/AP1qQjMaAYLMOSOKgkQfwjPvW20ZwDnJ6VUeHB44oGYht+M9hx+NRNEVGF4rbeJd+Dx7VWkjA4xluwouBhPbqPvD8Kqyp8u3HJ6VuGJsE9W7k9PwqsICWycc9DT5hWMgWoIyRj/PapksUPBFbHkAEZ5pQoLdKbkCijL+yLnjgDrikeAMD046VsCHvjjFNK/L82M1N2VZHPta7RheDnOfet+w1q7tNqXYMijgMPvY9xSGEbeOtNNvtHOKdwsdlbahb3SbopAw7+o/Cr/mFcHrXmy27WzGaE7X9R3rUs9aliIjuV6dx0q0yGjvRJnBHFSeZxisaG7jkUOp4rQR81QkTEkZxTV6nI4pThgVcgmljyBtzk0D1GoxU4PepCgZSe9OIVue57VEweP6UWAiLsPl6cUmSBk1PhZBlutQt8oqQI3JHC9PWkSTI5PNO3AYB6elIY1Y5HFA7EcjkYx1qdXJGQM0nlHBB61EA65xxSGWVwuKl5ByKqqc43VPuGMc1QD/ADNxx0prvhgaruSDnrT96yLilcLF1WyAKlHHFZe4ocEmrSy/LzQFizhSMmgAZqKOTpxxU2cGmIjkGRiqhjwOav5XNUpzg9aLDTM6VMNuFQHOKuPis25k29DRYdxry4Xaay7iXg1JPL8u6sqScHOaLCbM64mweaypWzVm4fBrPcnrVpGcpETElqTHJpw5Oabu5q7GbYmO1N71ITkVGKdhCc1KAcUmB0pwPaiwhcZ6U7FKo70oHzU7CFAweaco5pQAanVeaYDI0yasTSQ2cJuJmwo/Wpo0WNTJIcKvJPtXnfiHV2vZTDEcRoelaU4uTMas1FGbq2pPf3BkzwDxWOKeaZ3rvUbLQ4W29yyg/dfjSdDipI+YyPSo14PNUSejfDvS/tuuxyuuUtlMh+uMCvotjXlfwssjHp9zeHrI+wH/AHeteomokNDSaYacTTCakYlMJpSaSgBM0lBpM0AFJQaKACkzRmkoAKSjNFACUUUUAJmkoooASkNLSUAFMzT6ZQAUlGRRQAlFFLQB/9TrgaWmU7NIQuaBRRQA6lzTc0ZosA+jNJmloAXNQShtytjjOKmzUTktIqA+p/OscR8DN8MvfQ9cn8OtTK3c1HGijqM09uRtFeWj1yXIA9aVZQV5quWwMVACxYgdMGgmxZLbePWmsffNRKd6/QcU9hwMUxDdy4PHsPrUapng9utT7cKcc46e9MAx96lYZFx949vWq0gzjHWrzKNm4+uearGM7TSaGQ/NjnnPpSEdcHOakwVPXHH6U1FpAVGGD069aXpyOp6etWtpJzjv+GKiOOWPXpRYZA8YA44/iqkwI+pFachG0Z6nrVTZyWbvSsFyrsXbuYZ9+9QGMkbR3549Kv7OB3pjxEISKVgMhxk4XpSCLI6YJq8ICTk8CnGLDc9hSsMzjHzz+FAQFsirvllzj0FNIAAUdT+lOwyAjaufTj60zyc8kVMAWbnhR0qdvlBzz9KLCuZsbq7siqSEPJ9celSrHvbmrYAOBjHrTwvzgD0osFzNki5wRxzmqs8AweOTWy68k44XrUDR7m57VSuFzGRJYWVo2I/Gugs9XXIWb5feqxg/eZIqA2+4bSON1UmQdnFdpJjawP4VaDhcPjiuJjM0Kq0TZHPy1uWuoArtlBHsaoR0Xyy/OnBpDyCHqjHKm75Tg+lXkZHGDzTAiEY65pzBOFYd6dtYDrUTbhw/NDGNeFQODURwvTkfqKnDsQOagfAYEcE9c1JRKuc7s8d6Qpg5J4pnOMCm7yvyMKQxW2HoaUqxXgiq7lc5U49qN7AZ7UAOyV+U9faod+05NMeUZ4PNVXlPNAy6Zc/epiTEHbms5p801J/my1AXOiSbC08Tjoay47lTwTUpcZoAvb+etQTse9VQ7KeaR5WAznNCFYjkkIGD1rLuWOOatSEkZ71RkbcPm5qgsUXbdwKzJwSeO1bEsXy7lNZm1snNUhMxZ1NVWHFakkZySazpBtBz2rRGLKbkr0qMsTT2JPaoc46VViGPyT0p/SogcU4HPWiwXJM0/knNMGAKkUUWESqamXGKaq81OiUAIig1ehizyegFJFDzmuc8Qa6lvG1jan5yPmYdqqMW9jOckij4j1tciytj8oPzEd64hwd3Pc1Gzsx3Mcmphygb0rvpwUUcE5NshakFOamdqsktw8qR7UsabnApLcjdg96vadELi9jg6b3Vc/UgU0Jn0/4WsksNAtYVABKBm+rcmtwmkijWGFIl6KoH5UhqHuVYaTTaUmmE1NgEJpDQaTNFgEo4opKLAFJmlptFgCkzRmigYUmaM0UWEFJmlptFgCkzS03NFgDNFFFFgCm4p1NoAbRRSZoAWikzRmgD/9Xq80uabmgUrCHU7NMzS5osA+jNJmjNMB1OzTM0uaAHCoHOJQPaphULf65Sa58R8DOjDfGi0vyClLelM5x+NN+6DmvOsercTvuPSlVcLvBxRwAD2NHUYPGOtFibkIK5xnFSg7eD2phz6U3dt6cZpDLAOAfQ9ajc4HPP0qMycbOeg/8Ar0Z4yP1oCxIWBXb1HemE45NNba2ATjFRMwL47/pSYCOQ5J/yKZhm6cZ6U/pweN1DEbc0WAjbntTSu7kdqcrFvam+Ztyo5pWGMl/vEYNQOd3OMVOcv949BTGUYxjPNFgIlBzu6D0pzJuOB0pzbYyA3PPNMbdk7e3WkMjKhOVqN8AcnmpclV5PUdO9VSwPz+vaiwriO3lqSOSeAKqEttzgk1Ox+Y47UhAwT0p2FcADgZ7dR/SkGZGOOgPNOZgCFB7Z/GmxthSMYJaiwXH4380F8KDioxIMAdDTZpAB+FOwrgZMqVzy1TKAcZ4qhuQD1zUofavJyRTsFy0wABbrzTCADnsRxUHnYPtnNS79/wAw6UrAPVMFc0yZQ3HfPWlBZhk9TjFMfd07jrVIGFreyRHbINyg10EF5G33TgVz+whQB61LsKYaPj2pgdVHLuBGc4pztgZ6j1rCiuyhAbgjvWhFdITkc0DuTPz0OKYzjGJOaYzq30qPcCcE/jU2Hcf8wcFGFPZiOG61WIB6fpQzMq4PNKwx7lc5xzUHm5yOlKHbGcVFINxyO9AyOUrj0qpubPNWChQ89KY2G6UARYycYxSPHtFPEhXhhmmyPkcUICMSBRUqT4OGqtuB4xTlODg07AX/ADh1zTRLzz0qAquMrVcsRxTGWJHbPFVXZXO3oasj5hjvTxCu4ZFCCxnFPmx2pjQhuFrZe3UgkCoBCFFUhNHPTwYU8VgTL8xrr7tf4a5q6iKmrTM5Iw5N3aogKuslV9nPFaIxkRYNOFS7cCkC85pk3JAM1YRMmiNM1fijA5NILjEjIwKvJCqjLnA9aqzXdtaDdK4AHbvXFav4mecmG2yF9auMGzKdRI2Nc8SRWyG2sjl+5FeaySPK5dzknrQ7tIxZjkmmV2wpqJxzm5CirEfIKioMVLG20irRDEYetRkcVPIMHFQt1piJ4CN4+tdZ4Os2vfEttFt3BX3sPZef51x8Wd1e6/C/SAouNYk+8WMa/hyaBnrjVETT2qI1mUITTM0pNNNAgptOzTM0AGaKKSgAzSUUmaACkzRmilYAoopKYBmkopM0AGaSlpKACkNLSGgAzTc0ZopWASm06mmmAHNJzSGk5pWA/9bp804GmZpQaBD80uaZTgaAHZopKM0APBpc02nUALUEzbXQjuamFV7gcKf7pFZV1eDsbYd2mi7A6yZGfrUki/Ju9axopmjbk9yKu+duUHPArzEes0IWx+FMMgyPpzUTyY+Zjj/Cqhlw3PTFDA1dymqrMF+7xxUO885PWmGQnkknFQ2NIsb8H/OaXzAyccmqAcnLZp8b9WB4oGWZHCg7jTQ4wB2xVSaQH5T19e1VxMdpXueBSEX/ADucL1qMynOO9Z5lwQPQ0iynrnmgLGmGOcnpS7gFzjB61n+aXbjtT/ML8d6YieTLICrYGaPMOMA4NVTOSMZqB5MHJ9KAJpJSw460gmO4jdwOtUDKR14pNw78cfnRYRdkmHzOeMjpVcy7ELn86geTBz0pu7cuw9KaGAlaTaVP3hUu4huD7VGsXljIOB/SoXkycCgRK0iscjr61KZfzxVNh6cCjDHDZwKYrkxPAJPNQ+YzHB6UmxvXr0pdhXB/z+FCExQ4DYH/AOqmbm3ECpFQ4Pv1qaOAYz3qgsMiUsuD3q+se3qOnX8elLFGoIJ4x0qxy3y45qSiEKRn8hUiRBuv0PuabJ+7I756D196fGrMCR2/zxSAQrlwq8jOfwqfaAc+o4pwUIu1Rye/oKhkfYpI5btTAawXBYYyegqsC0ZO316VIuTk9zUjFNhBpXJuAvACdwxVpbpSOuRWS+wptJ5qkzGNsqatC5jplfaQeKGlXp0965pdRKtsYfjVxbyJlyWz7UcpXMbOVA6flULZ61REwwMN1p4nO3aamxfMStISMNVfcF4zzTfNVj81NfbtyKVguJJIw6moHcY60wndTTGMcU7CuMMhXoaetwD1qq6qDzVNsAd6qwuY2Vl54NP89CMHiufE7xn1pftTHrTsLnOhFwg6mr0MyOQQcmuN+0EnINTwXjIeDijlKU0d4BuWqroQKzLbV4m4bitH7RFKPlOalGiaZmzgHPrXPXa8k9q6C5IU5rmb2TL4HSritRSM58GowtOYCo2kSMEscVskc03YGUHgVIqKvLGsO71i3gGFOTXO3Wt3EowjYrSNNs5pVUjt7nUrS1T52Ga5678UORttQVrkHkdzlySaZito0V1OeVZstXF5PcvukYmq200Cl5reMUjJu+4mKdiilGKZIClHBpelIOetOwEz/MgPfoarnrViP5lZfbP41BjNIB8X3hX1V4Ogjt/DVn5YHzoHP1bk18rRj5hX1Z4SIPhmwI/54rTew1ub5qM08moyazKGE0lKabQITNJRmigAptLmkoATNGDRRQAlFFFABSUtNxQAmaKKKAEzRRRQAUlGc9KSgBKTNLSdOtABTTTqaaAG4oxS0UAf/9fowaUGogaXNAifNGaiDU4GgCWlzUeaXNADwacDUdOFAEgNNZQy4NFOFJq6aGnZpownbazKeSpOacZGQBfWppoh5xwPvcmmyBf4u3y15M4csrHt0580bkBm/h/H8KhkcBvXmmOwWQgfX8KoSz5bj/OKllGmJdy4z070hmIzg1lLcBVC59MU4y9NpzUtCuXBNtXGacJ1xhTnvWS74O7NRibnPbt9KLEtmsZiRuOMYqHzM5APXvWebhSMDOKi87I4p2C5pJkADPT1qfcuMVQhLN17DmrCOo7nHrSGW1IBI7UwbmJ2nA9aapGD6HpUgJ4xz7UDFKELk9c8VAynHPfpUpk3Mc96Xj+I8UAUyN3OM00REc9quKF6nimZyQMUxEKxYzmniPHIBNTqFHbPvSs7ZwuMUAV5VJwBimiJRyetT5YDkg/hzTcqrcn86AIzCNmTjNG1SOBnFSAl2wOlNZ/LX5RyaYiuxAOKQI7c447UKrYO7k+lTordcfnwKAHxKFIz1Pap1VySC2PSkjXqw5pRhW3Mc0hEmyTO1B+NSAlRu6tTTMMcDFV2JHU4z+VMLkqkKSxOSamVwOTxjooqgGAP9aJLlYhgYFArl+SVVAxxms6SVWOWNUJL8DOTkis9r7ecU7MnmNsXSglRSvcrjmufN3GoPNUZL/b0OapQJcjbmvhnFUJroHvWFLfjO6sW71q3izlvwFaxpGcqp1Ml4OpNZc+o7CWDY+lcVda9I/EK8eprGlubic5lcmuiNDuYSr9j0EeLTabgX3+3erlr44gc4lUrXlYWnqnoK0dCJCxEke1R+JtPl5WUD68Vc/tNHX5ZBj1zXhfK8jini5uEGFcgemazeFXRmixT6nt32wH+PFRG8YHhs142uoXijAkNWF1a+H/LQ1P1Zj+srsetm7fOS+frTTdcY4Jryv8AtS9K58w0p1a+xxIaawzH9ZPT2uA3J4pGnhAzuryw6nesMFzUb394wwZDR9XYvrCPSpLiMnO7FVHv0jXlh+dedtc3DdXNRM7t95iatYfuT9Y8jvv7biTq+aVfE6RfdY159zR9ar6uifrEj0n/AITBSuGJNZ8/iWN+VHNcPilwM01hkhPEyZ0s2vzOMKKxpdQuJTyxqoRikwMVpGkkZSqN7iMSxyabT9vFJtq7EXEAp1KBRiiwhMUvFOpooAXNA64p2KOnNACUmaWmEmmBLGSrZzRIu18VGpqyy71VhSAjjGCCa+rPCsXkeG7CM9oUz+VfLkMPnzpAvWRgn5mvrizhW3soYFGAiKuPpRJjROaiJp5qMmoGIabmlNNzQAUUUUANpM0tNzQAZozRRQAUUUmaADNNzRmigApM0ZooAKKKTNACUmaWkoATNFBooAKZT6bigBKKTNGaAsf/0NwUoNRZpwakSSZpwNRA04GgCbNGajyKM0xk2acDUQNKDQBMDTs1CDT80AMeM+cJc8EYx71nyjg7uMk/hWow3L71nXDfIWC59a4cTHW56WFneKRz8kmHYSZLHgGs+WTA9Ks3T4Ysep6VlXDjcwfBz6VzWOlskaVQSBg+lRrcNuOOKx5ZzGD656iqr3LZGCTWihczcjoHuAR+NVnnYEj1rJ+0ljzxUjyblwG69KXIJyNITHp2HWrEL5OVFYoduM/pWnBMqrg1Nh8xtKeBnj6VOCAc45rKFwoqdJWZueM9DUtF8xpLK+Mkf/WpPOBPXOBVR5UIxnA+uM01WQHuM0rDuaIdcZFOyMbm4qmZUPQ4pPugMDxRYLloyqw5NL5gLcdKrh1xwaRZRRYVy1lgcOcZ6AU7oMVXBHUDHvUquvfmkFx5Y8AHmq8nbjJokuFxwcYqFrpcYHNNILlvzFRflqu8gAwTzVRrhjweKg35PPX1p8pLZeWXHQ5PrUwmbpn5azldVGB1pPtATrTsFzW8zHIOBUHngHk1lNdknmqb3eDx+tUokuR0D3WT/jVeW6AGC1c896cZJqhJdsScVSgS5nQPf9lNU2vASWbP51z0l0cHcay5tWt4hhm59K0jSuZyqHVS3qN0+U1Se8C5INcRNrjtxCv51lS3dzOfnc/QcVtGj3MXWO2udZt4x8zj6CsK41524hUgeprn9nOe9OCd61VJIylUbJ5b26uPvuceg4qrtJOT1qcR0uw4rZRSMuZkATv3qQLUoQ1OkWevFUkJsrhM9KmERq4sOTUxjwNoqrC5jHkXA4qDFXrhfm44qkahoaY2nikpyikFyaMZqUpkUkS1b21aQm7FJkxUTLitEx7+vGKpyKc0NAncixS7Tx9KVeM5qUDI3UrBcgK4pduP8alKcdqCp247UBcj28Uu3nmpMUpHemBGV9KMVLwFFJjigCLHHFGBnipcfgabt7UrANoIwaeRxmkHBGaLAM69KMelSEU3p8oosAZzSU6jFICM009eakPaozQAlWoTlCvoKqGrFqcybD3oQHY+BtP/ALQ8RW4YZSL943pgV9MNXlfwv0ryrWbVJF+aRtiMe6jgn869TY0pDRGTUZp5qM1IxKSg0UAFJmjNNzQAZpppc0lAC0UUmaADNJSZoJoADSZozRQAYoopM0ALTaXNIaAEzRQaTNABRRRQAmabmlpKAE4o4oyKMigD/9HTBp4qIdaeKi5Nh4Jp4ao6UVQElLmmbqAaAJgaUGo80oNAyUGnA1EDTgaBEwNUL2N1QvEMjuo/nVwGnA1E4KS1NadRwfMjg7iVCCSfp7Vzl3KQSa9LvtGtbv5lJif1UcGuSvfB2oyH9xcxkf7QI/rXOsO0d31iMjgZbsZZSfwqp9q5yD09Oa7qL4dXMr7r28VQeoiU5/MnH6V1Fn4H0C15eMzt6ysWH5cCtFRMJVUeP/agQDkEnt6fnip1um7HNe42+gaZAPkgQYGAABxVg6VZk8xpj6Cq9iiPbnhqXPHXFWVuiO3+fzr2n+x9NPWBPyqpP4a0ec/NboDnOQMGpdDzKVc8rW73D3q1Hdvjnmu5l8F6W/MYKH2Y1SfwOgGYrhh9QKzeHZoq6Oc8/fgA8+9Tedx1q+/g/Uo/9XIrfXiqL6HrEP3oc/7pB/qKh0ZLoWqqfUkScE8HFSeaScjnFUTYaov/AC7ycdeKZjUIeHtpB+FT7J9ilUXc1PNPQ9fSgS46HFYU892vzCJh7lTVFrmfOX3L+Bo9k+we0R07XaL1OTVY3rn7vFYX2jAO4Z9+R/MUgu17ml7Nh7Q2hIT98k0/zgKwReZPXFBvFAp8gc5ttP74pPMGMk81hPf5Gc5qmdQUDlv1qvZslzR0T3AHf8qqtd+9c3LqkIGC4FZ76vF/BlqpUmQ6h1T3hPSqr3QAO9q5KXVpD9xazpby6l4LEfSto0GZOqdZcalDFku4+lYk+uM3ECk+54FYnlknJOTThCTzWqopGTqtj5ry6nPzuceg4qtsPU9fWrawmpfJ6nt2rVQsZ8xR2eoqRY8nFXVi9RU8cXHI9/wqlElyKXlHFSLESKuvHxUePmGBxVcpPMVvLJIHTmn+WeARVoLwCOacYwCOKOULlREPXFXUh38jpUiR4jLZyAenerEEZ6r0NUoktjY4TtP5/UUjjGMdquqCF7cdKqzA4LAdOoqmrCuYlwMc9T6VRNaFz13dDVAisZGqExT1FMp6mpSGTxZzkVoRKGOM1QjPzVowkdK0iRIeye2cVmzqV+Zq3Nu7pxWbdjI+tOSJizM78U4MaQ9Tigdag0JT29qcvpTN1PPtQAuMoWPFIKMsR60UAAXnrikz3PFPGD1owD1oEJjjFJg5/X8KeOenrTtvFFguR7aawyaccg5NHfFAEfUc03HepSOMenWmnoBQA3jvS/SkHTBo4xSsMD0qJhj3qbGRUTe1FgI+c09GKncvUUwj0qReopDPrnQEgXRLT7MAEMKkY6cjn9a0WNcl4AuRceFrVe8W6Pn/AGTjmutape4yM0w04mmE0gGmjNFNJoAM0UmaM0AFFIaM0AGaSikzQAUUUmaACiiigAptLmkNAC02ijigBM0UUUAFJmjNJQAUlGaKAEooo4oA/9LQpRSUoqBD80UUUwHUoooFAhwNLmmilpgPFPFMFOFAx+acDTKcKAJAe1OU46UwU4UDaHZp/NR1JTJQZ9KXNNpaBjsmnUyn0ALmjOetJQKAHZpQabSik2CHHB7D8qXapPIH5Ckpwp3LsIYo2+8qn6gVH9jtD1iT8hU4pwouTdlX+y9Pfh4VI9CM/wA68H8d7bbXZYbZRGiquFHTpmvoda+d/iF/yMM/+6v/AKDVxigcmcC9zP8A3yKaLq4bguaiamrVcqC7LEjyFBljyKzJGcnljWg/+rX6VnSdalxQlJkRq5CARzVM1cgoigky2I1yKURLmnL1FPHWtEiLjfKXjineWM4p3pTh96mIYEAGalVA2B74pP4akj6j60CuNEahfxqePG3pimH7v406P7tUhNiTALgVXwUbZnOO9WbjqKgf/WmhiQ/gAEDpUmeVB74pn8NO/iX8KAHpwwHY1di+VSw7GqS/fFXE/wBW31qkJkmQMgDgNVCXuffFXj/F9aoy9D9aJCRkTfdyOKpnrVyX7tUz1rCRuhKVaSlWkMnWtKHnisxa04OtXEiRdJzwOKq3OSuc1ZNVrj7laPYzjuY7DkimD1p7feNMHSsTYdTwajFSCgB46ccUUDpS0APB4BpoNKOgpBQIeOmKcf6Zpgpx/pTJEbkA+tNQc4NOPRaRetAxD6UxgM089aa3WkwI6VRkUUqdKCg7Co34qTsKjegCM05PvimmnJ98VIHvPwruHk068t2+6koYf8CHP8q9PY15T8KP+Pa//wB9f5V6s1KW5SIjTCaeaYakBM0zNOptABRRRQAlJRRQAmaTNLSUAGaKKKAEpaTtS0AJim0+mUAJmiiigQUhpaQ0DEooooASkzS0lACUUtFAj//Z"/>
          <p:cNvPicPr/>
          <p:nvPr/>
        </p:nvPicPr>
        <p:blipFill>
          <a:blip r:embed="rId7"/>
          <a:srcRect l="4081" t="0" r="5422" b="0"/>
          <a:stretch/>
        </p:blipFill>
        <p:spPr>
          <a:xfrm>
            <a:off x="2931840" y="3861000"/>
            <a:ext cx="1323720" cy="16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Arrow Connector 81"/>
          <p:cNvCxnSpPr/>
          <p:nvPr/>
        </p:nvCxnSpPr>
        <p:spPr>
          <a:xfrm>
            <a:off x="1861200" y="3319560"/>
            <a:ext cx="3600" cy="43848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80" name="Straight Arrow Connector 9"/>
          <p:cNvCxnSpPr/>
          <p:nvPr/>
        </p:nvCxnSpPr>
        <p:spPr>
          <a:xfrm flipH="1">
            <a:off x="6696720" y="2737800"/>
            <a:ext cx="6480" cy="99000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pic>
        <p:nvPicPr>
          <p:cNvPr id="81" name="Picture 19" descr="A black and white background with white text&#10;&#10;Description automatically generated"/>
          <p:cNvPicPr/>
          <p:nvPr/>
        </p:nvPicPr>
        <p:blipFill>
          <a:blip r:embed="rId1"/>
          <a:srcRect l="0" t="6712" r="52964" b="12972"/>
          <a:stretch/>
        </p:blipFill>
        <p:spPr>
          <a:xfrm>
            <a:off x="4916520" y="2219760"/>
            <a:ext cx="4098600" cy="51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Arrow: Right 80"/>
          <p:cNvSpPr/>
          <p:nvPr/>
        </p:nvSpPr>
        <p:spPr>
          <a:xfrm>
            <a:off x="1082520" y="3710520"/>
            <a:ext cx="11464560" cy="282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63A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" name="Flowchart: Connector 83"/>
          <p:cNvSpPr/>
          <p:nvPr/>
        </p:nvSpPr>
        <p:spPr>
          <a:xfrm>
            <a:off x="1714680" y="3698280"/>
            <a:ext cx="311040" cy="306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4" name="Flowchart: Connector 3"/>
          <p:cNvSpPr/>
          <p:nvPr/>
        </p:nvSpPr>
        <p:spPr>
          <a:xfrm>
            <a:off x="3247560" y="3698280"/>
            <a:ext cx="311040" cy="306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7032240" y="3455640"/>
            <a:ext cx="3176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Since then every 2h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lowchart: Connector 8"/>
          <p:cNvSpPr/>
          <p:nvPr/>
        </p:nvSpPr>
        <p:spPr>
          <a:xfrm>
            <a:off x="6544800" y="3722040"/>
            <a:ext cx="311040" cy="30600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4903560" y="2395080"/>
            <a:ext cx="38948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Aptos"/>
              </a:rPr>
              <a:t>$ countrymonitor/scan.sh UA 8000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Straight Arrow Connector 23"/>
          <p:cNvCxnSpPr/>
          <p:nvPr/>
        </p:nvCxnSpPr>
        <p:spPr>
          <a:xfrm flipH="1">
            <a:off x="3398760" y="4023720"/>
            <a:ext cx="6480" cy="98964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sp>
        <p:nvSpPr>
          <p:cNvPr id="89" name="TextBox 27"/>
          <p:cNvSpPr/>
          <p:nvPr/>
        </p:nvSpPr>
        <p:spPr>
          <a:xfrm>
            <a:off x="3902400" y="3226680"/>
            <a:ext cx="272268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FEBRUARY2022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8"/>
          <p:cNvSpPr/>
          <p:nvPr/>
        </p:nvSpPr>
        <p:spPr>
          <a:xfrm>
            <a:off x="9516600" y="3254400"/>
            <a:ext cx="28688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FEBRUARY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2025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4014000" y="1716120"/>
            <a:ext cx="6027480" cy="4082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Assumption: Internet-connected devices serve as sensors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Content Placeholder 11" descr="A black and white sign with white text&#10;&#10;AI-generated content may be incorrect."/>
          <p:cNvPicPr/>
          <p:nvPr/>
        </p:nvPicPr>
        <p:blipFill>
          <a:blip r:embed="rId2"/>
          <a:stretch/>
        </p:blipFill>
        <p:spPr>
          <a:xfrm>
            <a:off x="654840" y="1554480"/>
            <a:ext cx="2679120" cy="187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14" descr="A black text on a white background&#10;&#10;AI-generated content may be incorrect."/>
          <p:cNvPicPr/>
          <p:nvPr/>
        </p:nvPicPr>
        <p:blipFill>
          <a:blip r:embed="rId3"/>
          <a:stretch/>
        </p:blipFill>
        <p:spPr>
          <a:xfrm>
            <a:off x="1128240" y="4820040"/>
            <a:ext cx="4771800" cy="153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16"/>
          <p:cNvSpPr/>
          <p:nvPr/>
        </p:nvSpPr>
        <p:spPr>
          <a:xfrm>
            <a:off x="1458720" y="3886560"/>
            <a:ext cx="2722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02-23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7"/>
          <p:cNvSpPr/>
          <p:nvPr/>
        </p:nvSpPr>
        <p:spPr>
          <a:xfrm>
            <a:off x="2991240" y="3362760"/>
            <a:ext cx="913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02-24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8"/>
          <p:cNvSpPr/>
          <p:nvPr/>
        </p:nvSpPr>
        <p:spPr>
          <a:xfrm>
            <a:off x="6273360" y="3933360"/>
            <a:ext cx="9136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02-03 10:00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0"/>
          <p:cNvSpPr/>
          <p:nvPr/>
        </p:nvSpPr>
        <p:spPr>
          <a:xfrm>
            <a:off x="655560" y="3452760"/>
            <a:ext cx="27878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[Guardian]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2507400" y="6355800"/>
            <a:ext cx="27878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[New York Times]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63A6"/>
                </a:solidFill>
                <a:effectLst/>
                <a:uFillTx/>
                <a:latin typeface="Arial"/>
              </a:rPr>
              <a:t>Motivation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3ED72E-80BB-4060-B078-E85ADBF1A0F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lowchart: Connector 27"/>
          <p:cNvSpPr/>
          <p:nvPr/>
        </p:nvSpPr>
        <p:spPr>
          <a:xfrm>
            <a:off x="10028880" y="3134520"/>
            <a:ext cx="91440" cy="914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800" rIns="90000" bIns="198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63A6"/>
                </a:solidFill>
                <a:effectLst/>
                <a:uFillTx/>
                <a:latin typeface="Arial"/>
              </a:rPr>
              <a:t>From Austria to Ukraine and back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02" name="Content Placeholder 36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62600" y="1590480"/>
            <a:ext cx="9466560" cy="48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1"/>
          <p:cNvSpPr/>
          <p:nvPr/>
        </p:nvSpPr>
        <p:spPr>
          <a:xfrm>
            <a:off x="6985080" y="4683240"/>
            <a:ext cx="4016160" cy="102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🖥️ 10.5 Million Requests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📦 8,000 Packets per Second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⏰ 22 Minutes Scan Duration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837000" y="1792800"/>
            <a:ext cx="4267800" cy="714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🖥️ </a:t>
            </a:r>
            <a:r>
              <a:rPr lang="de" sz="1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⌀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1.5 Mio Responses every 2h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🗣️ 1 Opt-Out Notification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2028600" y="5605920"/>
            <a:ext cx="3675600" cy="8798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EE493D9-4366-42AE-887B-8780B1EE737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343960" cy="133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63A6"/>
                </a:solidFill>
                <a:effectLst/>
                <a:uFillTx/>
                <a:latin typeface="Arial"/>
              </a:rPr>
              <a:t>From Ping to Outage Signal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cxnSp>
        <p:nvCxnSpPr>
          <p:cNvPr id="107" name="Straight Arrow Connector 2"/>
          <p:cNvCxnSpPr/>
          <p:nvPr/>
        </p:nvCxnSpPr>
        <p:spPr>
          <a:xfrm flipV="1">
            <a:off x="5967720" y="3806280"/>
            <a:ext cx="1338480" cy="3240"/>
          </a:xfrm>
          <a:prstGeom prst="straightConnector1">
            <a:avLst/>
          </a:prstGeom>
          <a:ln w="28575">
            <a:solidFill>
              <a:srgbClr val="156082"/>
            </a:solidFill>
            <a:tailEnd len="med" type="triangle" w="med"/>
          </a:ln>
        </p:spPr>
      </p:cxnSp>
      <p:graphicFrame>
        <p:nvGraphicFramePr>
          <p:cNvPr id="108" name="Content Placeholder 14"/>
          <p:cNvGraphicFramePr/>
          <p:nvPr/>
        </p:nvGraphicFramePr>
        <p:xfrm>
          <a:off x="7307280" y="2885760"/>
          <a:ext cx="4570560" cy="2292120"/>
        </p:xfrm>
        <a:graphic>
          <a:graphicData uri="http://schemas.openxmlformats.org/drawingml/2006/table">
            <a:tbl>
              <a:tblPr/>
              <a:tblGrid>
                <a:gridCol w="2274120"/>
                <a:gridCol w="1709280"/>
                <a:gridCol w="5871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onsolas"/>
                        </a:rPr>
                        <a:t>Timestamp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onsolas"/>
                        </a:rPr>
                        <a:t>/24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onsolas"/>
                        </a:rPr>
                        <a:t>2022-03-02 10:00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✅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12:00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❌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14:00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✅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Content Placeholder 14"/>
          <p:cNvGraphicFramePr/>
          <p:nvPr/>
        </p:nvGraphicFramePr>
        <p:xfrm>
          <a:off x="234000" y="2195640"/>
          <a:ext cx="6383520" cy="4853880"/>
        </p:xfrm>
        <a:graphic>
          <a:graphicData uri="http://schemas.openxmlformats.org/drawingml/2006/table">
            <a:tbl>
              <a:tblPr/>
              <a:tblGrid>
                <a:gridCol w="2216160"/>
                <a:gridCol w="2186640"/>
                <a:gridCol w="198072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onsolas"/>
                        </a:rPr>
                        <a:t>Timestamp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onsolas"/>
                        </a:rPr>
                        <a:t>IP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onsolas"/>
                        </a:rPr>
                        <a:t>/24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onsolas"/>
                        </a:rPr>
                        <a:t>2022-03-02 10:00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onsolas"/>
                        </a:rPr>
                        <a:t>193.151.240.1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10:00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193.151.240.112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10:00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193.151.240.13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10:00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193.151.240.15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14:00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193.151.240.1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14:00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193.151.240.112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14:00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193.151.240.15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10" name="Content Placeholder 1" descr="Cloud outline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695520" y="4544280"/>
            <a:ext cx="1280880" cy="148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Content Placeholder 1" descr="Cloud outline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941240" y="4542120"/>
            <a:ext cx="1280880" cy="14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15"/>
          <p:cNvSpPr/>
          <p:nvPr/>
        </p:nvSpPr>
        <p:spPr>
          <a:xfrm>
            <a:off x="10002960" y="5270400"/>
            <a:ext cx="661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Org.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8"/>
          <p:cNvSpPr/>
          <p:nvPr/>
        </p:nvSpPr>
        <p:spPr>
          <a:xfrm>
            <a:off x="8121960" y="5270760"/>
            <a:ext cx="925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Region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Straight Arrow Connector 22"/>
          <p:cNvCxnSpPr/>
          <p:nvPr/>
        </p:nvCxnSpPr>
        <p:spPr>
          <a:xfrm flipH="1">
            <a:off x="9055440" y="4367520"/>
            <a:ext cx="665280" cy="643320"/>
          </a:xfrm>
          <a:prstGeom prst="straightConnector1">
            <a:avLst/>
          </a:prstGeom>
          <a:ln w="28575">
            <a:solidFill>
              <a:srgbClr val="156082"/>
            </a:solidFill>
            <a:tailEnd len="med" type="triangle" w="med"/>
          </a:ln>
        </p:spPr>
      </p:cxnSp>
      <p:cxnSp>
        <p:nvCxnSpPr>
          <p:cNvPr id="115" name="Straight Arrow Connector 23"/>
          <p:cNvCxnSpPr/>
          <p:nvPr/>
        </p:nvCxnSpPr>
        <p:spPr>
          <a:xfrm>
            <a:off x="9737640" y="4367520"/>
            <a:ext cx="389160" cy="498600"/>
          </a:xfrm>
          <a:prstGeom prst="straightConnector1">
            <a:avLst/>
          </a:prstGeom>
          <a:ln w="28575">
            <a:solidFill>
              <a:srgbClr val="156082"/>
            </a:solidFill>
            <a:tailEnd len="med" type="triangle" w="med"/>
          </a:ln>
        </p:spPr>
      </p:cxnSp>
      <p:pic>
        <p:nvPicPr>
          <p:cNvPr id="116" name="Picture 25" descr="RouteViews"/>
          <p:cNvPicPr/>
          <p:nvPr/>
        </p:nvPicPr>
        <p:blipFill>
          <a:blip r:embed="rId5"/>
          <a:stretch/>
        </p:blipFill>
        <p:spPr>
          <a:xfrm>
            <a:off x="9859320" y="5720760"/>
            <a:ext cx="948960" cy="86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27" descr="Trusted IP Data Provider, from IPv6 to IPv4 - IPinfo.io"/>
          <p:cNvPicPr/>
          <p:nvPr/>
        </p:nvPicPr>
        <p:blipFill>
          <a:blip r:embed="rId6"/>
          <a:stretch/>
        </p:blipFill>
        <p:spPr>
          <a:xfrm>
            <a:off x="7681680" y="5853600"/>
            <a:ext cx="1803600" cy="58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ectangle 1"/>
          <p:cNvSpPr/>
          <p:nvPr/>
        </p:nvSpPr>
        <p:spPr>
          <a:xfrm>
            <a:off x="236880" y="2553840"/>
            <a:ext cx="2169000" cy="145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9" name="Rectangle 4"/>
          <p:cNvSpPr/>
          <p:nvPr/>
        </p:nvSpPr>
        <p:spPr>
          <a:xfrm>
            <a:off x="236880" y="4078440"/>
            <a:ext cx="2169000" cy="108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1411560" y="1523160"/>
            <a:ext cx="3653640" cy="57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1. IPs  to /24 blocks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2"/>
          <p:cNvSpPr/>
          <p:nvPr/>
        </p:nvSpPr>
        <p:spPr>
          <a:xfrm>
            <a:off x="7941240" y="1659600"/>
            <a:ext cx="3653640" cy="1055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4472C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Block attribution</a:t>
            </a:r>
            <a:br>
              <a:rPr sz="2800"/>
            </a:b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with external datasets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BE8C39C-5013-44A9-BC58-4A09CC0B645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raphic 1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94160" y="691920"/>
            <a:ext cx="2548440" cy="350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raphic 8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24120" y="691920"/>
            <a:ext cx="2548440" cy="35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8"/>
          <p:cNvSpPr/>
          <p:nvPr/>
        </p:nvSpPr>
        <p:spPr>
          <a:xfrm>
            <a:off x="4115520" y="4955400"/>
            <a:ext cx="2984400" cy="52272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🟢 Active /24s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Content Placeholder 1" descr="Cloud outline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182400" y="1406880"/>
            <a:ext cx="1985040" cy="202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Box 29"/>
          <p:cNvSpPr/>
          <p:nvPr/>
        </p:nvSpPr>
        <p:spPr>
          <a:xfrm>
            <a:off x="3404160" y="2468160"/>
            <a:ext cx="1595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/24 Block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Content Placeholder 1" descr="Cloud outline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2584080" y="2520000"/>
            <a:ext cx="1985040" cy="202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33"/>
          <p:cNvSpPr/>
          <p:nvPr/>
        </p:nvSpPr>
        <p:spPr>
          <a:xfrm>
            <a:off x="2804760" y="3567600"/>
            <a:ext cx="1595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/24 Block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35"/>
          <p:cNvSpPr/>
          <p:nvPr/>
        </p:nvSpPr>
        <p:spPr>
          <a:xfrm>
            <a:off x="2358000" y="1684440"/>
            <a:ext cx="226080" cy="20556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0" name="Rectangle 37"/>
          <p:cNvSpPr/>
          <p:nvPr/>
        </p:nvSpPr>
        <p:spPr>
          <a:xfrm>
            <a:off x="1916280" y="2372760"/>
            <a:ext cx="226080" cy="20556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1" name="Rectangle 39"/>
          <p:cNvSpPr/>
          <p:nvPr/>
        </p:nvSpPr>
        <p:spPr>
          <a:xfrm>
            <a:off x="1109160" y="3121920"/>
            <a:ext cx="226080" cy="205560"/>
          </a:xfrm>
          <a:prstGeom prst="rect">
            <a:avLst/>
          </a:prstGeom>
          <a:solidFill>
            <a:srgbClr val="FF000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2" name="Rectangle 41"/>
          <p:cNvSpPr/>
          <p:nvPr/>
        </p:nvSpPr>
        <p:spPr>
          <a:xfrm>
            <a:off x="1488960" y="188676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3" name="Rectangle 43"/>
          <p:cNvSpPr/>
          <p:nvPr/>
        </p:nvSpPr>
        <p:spPr>
          <a:xfrm>
            <a:off x="763200" y="223812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4" name="Rectangle 45"/>
          <p:cNvSpPr/>
          <p:nvPr/>
        </p:nvSpPr>
        <p:spPr>
          <a:xfrm>
            <a:off x="3185640" y="171468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5" name="Rectangle 47"/>
          <p:cNvSpPr/>
          <p:nvPr/>
        </p:nvSpPr>
        <p:spPr>
          <a:xfrm>
            <a:off x="1829880" y="312192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6" name="Rectangle 49"/>
          <p:cNvSpPr/>
          <p:nvPr/>
        </p:nvSpPr>
        <p:spPr>
          <a:xfrm>
            <a:off x="419040" y="376020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7" name="Rectangle 51"/>
          <p:cNvSpPr/>
          <p:nvPr/>
        </p:nvSpPr>
        <p:spPr>
          <a:xfrm>
            <a:off x="1376640" y="376020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8" name="Rectangle 53"/>
          <p:cNvSpPr/>
          <p:nvPr/>
        </p:nvSpPr>
        <p:spPr>
          <a:xfrm>
            <a:off x="2694960" y="301896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9" name="Rectangle 55"/>
          <p:cNvSpPr/>
          <p:nvPr/>
        </p:nvSpPr>
        <p:spPr>
          <a:xfrm>
            <a:off x="2241720" y="365724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0" name="Rectangle 57"/>
          <p:cNvSpPr/>
          <p:nvPr/>
        </p:nvSpPr>
        <p:spPr>
          <a:xfrm>
            <a:off x="2767680" y="2270520"/>
            <a:ext cx="226080" cy="20556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1" name="TextBox 84"/>
          <p:cNvSpPr/>
          <p:nvPr/>
        </p:nvSpPr>
        <p:spPr>
          <a:xfrm>
            <a:off x="576720" y="4952880"/>
            <a:ext cx="3243240" cy="5227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🔴 Responsive IPs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85"/>
          <p:cNvSpPr/>
          <p:nvPr/>
        </p:nvSpPr>
        <p:spPr>
          <a:xfrm>
            <a:off x="7228800" y="4952880"/>
            <a:ext cx="3542040" cy="522720"/>
          </a:xfrm>
          <a:prstGeom prst="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🔵  Routed /24s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4180680" y="1714680"/>
            <a:ext cx="27428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ts val="1998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193.151.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240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2682720" y="4025520"/>
            <a:ext cx="27428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ts val="1998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193.151.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241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677520" y="3303360"/>
            <a:ext cx="27428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ts val="1998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.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241.1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1326240" y="2531160"/>
            <a:ext cx="27428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ts val="1998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.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240.201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1830960" y="1902960"/>
            <a:ext cx="27428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ts val="1998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.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240.101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1950480" y="5617800"/>
            <a:ext cx="7824960" cy="399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    ⚠️  Outage = current Value &lt; X% of moving average of previous week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Straight Arrow Connector 11"/>
          <p:cNvCxnSpPr/>
          <p:nvPr/>
        </p:nvCxnSpPr>
        <p:spPr>
          <a:xfrm>
            <a:off x="7104960" y="3264120"/>
            <a:ext cx="2718720" cy="10440"/>
          </a:xfrm>
          <a:prstGeom prst="straightConnector1">
            <a:avLst/>
          </a:prstGeom>
          <a:ln w="28575">
            <a:solidFill>
              <a:srgbClr val="156082"/>
            </a:solidFill>
            <a:tailEnd len="med" type="triangle" w="med"/>
          </a:ln>
        </p:spPr>
      </p:cxnSp>
      <p:sp>
        <p:nvSpPr>
          <p:cNvPr id="150" name="TextBox 12"/>
          <p:cNvSpPr/>
          <p:nvPr/>
        </p:nvSpPr>
        <p:spPr>
          <a:xfrm>
            <a:off x="7035840" y="1433160"/>
            <a:ext cx="31093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UPDATE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193.151.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240/24 AS1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6507720" y="3089160"/>
            <a:ext cx="19663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AS1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9895680" y="3120120"/>
            <a:ext cx="6278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AS2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5"/>
          <p:cNvSpPr/>
          <p:nvPr/>
        </p:nvSpPr>
        <p:spPr>
          <a:xfrm>
            <a:off x="7453440" y="2914560"/>
            <a:ext cx="232524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2. ❌ Link Fehler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Straight Arrow Connector 16"/>
          <p:cNvCxnSpPr/>
          <p:nvPr/>
        </p:nvCxnSpPr>
        <p:spPr>
          <a:xfrm>
            <a:off x="10163160" y="3562560"/>
            <a:ext cx="360" cy="464040"/>
          </a:xfrm>
          <a:prstGeom prst="straightConnector1">
            <a:avLst/>
          </a:prstGeom>
          <a:ln w="28575">
            <a:solidFill>
              <a:srgbClr val="156082"/>
            </a:solidFill>
            <a:tailEnd len="med" type="triangle" w="med"/>
          </a:ln>
        </p:spPr>
      </p:cxnSp>
      <p:sp>
        <p:nvSpPr>
          <p:cNvPr id="155" name="Cloud 17"/>
          <p:cNvSpPr/>
          <p:nvPr/>
        </p:nvSpPr>
        <p:spPr>
          <a:xfrm>
            <a:off x="9483840" y="4088160"/>
            <a:ext cx="1359000" cy="988200"/>
          </a:xfrm>
          <a:prstGeom prst="cloud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BGP</a:t>
            </a:r>
            <a:br>
              <a:rPr sz="2000"/>
            </a:b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Feeds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8"/>
          <p:cNvSpPr/>
          <p:nvPr/>
        </p:nvSpPr>
        <p:spPr>
          <a:xfrm>
            <a:off x="10335240" y="3433320"/>
            <a:ext cx="22060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3. UPDATE WITHDRAW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Content Placeholder 7" descr="ZMap - Scan For Security"/>
          <p:cNvPicPr/>
          <p:nvPr/>
        </p:nvPicPr>
        <p:blipFill>
          <a:blip r:embed="rId9"/>
          <a:stretch/>
        </p:blipFill>
        <p:spPr>
          <a:xfrm>
            <a:off x="3902760" y="4300200"/>
            <a:ext cx="1989360" cy="63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Arc 9"/>
          <p:cNvSpPr/>
          <p:nvPr/>
        </p:nvSpPr>
        <p:spPr>
          <a:xfrm>
            <a:off x="-2155320" y="3222000"/>
            <a:ext cx="7053480" cy="212220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9" name="Arc 20"/>
          <p:cNvSpPr/>
          <p:nvPr/>
        </p:nvSpPr>
        <p:spPr>
          <a:xfrm>
            <a:off x="-587880" y="2514600"/>
            <a:ext cx="5486040" cy="364644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0" name="Arc 22"/>
          <p:cNvSpPr/>
          <p:nvPr/>
        </p:nvSpPr>
        <p:spPr>
          <a:xfrm>
            <a:off x="228600" y="1818000"/>
            <a:ext cx="4669560" cy="4898160"/>
          </a:xfrm>
          <a:prstGeom prst="arc">
            <a:avLst>
              <a:gd name="adj1" fmla="val 16200000"/>
              <a:gd name="adj2" fmla="val 0"/>
            </a:avLst>
          </a:prstGeom>
          <a:noFill/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1" name="TextBox 23"/>
          <p:cNvSpPr/>
          <p:nvPr/>
        </p:nvSpPr>
        <p:spPr>
          <a:xfrm>
            <a:off x="7899840" y="2315880"/>
            <a:ext cx="2325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Aptos"/>
              </a:rPr>
              <a:t>...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343960" cy="133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63A6"/>
                </a:solidFill>
                <a:effectLst/>
                <a:uFillTx/>
                <a:latin typeface="Arial"/>
              </a:rPr>
              <a:t>From Ping to Outage Signal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CFFE323-34DE-43DF-AAD9-920B9E07B06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9"/>
          <p:cNvSpPr/>
          <p:nvPr/>
        </p:nvSpPr>
        <p:spPr>
          <a:xfrm>
            <a:off x="-27720" y="-27720"/>
            <a:ext cx="12256560" cy="6959880"/>
          </a:xfrm>
          <a:prstGeom prst="rect">
            <a:avLst/>
          </a:prstGeom>
          <a:solidFill>
            <a:srgbClr val="0063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4" name="Content Placeholder 2"/>
          <p:cNvSpPr/>
          <p:nvPr/>
        </p:nvSpPr>
        <p:spPr>
          <a:xfrm>
            <a:off x="838080" y="1825560"/>
            <a:ext cx="10515240" cy="4350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br>
              <a:rPr sz="1000"/>
            </a:b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br>
              <a:rPr sz="1000"/>
            </a:b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6" descr="A map of europe with a red location&#10;&#10;Description automatically generated"/>
          <p:cNvPicPr/>
          <p:nvPr/>
        </p:nvPicPr>
        <p:blipFill>
          <a:blip r:embed="rId1"/>
          <a:stretch/>
        </p:blipFill>
        <p:spPr>
          <a:xfrm>
            <a:off x="7237080" y="-710280"/>
            <a:ext cx="6097680" cy="443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raphic 8" descr="Flag with solid fill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022400" y="273960"/>
            <a:ext cx="559080" cy="5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raphic 10" descr="Flag with solid fill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38880" y="1932840"/>
            <a:ext cx="559080" cy="5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raphic 12" descr="Flag with solid fill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14240" y="459360"/>
            <a:ext cx="559080" cy="57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14"/>
          <p:cNvSpPr/>
          <p:nvPr/>
        </p:nvSpPr>
        <p:spPr>
          <a:xfrm>
            <a:off x="10490760" y="2513160"/>
            <a:ext cx="110412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Kherson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6"/>
          <p:cNvSpPr/>
          <p:nvPr/>
        </p:nvSpPr>
        <p:spPr>
          <a:xfrm>
            <a:off x="9779760" y="837000"/>
            <a:ext cx="79956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Kyiv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8"/>
          <p:cNvSpPr/>
          <p:nvPr/>
        </p:nvSpPr>
        <p:spPr>
          <a:xfrm>
            <a:off x="7666200" y="958680"/>
            <a:ext cx="79956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Lviv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70400" y="25664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8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8 Insights from Tracking Internet Disruptions in Ukraine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5" descr="A map of europe with a red lo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66400" y="4609440"/>
            <a:ext cx="1753560" cy="132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7" descr="Alpha Strike Labs"/>
          <p:cNvPicPr/>
          <p:nvPr/>
        </p:nvPicPr>
        <p:blipFill>
          <a:blip r:embed="rId2"/>
          <a:stretch/>
        </p:blipFill>
        <p:spPr>
          <a:xfrm>
            <a:off x="5812200" y="1815840"/>
            <a:ext cx="2007720" cy="59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9" descr="Internet Outage Detection &amp; Analysis (IODA) | OONI"/>
          <p:cNvPicPr/>
          <p:nvPr/>
        </p:nvPicPr>
        <p:blipFill>
          <a:blip r:embed="rId3"/>
          <a:stretch/>
        </p:blipFill>
        <p:spPr>
          <a:xfrm>
            <a:off x="8237160" y="1648800"/>
            <a:ext cx="2274480" cy="6814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76" name="Table 12"/>
          <p:cNvGraphicFramePr/>
          <p:nvPr/>
        </p:nvGraphicFramePr>
        <p:xfrm>
          <a:off x="1565280" y="2460960"/>
          <a:ext cx="9217440" cy="3295080"/>
        </p:xfrm>
        <a:graphic>
          <a:graphicData uri="http://schemas.openxmlformats.org/drawingml/2006/table">
            <a:tbl>
              <a:tblPr/>
              <a:tblGrid>
                <a:gridCol w="2134800"/>
                <a:gridCol w="2079720"/>
                <a:gridCol w="2079720"/>
                <a:gridCol w="2923200"/>
              </a:tblGrid>
              <a:tr h="367560">
                <a:tc>
                  <a:txBody>
                    <a:bodyPr anchor="t">
                      <a:noAutofit/>
                    </a:bodyPr>
                    <a:p>
                      <a:endParaRPr lang="en-US" sz="20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Singla et al.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Klick et al.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IODA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Protocols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Modbus, DNP3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60+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ICMP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Signal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based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based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Block based (Sampling)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1520">
                      <a:solidFill>
                        <a:srgbClr val="FFFFFF"/>
                      </a:solidFill>
                      <a:prstDash val="solid"/>
                    </a:lnL>
                    <a:lnR w="1152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8"/>
                    </a:solidFill>
                  </a:tcPr>
                </a:tc>
              </a:tr>
              <a:tr h="36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Interval 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24 Hours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 Hours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 Minutes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1520">
                      <a:solidFill>
                        <a:srgbClr val="FFFFFF"/>
                      </a:solidFill>
                      <a:prstDash val="solid"/>
                    </a:lnT>
                    <a:lnB w="115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War Coverage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 Months 2022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Until March 2023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Since 2022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Outage Location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Geolocation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Static IPs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Geolocation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7" name="TextBox 14"/>
          <p:cNvSpPr/>
          <p:nvPr/>
        </p:nvSpPr>
        <p:spPr>
          <a:xfrm>
            <a:off x="5171760" y="5451480"/>
            <a:ext cx="2720160" cy="70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Limited war coverage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Static IPs only?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8008920" y="5451480"/>
            <a:ext cx="2721960" cy="70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Sampling?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Geolocation Precision?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2492280" y="5451480"/>
            <a:ext cx="2492640" cy="70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Signal differences?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Short-lived outages?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Aptos"/>
              </a:rPr>
              <a:t>#1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  <a:ea typeface="Aptos"/>
              </a:rPr>
              <a:t> Existing measurements fail to comprehensively track disruptions in Ukraine.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Straight Arrow Connector 6"/>
          <p:cNvCxnSpPr/>
          <p:nvPr/>
        </p:nvCxnSpPr>
        <p:spPr>
          <a:xfrm flipH="1">
            <a:off x="10561680" y="2883960"/>
            <a:ext cx="579240" cy="5115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182" name="TextBox 8"/>
          <p:cNvSpPr/>
          <p:nvPr/>
        </p:nvSpPr>
        <p:spPr>
          <a:xfrm>
            <a:off x="10851120" y="2556000"/>
            <a:ext cx="1272960" cy="36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Trinocular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ACBB50E-95FC-4BF7-8557-77DDED8F8552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4" descr="A graph with numbers and a line&#10;&#10;AI-generated content may be incorrect."/>
          <p:cNvPicPr/>
          <p:nvPr/>
        </p:nvPicPr>
        <p:blipFill>
          <a:blip r:embed="rId1"/>
          <a:srcRect l="1638" t="6654" r="1795" b="7618"/>
          <a:stretch/>
        </p:blipFill>
        <p:spPr>
          <a:xfrm>
            <a:off x="1095840" y="2823840"/>
            <a:ext cx="9694440" cy="343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Rectangle: Rounded Corners 10"/>
          <p:cNvSpPr/>
          <p:nvPr/>
        </p:nvSpPr>
        <p:spPr>
          <a:xfrm>
            <a:off x="1545840" y="1612440"/>
            <a:ext cx="8602200" cy="1104480"/>
          </a:xfrm>
          <a:prstGeom prst="roundRect">
            <a:avLst>
              <a:gd name="adj" fmla="val 16667"/>
            </a:avLst>
          </a:prstGeom>
          <a:solidFill>
            <a:srgbClr val="9E1616"/>
          </a:solidFill>
          <a:ln>
            <a:solidFill>
              <a:srgbClr val="46124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IODA returns raw data for 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90%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 of ASes (1,597 out of 1,773) but only reports outages for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19%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 (333)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of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ASes.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#2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We report outages for many smaller ASes in Ukraine while IODA does not.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6"/>
          <p:cNvSpPr/>
          <p:nvPr/>
        </p:nvSpPr>
        <p:spPr>
          <a:xfrm>
            <a:off x="1968840" y="6263280"/>
            <a:ext cx="10219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Figure 2: Outages reported for 1,773 ASes with regional /24s in Ukraine.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41BB5B1-F5C7-4EDA-B36C-04BECA9007F2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1" descr="A map of ukraine with different colored areas&#10;&#10;AI-generated content may be incorrect."/>
          <p:cNvPicPr/>
          <p:nvPr/>
        </p:nvPicPr>
        <p:blipFill>
          <a:blip r:embed="rId1"/>
          <a:stretch/>
        </p:blipFill>
        <p:spPr>
          <a:xfrm>
            <a:off x="4572000" y="1340280"/>
            <a:ext cx="761976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Box 13"/>
          <p:cNvSpPr/>
          <p:nvPr/>
        </p:nvSpPr>
        <p:spPr>
          <a:xfrm>
            <a:off x="640440" y="5400720"/>
            <a:ext cx="4242600" cy="919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33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14" descr="Datei:Amazon logo.svg – Wikipedia"/>
          <p:cNvPicPr/>
          <p:nvPr/>
        </p:nvPicPr>
        <p:blipFill>
          <a:blip r:embed="rId2"/>
          <a:stretch/>
        </p:blipFill>
        <p:spPr>
          <a:xfrm>
            <a:off x="1949760" y="5639400"/>
            <a:ext cx="2597400" cy="76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1"/>
          <p:cNvSpPr/>
          <p:nvPr/>
        </p:nvSpPr>
        <p:spPr>
          <a:xfrm>
            <a:off x="5128200" y="5519520"/>
            <a:ext cx="5755680" cy="78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Figure 3: IP Churn - Comparing 2022 with 2025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3.7M IPs affected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288720" y="4038480"/>
            <a:ext cx="4603680" cy="146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40%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to other countries (1.5M IPs)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6"/>
          <p:cNvSpPr/>
          <p:nvPr/>
        </p:nvSpPr>
        <p:spPr>
          <a:xfrm>
            <a:off x="288720" y="1739160"/>
            <a:ext cx="4603320" cy="241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60%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between oblasts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Ukrtelecom, Kyivstar, Vodafone, Vega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#3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 Significant IP churn visible in Ukraine, especially in frontline regions.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49FDB1-3FD0-476E-9B5D-8FE17932068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/>
          </p:nvPr>
        </p:nvSpPr>
        <p:spPr>
          <a:xfrm>
            <a:off x="474480" y="1717560"/>
            <a:ext cx="5611320" cy="439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Challenge: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Assign outages to a region in Ukraine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37"/>
          </p:nvPr>
        </p:nvSpPr>
        <p:spPr>
          <a:xfrm>
            <a:off x="8476560" y="63770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8298A7-8F7C-4C2D-A044-9BAFB19D071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Picture 5" descr="A map of europe with a red location&#10;&#10;Description automatically generated"/>
          <p:cNvPicPr/>
          <p:nvPr/>
        </p:nvPicPr>
        <p:blipFill>
          <a:blip r:embed="rId1"/>
          <a:stretch/>
        </p:blipFill>
        <p:spPr>
          <a:xfrm>
            <a:off x="5127840" y="681120"/>
            <a:ext cx="6097680" cy="443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raphic 6" descr="Flag with solid fill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13160" y="1665360"/>
            <a:ext cx="559080" cy="5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raphic 7" descr="Flag with solid fill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729640" y="3324600"/>
            <a:ext cx="559080" cy="57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raphic 9" descr="Flag with solid fill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805360" y="1851120"/>
            <a:ext cx="559080" cy="57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Box 10"/>
          <p:cNvSpPr/>
          <p:nvPr/>
        </p:nvSpPr>
        <p:spPr>
          <a:xfrm>
            <a:off x="8381880" y="3904920"/>
            <a:ext cx="110412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Kherson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7670520" y="2228400"/>
            <a:ext cx="79956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5608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Kyiv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5557320" y="2350440"/>
            <a:ext cx="79956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Lviv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3" name="Content Placeholder 14"/>
          <p:cNvGraphicFramePr/>
          <p:nvPr/>
        </p:nvGraphicFramePr>
        <p:xfrm>
          <a:off x="7006680" y="4376880"/>
          <a:ext cx="4570560" cy="2292120"/>
        </p:xfrm>
        <a:graphic>
          <a:graphicData uri="http://schemas.openxmlformats.org/drawingml/2006/table">
            <a:tbl>
              <a:tblPr/>
              <a:tblGrid>
                <a:gridCol w="2274120"/>
                <a:gridCol w="1709280"/>
                <a:gridCol w="5871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onsolas"/>
                        </a:rPr>
                        <a:t>Timestamp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onsolas"/>
                        </a:rPr>
                        <a:t>/24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onsolas"/>
                        </a:rPr>
                        <a:t>2022-03-02 10:00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✅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12:00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❌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2022-03-02 14:00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193.151.240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nsolas"/>
                        </a:rPr>
                        <a:t>✅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4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#4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 Regional classification detects long-term trends in geolocation.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"/>
          <p:cNvSpPr/>
          <p:nvPr/>
        </p:nvSpPr>
        <p:spPr>
          <a:xfrm>
            <a:off x="399600" y="3432600"/>
            <a:ext cx="6030720" cy="2008800"/>
          </a:xfrm>
          <a:prstGeom prst="roundRect">
            <a:avLst>
              <a:gd name="adj" fmla="val 16667"/>
            </a:avLst>
          </a:prstGeom>
          <a:solidFill>
            <a:srgbClr val="0063A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Regional Classification: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Only consider /24s that have more than </a:t>
            </a:r>
            <a:r>
              <a:rPr lang="en-US" sz="2800" b="0" i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addresses in the target region for more than </a:t>
            </a:r>
            <a:r>
              <a:rPr lang="en-US" sz="2800" b="0" i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T_perc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of routed months.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1272240" y="5547960"/>
            <a:ext cx="4292280" cy="408240"/>
          </a:xfrm>
          <a:prstGeom prst="roundRect">
            <a:avLst>
              <a:gd name="adj" fmla="val 16667"/>
            </a:avLst>
          </a:prstGeom>
          <a:solidFill>
            <a:srgbClr val="0063A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In the paper: M = T_perc = 70%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Table 8"/>
          <p:cNvGraphicFramePr/>
          <p:nvPr/>
        </p:nvGraphicFramePr>
        <p:xfrm>
          <a:off x="644760" y="2647800"/>
          <a:ext cx="4416120" cy="2581200"/>
        </p:xfrm>
        <a:graphic>
          <a:graphicData uri="http://schemas.openxmlformats.org/drawingml/2006/table">
            <a:tbl>
              <a:tblPr/>
              <a:tblGrid>
                <a:gridCol w="1592640"/>
                <a:gridCol w="858240"/>
                <a:gridCol w="1020240"/>
                <a:gridCol w="9446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Class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Kherson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ASNs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/24s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118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73.8K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Regional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8.3K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Non-Regional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65K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465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Target Set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41.7K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168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8" name="Rectangle: Rounded Corners 12"/>
          <p:cNvSpPr/>
          <p:nvPr/>
        </p:nvSpPr>
        <p:spPr>
          <a:xfrm>
            <a:off x="5249520" y="2212560"/>
            <a:ext cx="6594840" cy="3174480"/>
          </a:xfrm>
          <a:prstGeom prst="roundRect">
            <a:avLst>
              <a:gd name="adj" fmla="val 16667"/>
            </a:avLst>
          </a:prstGeom>
          <a:solidFill>
            <a:srgbClr val="0063A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Kherson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Identifies </a:t>
            </a: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32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% of blocks  for which outages are representative of the  Kherson region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Target set serves as input to outage detection.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#4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 Regional classification detects long-term trends in geolocation.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000BCDC-9B51-4E56-8F65-0FFE31FD0C6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5"/>
          <p:cNvSpPr/>
          <p:nvPr/>
        </p:nvSpPr>
        <p:spPr>
          <a:xfrm>
            <a:off x="370800" y="1719720"/>
            <a:ext cx="4118400" cy="45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Intense attacks on the power grid -&gt; partial outages through IPS signal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Infrastructure types (core vs edge) 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Full block outages (FBS) more frequent in frontline regions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Only part of the outages are passively visible in BGP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#5 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Internet disruptions in Ukraine peaked during winter 2022/23 and throughout 2024.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Content Placeholder 3" descr="A screenshot of a graph&#10;&#10;AI-generated content may be incorrect."/>
          <p:cNvPicPr/>
          <p:nvPr/>
        </p:nvPicPr>
        <p:blipFill>
          <a:blip r:embed="rId1"/>
          <a:stretch/>
        </p:blipFill>
        <p:spPr>
          <a:xfrm>
            <a:off x="4729680" y="1287360"/>
            <a:ext cx="6375960" cy="517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Box 2"/>
          <p:cNvSpPr/>
          <p:nvPr/>
        </p:nvSpPr>
        <p:spPr>
          <a:xfrm>
            <a:off x="4839840" y="6446160"/>
            <a:ext cx="638388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Figure 5: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Outages detected by each signal type across oblasts.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98BA1B5-C8F2-4D4C-9FAE-C86B4F974032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" descr="A graph with green and orange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1479240"/>
            <a:ext cx="12191760" cy="447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6" name="TextBox 24"/>
          <p:cNvSpPr/>
          <p:nvPr/>
        </p:nvSpPr>
        <p:spPr>
          <a:xfrm>
            <a:off x="2921040" y="5958000"/>
            <a:ext cx="8084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Figure 7: Average number of 2h intervals with outages.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5"/>
          <p:cNvSpPr/>
          <p:nvPr/>
        </p:nvSpPr>
        <p:spPr>
          <a:xfrm>
            <a:off x="3342960" y="1517040"/>
            <a:ext cx="1639800" cy="346968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8" name="Rectangle 6"/>
          <p:cNvSpPr/>
          <p:nvPr/>
        </p:nvSpPr>
        <p:spPr>
          <a:xfrm>
            <a:off x="8897400" y="1518120"/>
            <a:ext cx="2383200" cy="346860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9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#6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Difference between frontline and non-frontline unique to our dataset.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FD8552-7880-4E05-A5AD-C2113E49513B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221" name="Picture 2" descr="A graph with numbers and lines&#10;&#10;AI-generated content may be incorrect."/>
          <p:cNvPicPr/>
          <p:nvPr/>
        </p:nvPicPr>
        <p:blipFill>
          <a:blip r:embed="rId1"/>
          <a:stretch/>
        </p:blipFill>
        <p:spPr>
          <a:xfrm>
            <a:off x="1963800" y="1419120"/>
            <a:ext cx="8266320" cy="4938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22" name="Straight Arrow Connector 3"/>
          <p:cNvCxnSpPr/>
          <p:nvPr/>
        </p:nvCxnSpPr>
        <p:spPr>
          <a:xfrm flipH="1" flipV="1">
            <a:off x="8044200" y="3790440"/>
            <a:ext cx="2006640" cy="588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23" name="TextBox 7"/>
          <p:cNvSpPr/>
          <p:nvPr/>
        </p:nvSpPr>
        <p:spPr>
          <a:xfrm>
            <a:off x="10166400" y="4147560"/>
            <a:ext cx="18900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IODA: Frontline and Non-Frontline regions show similar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#6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Difference between frontline and non-frontline unique to our dataset.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3044520" y="6338880"/>
            <a:ext cx="80848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Figure 7: Average number of 2h intervals with outages.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DD150EB-0C90-41F4-B0E7-163A88E8F773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4"/>
          <p:cNvSpPr/>
          <p:nvPr/>
        </p:nvSpPr>
        <p:spPr>
          <a:xfrm>
            <a:off x="1048680" y="3071520"/>
            <a:ext cx="5357160" cy="1384560"/>
          </a:xfrm>
          <a:prstGeom prst="rect">
            <a:avLst/>
          </a:prstGeom>
          <a:solidFill>
            <a:srgbClr val="0063A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Avg. 686 HOURS</a:t>
            </a:r>
            <a:br>
              <a:rPr sz="3200"/>
            </a:b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Max. 2822 HOURS</a:t>
            </a:r>
            <a:br>
              <a:rPr sz="2800"/>
            </a:b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with Internet outages in 2024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1049040" y="1924560"/>
            <a:ext cx="5352120" cy="892080"/>
          </a:xfrm>
          <a:prstGeom prst="rect">
            <a:avLst/>
          </a:prstGeom>
          <a:solidFill>
            <a:srgbClr val="0063A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1951 HOURS</a:t>
            </a:r>
            <a:br>
              <a:rPr sz="3600"/>
            </a:b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with electricity outages in 2024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5"/>
          <p:cNvSpPr/>
          <p:nvPr/>
        </p:nvSpPr>
        <p:spPr>
          <a:xfrm>
            <a:off x="1050120" y="4696200"/>
            <a:ext cx="5357160" cy="953640"/>
          </a:xfrm>
          <a:prstGeom prst="rect">
            <a:avLst/>
          </a:prstGeom>
          <a:solidFill>
            <a:srgbClr val="0063A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Pearson r=0.725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</a:t>
            </a:r>
            <a:br>
              <a:rPr sz="3600"/>
            </a:b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overlap of days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#7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Strong correlation of days with outages &amp; power cuts in non-frontline regions.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9"/>
          <p:cNvSpPr/>
          <p:nvPr/>
        </p:nvSpPr>
        <p:spPr>
          <a:xfrm>
            <a:off x="6864840" y="6102000"/>
            <a:ext cx="47898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Figure 8: Hours affected by power and Internet outages in 2024.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Picture 1"/>
          <p:cNvPicPr/>
          <p:nvPr/>
        </p:nvPicPr>
        <p:blipFill>
          <a:blip r:embed="rId1"/>
          <a:stretch/>
        </p:blipFill>
        <p:spPr>
          <a:xfrm>
            <a:off x="5802840" y="1003680"/>
            <a:ext cx="6273000" cy="48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91008E6-957D-4CC1-8E04-FC518AFA5D32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8" descr="A map of europe with a red location&#10;&#10;Description automatically generated"/>
          <p:cNvPicPr/>
          <p:nvPr/>
        </p:nvPicPr>
        <p:blipFill>
          <a:blip r:embed="rId1"/>
          <a:stretch/>
        </p:blipFill>
        <p:spPr>
          <a:xfrm>
            <a:off x="2002680" y="1449720"/>
            <a:ext cx="6827400" cy="509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1343960" cy="133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63A6"/>
                </a:solidFill>
                <a:effectLst/>
                <a:uFillTx/>
                <a:latin typeface="Arial"/>
              </a:rPr>
              <a:t>Kherson – 3 Years on the Frontline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234" name="Graphic 4" descr="Flag with solid fill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230160" y="4467600"/>
            <a:ext cx="559080" cy="57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Box 7"/>
          <p:cNvSpPr/>
          <p:nvPr/>
        </p:nvSpPr>
        <p:spPr>
          <a:xfrm>
            <a:off x="5882040" y="5047920"/>
            <a:ext cx="1104120" cy="40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Kherson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EC1801-5217-4FE0-8D66-BC1317D1A11D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237" name="Content Placeholder 6" descr="A screen shot of a computer&#10;&#10;AI-generated content may be incorrect."/>
          <p:cNvPicPr/>
          <p:nvPr/>
        </p:nvPicPr>
        <p:blipFill>
          <a:blip r:embed="rId1"/>
          <a:srcRect l="0" t="0" r="0" b="901"/>
          <a:stretch/>
        </p:blipFill>
        <p:spPr>
          <a:xfrm>
            <a:off x="0" y="1077840"/>
            <a:ext cx="1219176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#8 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Dataset provides insights into smaller regional providers in Kherson.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2FFD99-39D6-44AE-892D-5749C7E94362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2" descr="A screen shot of a graph&#10;&#10;AI-generated content may be incorrect."/>
          <p:cNvPicPr/>
          <p:nvPr/>
        </p:nvPicPr>
        <p:blipFill>
          <a:blip r:embed="rId1"/>
          <a:srcRect l="0" t="24117" r="-304" b="-202"/>
          <a:stretch/>
        </p:blipFill>
        <p:spPr>
          <a:xfrm>
            <a:off x="517320" y="2184480"/>
            <a:ext cx="9951480" cy="377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Content Placeholder 6"/>
          <p:cNvPicPr/>
          <p:nvPr/>
        </p:nvPicPr>
        <p:blipFill>
          <a:blip r:embed="rId2"/>
          <a:srcRect l="0" t="0" r="19878" b="74864"/>
          <a:stretch/>
        </p:blipFill>
        <p:spPr>
          <a:xfrm>
            <a:off x="2043000" y="1321560"/>
            <a:ext cx="8424720" cy="103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Box 8"/>
          <p:cNvSpPr/>
          <p:nvPr/>
        </p:nvSpPr>
        <p:spPr>
          <a:xfrm>
            <a:off x="7716960" y="5548320"/>
            <a:ext cx="2747520" cy="1101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1">
              <a:lumMod val="95000"/>
            </a:schemeClr>
          </a:solidFill>
          <a:ln>
            <a:solidFill>
              <a:srgbClr val="E9713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Incident: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Russian soldiers 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STATUS Office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1050480" y="5653080"/>
            <a:ext cx="62499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CountryMonitor: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Decline in responsive IPs for ASN 25482 (STATUS ISP) at the same time as the incident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#8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Dataset provides insights into smaller regional providers in Kherson.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A79A150-B250-4D16-B1E5-A398ADCFA376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6" descr="A graph with numbers and a number of days&#10;&#10;AI-generated content may be incorrect."/>
          <p:cNvPicPr/>
          <p:nvPr/>
        </p:nvPicPr>
        <p:blipFill>
          <a:blip r:embed="rId1"/>
          <a:stretch/>
        </p:blipFill>
        <p:spPr>
          <a:xfrm>
            <a:off x="838080" y="1715040"/>
            <a:ext cx="10841760" cy="329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080" y="1033920"/>
            <a:ext cx="13312440" cy="135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 Display"/>
              </a:rPr>
              <a:t>Nov 2022: Kherson city powered through generators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6" name="TextBox 2"/>
          <p:cNvSpPr/>
          <p:nvPr/>
        </p:nvSpPr>
        <p:spPr>
          <a:xfrm>
            <a:off x="4996440" y="1937520"/>
            <a:ext cx="2187720" cy="163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Kherson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4996440" y="4104000"/>
            <a:ext cx="2187720" cy="5227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Kyiv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8882640" y="5127120"/>
            <a:ext cx="1719720" cy="11998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⚡ Daily Cycles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START: 08:00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END: 18:00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3907800" y="5312160"/>
            <a:ext cx="2350800" cy="14770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Russian Troops destroy critical infrastructure (TV Tower, Heat/Power Plant during retreat 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2"/>
          <p:cNvSpPr/>
          <p:nvPr/>
        </p:nvSpPr>
        <p:spPr>
          <a:xfrm rot="16200000">
            <a:off x="-631440" y="3004560"/>
            <a:ext cx="2187720" cy="5227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ISP "STATUS"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Straight Arrow Connector 13"/>
          <p:cNvCxnSpPr/>
          <p:nvPr/>
        </p:nvCxnSpPr>
        <p:spPr>
          <a:xfrm>
            <a:off x="4430160" y="2068200"/>
            <a:ext cx="22320" cy="3244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pic>
        <p:nvPicPr>
          <p:cNvPr id="252" name="Picture 5" descr="undefined"/>
          <p:cNvPicPr/>
          <p:nvPr/>
        </p:nvPicPr>
        <p:blipFill>
          <a:blip r:embed="rId2"/>
          <a:stretch/>
        </p:blipFill>
        <p:spPr>
          <a:xfrm>
            <a:off x="974880" y="5185800"/>
            <a:ext cx="2742840" cy="15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#8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Dataset provides insights into smaller regional providers in Kherson.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Content Placeholder 3" descr="A city flooded by water&#10;&#10;AI-generated content may be incorrect."/>
          <p:cNvPicPr/>
          <p:nvPr/>
        </p:nvPicPr>
        <p:blipFill>
          <a:blip r:embed="rId1"/>
          <a:stretch/>
        </p:blipFill>
        <p:spPr>
          <a:xfrm>
            <a:off x="-1440" y="1504440"/>
            <a:ext cx="8079480" cy="535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4" descr="A map of a city&#10;&#10;AI-generated content may be incorrect."/>
          <p:cNvPicPr/>
          <p:nvPr/>
        </p:nvPicPr>
        <p:blipFill>
          <a:blip r:embed="rId2"/>
          <a:srcRect l="20556" t="0" r="36941" b="0"/>
          <a:stretch/>
        </p:blipFill>
        <p:spPr>
          <a:xfrm>
            <a:off x="7539120" y="2520"/>
            <a:ext cx="46573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Picture 5" descr="A pink rectangular object with numbers&#10;&#10;AI-generated content may be incorrect."/>
          <p:cNvPicPr/>
          <p:nvPr/>
        </p:nvPicPr>
        <p:blipFill>
          <a:blip r:embed="rId3"/>
          <a:stretch/>
        </p:blipFill>
        <p:spPr>
          <a:xfrm>
            <a:off x="751680" y="5526720"/>
            <a:ext cx="11213280" cy="122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Box 6"/>
          <p:cNvSpPr/>
          <p:nvPr/>
        </p:nvSpPr>
        <p:spPr>
          <a:xfrm rot="16200000">
            <a:off x="-123120" y="5457960"/>
            <a:ext cx="1739880" cy="8305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Ostrov Net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AS6446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7EEA8-8766-4960-8668-AB30988B50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326520" y="1371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ptos Display"/>
              </a:rPr>
              <a:t>Jun/2023 Kakhovka Dam 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60" name="Rectangle: Rounded Corners 8"/>
          <p:cNvSpPr/>
          <p:nvPr/>
        </p:nvSpPr>
        <p:spPr>
          <a:xfrm>
            <a:off x="1800" y="-65160"/>
            <a:ext cx="12191760" cy="1571040"/>
          </a:xfrm>
          <a:prstGeom prst="rect">
            <a:avLst/>
          </a:prstGeom>
          <a:solidFill>
            <a:srgbClr val="0063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#8</a:t>
            </a: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Dataset provides insights into smaller regional providers in Kherson.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rgbClr val="0063A6"/>
                </a:solidFill>
                <a:effectLst/>
                <a:uFillTx/>
                <a:latin typeface="Arial"/>
              </a:rPr>
              <a:t>CountryMonitor - Takeaways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262" name="Picture 5" descr="A map of europe with a red location&#10;&#10;Description automatically generated"/>
          <p:cNvPicPr/>
          <p:nvPr/>
        </p:nvPicPr>
        <p:blipFill>
          <a:blip r:embed="rId1"/>
          <a:stretch/>
        </p:blipFill>
        <p:spPr>
          <a:xfrm>
            <a:off x="123480" y="5219280"/>
            <a:ext cx="1753560" cy="132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7" descr="Alpha Strike Labs"/>
          <p:cNvPicPr/>
          <p:nvPr/>
        </p:nvPicPr>
        <p:blipFill>
          <a:blip r:embed="rId2"/>
          <a:stretch/>
        </p:blipFill>
        <p:spPr>
          <a:xfrm>
            <a:off x="4451760" y="1288080"/>
            <a:ext cx="1647360" cy="41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Picture 9" descr="Internet Outage Detection &amp; Analysis (IODA) | OONI"/>
          <p:cNvPicPr/>
          <p:nvPr/>
        </p:nvPicPr>
        <p:blipFill>
          <a:blip r:embed="rId3"/>
          <a:stretch/>
        </p:blipFill>
        <p:spPr>
          <a:xfrm>
            <a:off x="6300000" y="1206360"/>
            <a:ext cx="2007000" cy="568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65" name="Table 12"/>
          <p:cNvGraphicFramePr/>
          <p:nvPr/>
        </p:nvGraphicFramePr>
        <p:xfrm>
          <a:off x="743040" y="1866960"/>
          <a:ext cx="10079280" cy="3788280"/>
        </p:xfrm>
        <a:graphic>
          <a:graphicData uri="http://schemas.openxmlformats.org/drawingml/2006/table">
            <a:tbl>
              <a:tblPr/>
              <a:tblGrid>
                <a:gridCol w="2100600"/>
                <a:gridCol w="1658160"/>
                <a:gridCol w="1658160"/>
                <a:gridCol w="2331000"/>
                <a:gridCol w="2331000"/>
              </a:tblGrid>
              <a:tr h="413640">
                <a:tc>
                  <a:txBody>
                    <a:bodyPr anchor="t">
                      <a:noAutofit/>
                    </a:bodyPr>
                    <a:p>
                      <a:endParaRPr lang="en-US" sz="20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Singla et al.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Klick et al.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IODA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CountryMonitor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6"/>
                    </a:solidFill>
                  </a:tcPr>
                </a:tc>
              </a:tr>
              <a:tr h="740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Protocols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Modbus, DNP3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60+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ICMP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ICMP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40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Signal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based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based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Block based (Sampling)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Block based (no Sampling)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3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Interval 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24 Hours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 Hours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 Minutes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 Hours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40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War Coverage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 Months 2022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Until March 2023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Since 2022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Since 2022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40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Outage Location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Geolocation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Static IPs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IP Geolocation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Regional Classification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6" name="TextBox 14"/>
          <p:cNvSpPr/>
          <p:nvPr/>
        </p:nvSpPr>
        <p:spPr>
          <a:xfrm>
            <a:off x="2763000" y="5994720"/>
            <a:ext cx="3839400" cy="73368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Short-lived outages &gt;= 2h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sng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Static IPs only?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5"/>
          <p:cNvSpPr/>
          <p:nvPr/>
        </p:nvSpPr>
        <p:spPr>
          <a:xfrm>
            <a:off x="6921360" y="5994720"/>
            <a:ext cx="3547080" cy="707400"/>
          </a:xfrm>
          <a:prstGeom prst="rect">
            <a:avLst/>
          </a:prstGeom>
          <a:solidFill>
            <a:srgbClr val="FFFFFF"/>
          </a:solidFill>
          <a:ln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sng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Sampling?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Small Providers✅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Geolocation Precision ✅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Picture 2" descr="A blue globe with text&#10;&#10;AI-generated content may be incorrect."/>
          <p:cNvPicPr/>
          <p:nvPr/>
        </p:nvPicPr>
        <p:blipFill>
          <a:blip r:embed="rId4"/>
          <a:stretch/>
        </p:blipFill>
        <p:spPr>
          <a:xfrm>
            <a:off x="9077400" y="762120"/>
            <a:ext cx="1028520" cy="10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Rectangle 4"/>
          <p:cNvSpPr/>
          <p:nvPr/>
        </p:nvSpPr>
        <p:spPr>
          <a:xfrm>
            <a:off x="8309880" y="659160"/>
            <a:ext cx="2666520" cy="5220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415FC5A-12CE-4B57-A1A8-E3F80634126E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ontent Placeholder 3" descr="A screenshot of a graph&#10;&#10;Description automatically generated"/>
          <p:cNvSpPr/>
          <p:nvPr/>
        </p:nvSpPr>
        <p:spPr>
          <a:xfrm>
            <a:off x="6229080" y="0"/>
            <a:ext cx="5962320" cy="6857640"/>
          </a:xfrm>
          <a:custGeom>
            <a:avLst/>
            <a:gdLst>
              <a:gd name="textAreaLeft" fmla="*/ 0 w 5962320"/>
              <a:gd name="textAreaRight" fmla="*/ 5962680 w 596232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5"/>
          <p:cNvSpPr/>
          <p:nvPr/>
        </p:nvSpPr>
        <p:spPr>
          <a:xfrm>
            <a:off x="402120" y="746640"/>
            <a:ext cx="5822640" cy="462132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/>
          </p:nvPr>
        </p:nvSpPr>
        <p:spPr>
          <a:xfrm>
            <a:off x="405000" y="742320"/>
            <a:ext cx="5686560" cy="44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r>
              <a:rPr lang="de-AT" sz="3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Acknowledgements:</a:t>
            </a:r>
            <a:r>
              <a:rPr lang="de-AT" sz="25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 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r>
              <a:rPr lang="de-AT" sz="25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Alexander Kovalenko – Status ISP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r>
              <a:rPr lang="de-AT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Dipl.-Ing. Florian Holzbauer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r>
              <a:rPr lang="de-AT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Researcher &amp; PhD Candidate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r>
              <a:rPr lang="de-AT" sz="25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University of Vienna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r>
              <a:rPr lang="de-AT" sz="2500" b="0" u="sng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  <a:hlinkClick r:id="rId2"/>
              </a:rPr>
              <a:t>florian.holzbauer@univie.ac.at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609480">
              <a:lnSpc>
                <a:spcPct val="160000"/>
              </a:lnSpc>
              <a:buNone/>
              <a:tabLst>
                <a:tab pos="0" algn="l"/>
              </a:tabLst>
            </a:pPr>
            <a:endParaRPr lang="en-US" sz="25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73" name="Picture 3"/>
          <p:cNvPicPr/>
          <p:nvPr/>
        </p:nvPicPr>
        <p:blipFill>
          <a:blip r:embed="rId3"/>
          <a:stretch/>
        </p:blipFill>
        <p:spPr>
          <a:xfrm>
            <a:off x="816120" y="5733360"/>
            <a:ext cx="10559520" cy="57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Picture 6" descr="A qr code on a white background&#10;&#10;AI-generated content may be incorrect."/>
          <p:cNvPicPr/>
          <p:nvPr/>
        </p:nvPicPr>
        <p:blipFill>
          <a:blip r:embed="rId4"/>
          <a:stretch/>
        </p:blipFill>
        <p:spPr>
          <a:xfrm>
            <a:off x="7446960" y="672480"/>
            <a:ext cx="3524040" cy="352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Rectangle 7"/>
          <p:cNvSpPr/>
          <p:nvPr/>
        </p:nvSpPr>
        <p:spPr>
          <a:xfrm>
            <a:off x="6405120" y="4445280"/>
            <a:ext cx="5618160" cy="92304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countrymonitor.github.io</a:t>
            </a:r>
            <a:br>
              <a:rPr sz="2000"/>
            </a:b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Research Access -&gt; Oct 28th​ 2025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AFA7AD5-9833-4D5A-B270-609B99B34856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2024-09-10T08:10:36Z</dcterms:created>
  <dc:creator/>
  <dc:description/>
  <dc:language>en-US</dc:language>
  <cp:lastModifiedBy/>
  <dcterms:modified xsi:type="dcterms:W3CDTF">2026-08-12T15:59:13Z</dcterms:modified>
  <cp:revision>489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Widescreen</vt:lpwstr>
  </property>
  <property fmtid="{D5CDD505-2E9C-101B-9397-08002B2CF9AE}" pid="4" name="Slides">
    <vt:i4>41</vt:i4>
  </property>
</Properties>
</file>